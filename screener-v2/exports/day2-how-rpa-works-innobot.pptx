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session by positioning RPA as an operating model rather than a software trick. Set expectations that today is about how work gets structured, controlled, monitored, and recovered in delivery, with a strong focus on the BA role in making automation feasible and supportable.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role of the BA tangible. The point is not that BAs need to code; it is that automations fail when process knowledge stays informal. Frame the BA as a control point for clarity, feasibility,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connect the two days so the audience sees continuity rather than a topic reset. The message is that discovery quality directly affects how cleanly a bot can be built and operated.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the lifecycle of one run. Emphasize that runtime design includes setup and closure steps as well as transaction handling. This helps BAs see why undocumented prerequisites and exception paths create operational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useful slide for giving the BA a simple mental model. Encourage them to test every proposed automation by asking four questions: what starts it, what does it need, how does it decide, and what must it 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explanation practical. Attended bots are not lesser or simpler; they solve a different problem. Stress that the presence of a human changes trigger design, exception handling, and validation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unattended automation as the model most people mean when they picture a bot operation at scale. Then connect it to the importance of orchestration, queue state, and post-run visibility.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make the distinction operational. Many stakeholders confuse attended and unattended because both can use similar tools. The real difference is who owns the moment of control and how the work is governed.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BAs often broaden their understanding of RPA. Explain that orchestration is what makes multiple workflows manageable at scale and visible after deployment. Without it, the solution is difficult to support and difficult to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example storyline to ground the rest of the workshop. From this point forward, keep tying concepts back to the three-part solution so the audience sees how theory becomes a delivery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the Dispatcher is more than a download script. It is a control entry point for the whole pipeline. This is where initial data quality, report logic, and traceability become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REFramework explanation high level and BA friendly. The point is not the framework name itself; the point is the transaction mindset. One work item at a time makes failures visible, recoverable, and easier to govern.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good place to reinforce modular design. The ECW Performer does not have to do everything itself; it can coordinate smaller workflows. That is how solutions remain maintainable as application behavior evolves.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lifecycle to show that RPA is an ongoing service model. The deployment moment is important, but it is not the finish line. Ongoing monitoring, exception trends, and continuous improvement remain part of the operating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central for the audience. Reinforce that the BA role is not administrative. It materially affects design quality, exception treatment, and whether the delivered automation is trusted by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time here because exception logic is one of the most important BA contributions. Stakeholders often say 'handle errors' as though it were one thing. Explain that business and system exceptions serve different control outcomes and should be reported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slide to make the BA feel empowered, not blocked. The message is not 'say no'; it is 'protect value by being honest about process readiness.' That honesty improves delivery outcomes and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vendor-neutral and pragmatic. The purpose is to show that tools are only one part of the solution. A mature delivery approach combines platform capability with strong design and governance habits.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group enough specificity to work quickly. This exercise should force them to separate business exceptions from system exceptions and to think about outputs and review evidence, not only process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reinforcing confidence, not complexity. The BA does not need to become a developer to add major value. Their strength is making the process explicit, testable, governable, and reviewable before the automation goes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B16"/>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050B16"/>
          </a:solidFill>
          <a:ln/>
        </p:spPr>
      </p:sp>
      <p:sp>
        <p:nvSpPr>
          <p:cNvPr id="4" name="Shape 1"/>
          <p:cNvSpPr/>
          <p:nvPr/>
        </p:nvSpPr>
        <p:spPr>
          <a:xfrm>
            <a:off x="-182880" y="-822960"/>
            <a:ext cx="4023360" cy="2926080"/>
          </a:xfrm>
          <a:prstGeom prst="ellipse">
            <a:avLst/>
          </a:prstGeom>
          <a:solidFill>
            <a:srgbClr val="1F6FFF">
              <a:alpha val="22000"/>
            </a:srgbClr>
          </a:solidFill>
          <a:ln w="12700">
            <a:solidFill>
              <a:srgbClr val="1F6FFF">
                <a:alpha val="0"/>
              </a:srgbClr>
            </a:solidFill>
            <a:prstDash val="solid"/>
          </a:ln>
        </p:spPr>
      </p:sp>
      <p:sp>
        <p:nvSpPr>
          <p:cNvPr id="5" name="Shape 2"/>
          <p:cNvSpPr/>
          <p:nvPr/>
        </p:nvSpPr>
        <p:spPr>
          <a:xfrm>
            <a:off x="8595360" y="-731520"/>
            <a:ext cx="3931920" cy="3108960"/>
          </a:xfrm>
          <a:prstGeom prst="ellipse">
            <a:avLst/>
          </a:prstGeom>
          <a:solidFill>
            <a:srgbClr val="12B3A8">
              <a:alpha val="16000"/>
            </a:srgbClr>
          </a:solidFill>
          <a:ln w="12700">
            <a:solidFill>
              <a:srgbClr val="12B3A8">
                <a:alpha val="0"/>
              </a:srgbClr>
            </a:solidFill>
            <a:prstDash val="solid"/>
          </a:ln>
        </p:spPr>
      </p:sp>
      <p:sp>
        <p:nvSpPr>
          <p:cNvPr id="6" name="Shape 3"/>
          <p:cNvSpPr/>
          <p:nvPr/>
        </p:nvSpPr>
        <p:spPr>
          <a:xfrm rot="480000">
            <a:off x="7680960" y="5394960"/>
            <a:ext cx="4846320" cy="1737360"/>
          </a:xfrm>
          <a:prstGeom prst="rect">
            <a:avLst/>
          </a:prstGeom>
          <a:solidFill>
            <a:srgbClr val="8AB8FF">
              <a:alpha val="8000"/>
            </a:srgbClr>
          </a:solidFill>
          <a:ln w="12700">
            <a:solidFill>
              <a:srgbClr val="8AB8FF">
                <a:alpha val="0"/>
              </a:srgbClr>
            </a:solidFill>
            <a:prstDash val="solid"/>
          </a:ln>
        </p:spPr>
      </p:sp>
      <p:sp>
        <p:nvSpPr>
          <p:cNvPr id="7" name="Text 4"/>
          <p:cNvSpPr/>
          <p:nvPr/>
        </p:nvSpPr>
        <p:spPr>
          <a:xfrm>
            <a:off x="731520" y="475488"/>
            <a:ext cx="3383280" cy="164592"/>
          </a:xfrm>
          <a:prstGeom prst="rect">
            <a:avLst/>
          </a:prstGeom>
          <a:noFill/>
          <a:ln/>
        </p:spPr>
        <p:txBody>
          <a:bodyPr wrap="square" lIns="0" tIns="0" rIns="0" bIns="0" rtlCol="0" anchor="ctr"/>
          <a:lstStyle/>
          <a:p>
            <a:pPr indent="0" marL="0">
              <a:buNone/>
            </a:pPr>
            <a:r>
              <a:rPr lang="en-US" sz="1000" b="1" dirty="0">
                <a:solidFill>
                  <a:srgbClr val="8AB8FF"/>
                </a:solidFill>
                <a:latin typeface="Aptos" pitchFamily="34" charset="0"/>
                <a:ea typeface="Aptos" pitchFamily="34" charset="-122"/>
                <a:cs typeface="Aptos" pitchFamily="34" charset="-120"/>
              </a:rPr>
              <a:t>INNOBOT  |  INTERNAL WORKSHOP</a:t>
            </a:r>
            <a:endParaRPr lang="en-US" sz="1000" dirty="0"/>
          </a:p>
        </p:txBody>
      </p:sp>
      <p:sp>
        <p:nvSpPr>
          <p:cNvPr id="8" name="Text 5"/>
          <p:cNvSpPr/>
          <p:nvPr/>
        </p:nvSpPr>
        <p:spPr>
          <a:xfrm>
            <a:off x="731520" y="932688"/>
            <a:ext cx="5394960" cy="566928"/>
          </a:xfrm>
          <a:prstGeom prst="rect">
            <a:avLst/>
          </a:prstGeom>
          <a:noFill/>
          <a:ln/>
        </p:spPr>
        <p:txBody>
          <a:bodyPr wrap="square" lIns="0" tIns="0" rIns="0" bIns="0" rtlCol="0" anchor="ctr"/>
          <a:lstStyle/>
          <a:p>
            <a:pPr indent="0" marL="0">
              <a:buNone/>
            </a:pPr>
            <a:r>
              <a:rPr lang="en-US" sz="2700" b="1" dirty="0">
                <a:solidFill>
                  <a:srgbClr val="FFFFFF"/>
                </a:solidFill>
                <a:latin typeface="Aptos Display" pitchFamily="34" charset="0"/>
                <a:ea typeface="Aptos Display" pitchFamily="34" charset="-122"/>
                <a:cs typeface="Aptos Display" pitchFamily="34" charset="-120"/>
              </a:rPr>
              <a:t>Day 2: How RPA Works</a:t>
            </a:r>
            <a:endParaRPr lang="en-US" sz="2700" dirty="0"/>
          </a:p>
        </p:txBody>
      </p:sp>
      <p:sp>
        <p:nvSpPr>
          <p:cNvPr id="9" name="Text 6"/>
          <p:cNvSpPr/>
          <p:nvPr/>
        </p:nvSpPr>
        <p:spPr>
          <a:xfrm>
            <a:off x="731520" y="1664208"/>
            <a:ext cx="5303520" cy="640080"/>
          </a:xfrm>
          <a:prstGeom prst="rect">
            <a:avLst/>
          </a:prstGeom>
          <a:noFill/>
          <a:ln/>
        </p:spPr>
        <p:txBody>
          <a:bodyPr wrap="square" lIns="254" tIns="254" rIns="254" bIns="254" rtlCol="0" anchor="ctr"/>
          <a:lstStyle/>
          <a:p>
            <a:pPr indent="0" marL="0">
              <a:buNone/>
            </a:pPr>
            <a:r>
              <a:rPr lang="en-US" sz="1250" dirty="0">
                <a:solidFill>
                  <a:srgbClr val="D7E7FF"/>
                </a:solidFill>
                <a:latin typeface="Aptos" pitchFamily="34" charset="0"/>
                <a:ea typeface="Aptos" pitchFamily="34" charset="-122"/>
                <a:cs typeface="Aptos" pitchFamily="34" charset="-120"/>
              </a:rPr>
              <a:t>How automation solutions are structured, controlled, and supported in a real delivery environment</a:t>
            </a:r>
            <a:endParaRPr lang="en-US" sz="1250" dirty="0"/>
          </a:p>
        </p:txBody>
      </p:sp>
      <p:sp>
        <p:nvSpPr>
          <p:cNvPr id="10" name="Shape 7"/>
          <p:cNvSpPr/>
          <p:nvPr/>
        </p:nvSpPr>
        <p:spPr>
          <a:xfrm>
            <a:off x="731520" y="2487168"/>
            <a:ext cx="5166360" cy="969264"/>
          </a:xfrm>
          <a:prstGeom prst="roundRect">
            <a:avLst>
              <a:gd name="adj" fmla="val 4717"/>
            </a:avLst>
          </a:prstGeom>
          <a:solidFill>
            <a:srgbClr val="102749">
              <a:alpha val="85000"/>
            </a:srgbClr>
          </a:solidFill>
          <a:ln w="12700">
            <a:solidFill>
              <a:srgbClr val="8AB8FF">
                <a:alpha val="22000"/>
              </a:srgbClr>
            </a:solidFill>
            <a:prstDash val="solid"/>
          </a:ln>
        </p:spPr>
      </p:sp>
      <p:sp>
        <p:nvSpPr>
          <p:cNvPr id="11" name="Text 8"/>
          <p:cNvSpPr/>
          <p:nvPr/>
        </p:nvSpPr>
        <p:spPr>
          <a:xfrm>
            <a:off x="932688" y="2706624"/>
            <a:ext cx="4754880" cy="566928"/>
          </a:xfrm>
          <a:prstGeom prst="rect">
            <a:avLst/>
          </a:prstGeom>
          <a:noFill/>
          <a:ln/>
        </p:spPr>
        <p:txBody>
          <a:bodyPr wrap="square" lIns="0" tIns="0" rIns="0" bIns="0" rtlCol="0" anchor="ctr"/>
          <a:lstStyle/>
          <a:p>
            <a:pPr indent="0" marL="0">
              <a:buNone/>
            </a:pPr>
            <a:r>
              <a:rPr lang="en-US" sz="1120" dirty="0">
                <a:solidFill>
                  <a:srgbClr val="FFFFFF"/>
                </a:solidFill>
                <a:latin typeface="Aptos" pitchFamily="34" charset="0"/>
                <a:ea typeface="Aptos" pitchFamily="34" charset="-122"/>
                <a:cs typeface="Aptos" pitchFamily="34" charset="-120"/>
              </a:rPr>
              <a:t>RPA is not just screen clicking. It is a controlled business execution model with triggers, inputs, rules, orchestration, monitoring, and clear business accountability.</a:t>
            </a:r>
            <a:endParaRPr lang="en-US" sz="1120" dirty="0"/>
          </a:p>
        </p:txBody>
      </p:sp>
      <p:sp>
        <p:nvSpPr>
          <p:cNvPr id="12" name="Shape 9"/>
          <p:cNvSpPr/>
          <p:nvPr/>
        </p:nvSpPr>
        <p:spPr>
          <a:xfrm>
            <a:off x="731520" y="3767328"/>
            <a:ext cx="2450592" cy="384048"/>
          </a:xfrm>
          <a:prstGeom prst="roundRect">
            <a:avLst>
              <a:gd name="adj" fmla="val 9524"/>
            </a:avLst>
          </a:prstGeom>
          <a:solidFill>
            <a:srgbClr val="102749">
              <a:alpha val="90000"/>
            </a:srgbClr>
          </a:solidFill>
          <a:ln w="12700">
            <a:solidFill>
              <a:srgbClr val="8AB8FF">
                <a:alpha val="16000"/>
              </a:srgbClr>
            </a:solidFill>
            <a:prstDash val="solid"/>
          </a:ln>
        </p:spPr>
      </p:sp>
      <p:sp>
        <p:nvSpPr>
          <p:cNvPr id="13" name="Text 10"/>
          <p:cNvSpPr/>
          <p:nvPr/>
        </p:nvSpPr>
        <p:spPr>
          <a:xfrm>
            <a:off x="886968" y="3858768"/>
            <a:ext cx="2103120" cy="164592"/>
          </a:xfrm>
          <a:prstGeom prst="rect">
            <a:avLst/>
          </a:prstGeom>
          <a:noFill/>
          <a:ln/>
        </p:spPr>
        <p:txBody>
          <a:bodyPr wrap="square" lIns="0" tIns="0" rIns="0" bIns="0" rtlCol="0" anchor="ctr"/>
          <a:lstStyle/>
          <a:p>
            <a:pPr indent="0" marL="0">
              <a:buNone/>
            </a:pPr>
            <a:r>
              <a:rPr lang="en-US" sz="920" dirty="0">
                <a:solidFill>
                  <a:srgbClr val="FFFFFF"/>
                </a:solidFill>
                <a:latin typeface="Aptos" pitchFamily="34" charset="0"/>
                <a:ea typeface="Aptos" pitchFamily="34" charset="-122"/>
                <a:cs typeface="Aptos" pitchFamily="34" charset="-120"/>
              </a:rPr>
              <a:t>What a bot run actually looks like</a:t>
            </a:r>
            <a:endParaRPr lang="en-US" sz="920" dirty="0"/>
          </a:p>
        </p:txBody>
      </p:sp>
      <p:sp>
        <p:nvSpPr>
          <p:cNvPr id="14" name="Shape 11"/>
          <p:cNvSpPr/>
          <p:nvPr/>
        </p:nvSpPr>
        <p:spPr>
          <a:xfrm>
            <a:off x="3383280" y="3767328"/>
            <a:ext cx="2450592" cy="384048"/>
          </a:xfrm>
          <a:prstGeom prst="roundRect">
            <a:avLst>
              <a:gd name="adj" fmla="val 9524"/>
            </a:avLst>
          </a:prstGeom>
          <a:solidFill>
            <a:srgbClr val="0A1830">
              <a:alpha val="90000"/>
            </a:srgbClr>
          </a:solidFill>
          <a:ln w="12700">
            <a:solidFill>
              <a:srgbClr val="8AB8FF">
                <a:alpha val="16000"/>
              </a:srgbClr>
            </a:solidFill>
            <a:prstDash val="solid"/>
          </a:ln>
        </p:spPr>
      </p:sp>
      <p:sp>
        <p:nvSpPr>
          <p:cNvPr id="15" name="Text 12"/>
          <p:cNvSpPr/>
          <p:nvPr/>
        </p:nvSpPr>
        <p:spPr>
          <a:xfrm>
            <a:off x="3538728" y="3858768"/>
            <a:ext cx="2103120" cy="164592"/>
          </a:xfrm>
          <a:prstGeom prst="rect">
            <a:avLst/>
          </a:prstGeom>
          <a:noFill/>
          <a:ln/>
        </p:spPr>
        <p:txBody>
          <a:bodyPr wrap="square" lIns="0" tIns="0" rIns="0" bIns="0" rtlCol="0" anchor="ctr"/>
          <a:lstStyle/>
          <a:p>
            <a:pPr indent="0" marL="0">
              <a:buNone/>
            </a:pPr>
            <a:r>
              <a:rPr lang="en-US" sz="920" dirty="0">
                <a:solidFill>
                  <a:srgbClr val="FFFFFF"/>
                </a:solidFill>
                <a:latin typeface="Aptos" pitchFamily="34" charset="0"/>
                <a:ea typeface="Aptos" pitchFamily="34" charset="-122"/>
                <a:cs typeface="Aptos" pitchFamily="34" charset="-120"/>
              </a:rPr>
              <a:t>Attended vs unattended operating models</a:t>
            </a:r>
            <a:endParaRPr lang="en-US" sz="920" dirty="0"/>
          </a:p>
        </p:txBody>
      </p:sp>
      <p:sp>
        <p:nvSpPr>
          <p:cNvPr id="16" name="Shape 13"/>
          <p:cNvSpPr/>
          <p:nvPr/>
        </p:nvSpPr>
        <p:spPr>
          <a:xfrm>
            <a:off x="731520" y="4297680"/>
            <a:ext cx="2450592" cy="384048"/>
          </a:xfrm>
          <a:prstGeom prst="roundRect">
            <a:avLst>
              <a:gd name="adj" fmla="val 9524"/>
            </a:avLst>
          </a:prstGeom>
          <a:solidFill>
            <a:srgbClr val="102749">
              <a:alpha val="90000"/>
            </a:srgbClr>
          </a:solidFill>
          <a:ln w="12700">
            <a:solidFill>
              <a:srgbClr val="8AB8FF">
                <a:alpha val="16000"/>
              </a:srgbClr>
            </a:solidFill>
            <a:prstDash val="solid"/>
          </a:ln>
        </p:spPr>
      </p:sp>
      <p:sp>
        <p:nvSpPr>
          <p:cNvPr id="17" name="Text 14"/>
          <p:cNvSpPr/>
          <p:nvPr/>
        </p:nvSpPr>
        <p:spPr>
          <a:xfrm>
            <a:off x="886968" y="4389120"/>
            <a:ext cx="2103120" cy="164592"/>
          </a:xfrm>
          <a:prstGeom prst="rect">
            <a:avLst/>
          </a:prstGeom>
          <a:noFill/>
          <a:ln/>
        </p:spPr>
        <p:txBody>
          <a:bodyPr wrap="square" lIns="0" tIns="0" rIns="0" bIns="0" rtlCol="0" anchor="ctr"/>
          <a:lstStyle/>
          <a:p>
            <a:pPr indent="0" marL="0">
              <a:buNone/>
            </a:pPr>
            <a:r>
              <a:rPr lang="en-US" sz="920" dirty="0">
                <a:solidFill>
                  <a:srgbClr val="FFFFFF"/>
                </a:solidFill>
                <a:latin typeface="Aptos" pitchFamily="34" charset="0"/>
                <a:ea typeface="Aptos" pitchFamily="34" charset="-122"/>
                <a:cs typeface="Aptos" pitchFamily="34" charset="-120"/>
              </a:rPr>
              <a:t>Innobot delivery pipeline: Dispatcher, Availity Performer, ECW Performer</a:t>
            </a:r>
            <a:endParaRPr lang="en-US" sz="920" dirty="0"/>
          </a:p>
        </p:txBody>
      </p:sp>
      <p:sp>
        <p:nvSpPr>
          <p:cNvPr id="18" name="Shape 15"/>
          <p:cNvSpPr/>
          <p:nvPr/>
        </p:nvSpPr>
        <p:spPr>
          <a:xfrm>
            <a:off x="3383280" y="4297680"/>
            <a:ext cx="2450592" cy="384048"/>
          </a:xfrm>
          <a:prstGeom prst="roundRect">
            <a:avLst>
              <a:gd name="adj" fmla="val 9524"/>
            </a:avLst>
          </a:prstGeom>
          <a:solidFill>
            <a:srgbClr val="0A1830">
              <a:alpha val="90000"/>
            </a:srgbClr>
          </a:solidFill>
          <a:ln w="12700">
            <a:solidFill>
              <a:srgbClr val="8AB8FF">
                <a:alpha val="16000"/>
              </a:srgbClr>
            </a:solidFill>
            <a:prstDash val="solid"/>
          </a:ln>
        </p:spPr>
      </p:sp>
      <p:sp>
        <p:nvSpPr>
          <p:cNvPr id="19" name="Text 16"/>
          <p:cNvSpPr/>
          <p:nvPr/>
        </p:nvSpPr>
        <p:spPr>
          <a:xfrm>
            <a:off x="3538728" y="4389120"/>
            <a:ext cx="2103120" cy="164592"/>
          </a:xfrm>
          <a:prstGeom prst="rect">
            <a:avLst/>
          </a:prstGeom>
          <a:noFill/>
          <a:ln/>
        </p:spPr>
        <p:txBody>
          <a:bodyPr wrap="square" lIns="0" tIns="0" rIns="0" bIns="0" rtlCol="0" anchor="ctr"/>
          <a:lstStyle/>
          <a:p>
            <a:pPr indent="0" marL="0">
              <a:buNone/>
            </a:pPr>
            <a:r>
              <a:rPr lang="en-US" sz="920" dirty="0">
                <a:solidFill>
                  <a:srgbClr val="FFFFFF"/>
                </a:solidFill>
                <a:latin typeface="Aptos" pitchFamily="34" charset="0"/>
                <a:ea typeface="Aptos" pitchFamily="34" charset="-122"/>
                <a:cs typeface="Aptos" pitchFamily="34" charset="-120"/>
              </a:rPr>
              <a:t>Exception handling, logging, retries, and review controls</a:t>
            </a:r>
            <a:endParaRPr lang="en-US" sz="920" dirty="0"/>
          </a:p>
        </p:txBody>
      </p:sp>
      <p:sp>
        <p:nvSpPr>
          <p:cNvPr id="20" name="Shape 17"/>
          <p:cNvSpPr/>
          <p:nvPr/>
        </p:nvSpPr>
        <p:spPr>
          <a:xfrm>
            <a:off x="731520" y="4828032"/>
            <a:ext cx="2450592" cy="384048"/>
          </a:xfrm>
          <a:prstGeom prst="roundRect">
            <a:avLst>
              <a:gd name="adj" fmla="val 9524"/>
            </a:avLst>
          </a:prstGeom>
          <a:solidFill>
            <a:srgbClr val="102749">
              <a:alpha val="90000"/>
            </a:srgbClr>
          </a:solidFill>
          <a:ln w="12700">
            <a:solidFill>
              <a:srgbClr val="8AB8FF">
                <a:alpha val="16000"/>
              </a:srgbClr>
            </a:solidFill>
            <a:prstDash val="solid"/>
          </a:ln>
        </p:spPr>
      </p:sp>
      <p:sp>
        <p:nvSpPr>
          <p:cNvPr id="21" name="Text 18"/>
          <p:cNvSpPr/>
          <p:nvPr/>
        </p:nvSpPr>
        <p:spPr>
          <a:xfrm>
            <a:off x="886968" y="4919472"/>
            <a:ext cx="2103120" cy="164592"/>
          </a:xfrm>
          <a:prstGeom prst="rect">
            <a:avLst/>
          </a:prstGeom>
          <a:noFill/>
          <a:ln/>
        </p:spPr>
        <p:txBody>
          <a:bodyPr wrap="square" lIns="0" tIns="0" rIns="0" bIns="0" rtlCol="0" anchor="ctr"/>
          <a:lstStyle/>
          <a:p>
            <a:pPr indent="0" marL="0">
              <a:buNone/>
            </a:pPr>
            <a:r>
              <a:rPr lang="en-US" sz="920" dirty="0">
                <a:solidFill>
                  <a:srgbClr val="FFFFFF"/>
                </a:solidFill>
                <a:latin typeface="Aptos" pitchFamily="34" charset="0"/>
                <a:ea typeface="Aptos" pitchFamily="34" charset="-122"/>
                <a:cs typeface="Aptos" pitchFamily="34" charset="-120"/>
              </a:rPr>
              <a:t>Where Business Analysts shape feasibility, validation, and success</a:t>
            </a:r>
            <a:endParaRPr lang="en-US" sz="920" dirty="0"/>
          </a:p>
        </p:txBody>
      </p:sp>
      <p:sp>
        <p:nvSpPr>
          <p:cNvPr id="22" name="Shape 19"/>
          <p:cNvSpPr/>
          <p:nvPr/>
        </p:nvSpPr>
        <p:spPr>
          <a:xfrm>
            <a:off x="6537960" y="987552"/>
            <a:ext cx="4709160" cy="1051560"/>
          </a:xfrm>
          <a:prstGeom prst="roundRect">
            <a:avLst>
              <a:gd name="adj" fmla="val 5217"/>
            </a:avLst>
          </a:prstGeom>
          <a:solidFill>
            <a:srgbClr val="0A1830"/>
          </a:solidFill>
          <a:ln w="12700">
            <a:solidFill>
              <a:srgbClr val="102749"/>
            </a:solidFill>
            <a:prstDash val="solid"/>
          </a:ln>
        </p:spPr>
      </p:sp>
      <p:sp>
        <p:nvSpPr>
          <p:cNvPr id="23" name="Shape 20"/>
          <p:cNvSpPr/>
          <p:nvPr/>
        </p:nvSpPr>
        <p:spPr>
          <a:xfrm>
            <a:off x="6537960" y="987552"/>
            <a:ext cx="4709160" cy="64008"/>
          </a:xfrm>
          <a:prstGeom prst="rect">
            <a:avLst/>
          </a:prstGeom>
          <a:solidFill>
            <a:srgbClr val="12B3A8"/>
          </a:solidFill>
          <a:ln w="12700">
            <a:solidFill>
              <a:srgbClr val="12B3A8">
                <a:alpha val="0"/>
              </a:srgbClr>
            </a:solidFill>
            <a:prstDash val="solid"/>
          </a:ln>
        </p:spPr>
      </p:sp>
      <p:sp>
        <p:nvSpPr>
          <p:cNvPr id="24" name="Text 21"/>
          <p:cNvSpPr/>
          <p:nvPr/>
        </p:nvSpPr>
        <p:spPr>
          <a:xfrm>
            <a:off x="6702552" y="1152144"/>
            <a:ext cx="4434840" cy="201168"/>
          </a:xfrm>
          <a:prstGeom prst="rect">
            <a:avLst/>
          </a:prstGeom>
          <a:noFill/>
          <a:ln/>
        </p:spPr>
        <p:txBody>
          <a:bodyPr wrap="square" lIns="0" tIns="0" rIns="0" bIns="0" rtlCol="0" anchor="ctr"/>
          <a:lstStyle/>
          <a:p>
            <a:pPr indent="0" marL="0">
              <a:buNone/>
            </a:pPr>
            <a:r>
              <a:rPr lang="en-US" sz="1150" b="1" dirty="0">
                <a:solidFill>
                  <a:srgbClr val="FFFFFF"/>
                </a:solidFill>
                <a:latin typeface="Aptos Display" pitchFamily="34" charset="0"/>
                <a:ea typeface="Aptos Display" pitchFamily="34" charset="-122"/>
                <a:cs typeface="Aptos Display" pitchFamily="34" charset="-120"/>
              </a:rPr>
              <a:t>End-to-end delivery view</a:t>
            </a:r>
            <a:endParaRPr lang="en-US" sz="1150" dirty="0"/>
          </a:p>
        </p:txBody>
      </p:sp>
      <p:sp>
        <p:nvSpPr>
          <p:cNvPr id="25" name="Text 22"/>
          <p:cNvSpPr/>
          <p:nvPr/>
        </p:nvSpPr>
        <p:spPr>
          <a:xfrm>
            <a:off x="6702552" y="1426464"/>
            <a:ext cx="4434840" cy="521208"/>
          </a:xfrm>
          <a:prstGeom prst="rect">
            <a:avLst/>
          </a:prstGeom>
          <a:noFill/>
          <a:ln/>
        </p:spPr>
        <p:txBody>
          <a:bodyPr wrap="square" lIns="254" tIns="254" rIns="254" bIns="254" rtlCol="0" anchor="t"/>
          <a:lstStyle/>
          <a:p>
            <a:pPr indent="0" marL="0">
              <a:buNone/>
            </a:pPr>
            <a:r>
              <a:rPr lang="en-US" sz="960" dirty="0">
                <a:solidFill>
                  <a:srgbClr val="D9E5F5"/>
                </a:solidFill>
                <a:latin typeface="Aptos" pitchFamily="34" charset="0"/>
                <a:ea typeface="Aptos" pitchFamily="34" charset="-122"/>
                <a:cs typeface="Aptos" pitchFamily="34" charset="-120"/>
              </a:rPr>
              <a:t>Dispatcher collects and structures workload. Availity Performer processes one claim at a time. ECW Performer finalizes updates and summary reporting.</a:t>
            </a:r>
            <a:endParaRPr lang="en-US" sz="960" dirty="0"/>
          </a:p>
        </p:txBody>
      </p:sp>
      <p:sp>
        <p:nvSpPr>
          <p:cNvPr id="26" name="Shape 23"/>
          <p:cNvSpPr/>
          <p:nvPr/>
        </p:nvSpPr>
        <p:spPr>
          <a:xfrm>
            <a:off x="6537960" y="2267712"/>
            <a:ext cx="1325880" cy="1078992"/>
          </a:xfrm>
          <a:prstGeom prst="roundRect">
            <a:avLst>
              <a:gd name="adj" fmla="val 5085"/>
            </a:avLst>
          </a:prstGeom>
          <a:solidFill>
            <a:srgbClr val="0A1830"/>
          </a:solidFill>
          <a:ln w="12700">
            <a:solidFill>
              <a:srgbClr val="102749"/>
            </a:solidFill>
            <a:prstDash val="solid"/>
          </a:ln>
        </p:spPr>
      </p:sp>
      <p:sp>
        <p:nvSpPr>
          <p:cNvPr id="27" name="Shape 24"/>
          <p:cNvSpPr/>
          <p:nvPr/>
        </p:nvSpPr>
        <p:spPr>
          <a:xfrm>
            <a:off x="6537960" y="2267712"/>
            <a:ext cx="1325880" cy="64008"/>
          </a:xfrm>
          <a:prstGeom prst="rect">
            <a:avLst/>
          </a:prstGeom>
          <a:solidFill>
            <a:srgbClr val="1F6FFF"/>
          </a:solidFill>
          <a:ln w="12700">
            <a:solidFill>
              <a:srgbClr val="1F6FFF">
                <a:alpha val="0"/>
              </a:srgbClr>
            </a:solidFill>
            <a:prstDash val="solid"/>
          </a:ln>
        </p:spPr>
      </p:sp>
      <p:sp>
        <p:nvSpPr>
          <p:cNvPr id="28" name="Text 25"/>
          <p:cNvSpPr/>
          <p:nvPr/>
        </p:nvSpPr>
        <p:spPr>
          <a:xfrm>
            <a:off x="6702552" y="2432304"/>
            <a:ext cx="1051560" cy="201168"/>
          </a:xfrm>
          <a:prstGeom prst="rect">
            <a:avLst/>
          </a:prstGeom>
          <a:noFill/>
          <a:ln/>
        </p:spPr>
        <p:txBody>
          <a:bodyPr wrap="square" lIns="0" tIns="0" rIns="0" bIns="0" rtlCol="0" anchor="ctr"/>
          <a:lstStyle/>
          <a:p>
            <a:pPr indent="0" marL="0">
              <a:buNone/>
            </a:pPr>
            <a:r>
              <a:rPr lang="en-US" sz="1150" b="1" dirty="0">
                <a:solidFill>
                  <a:srgbClr val="FFFFFF"/>
                </a:solidFill>
                <a:latin typeface="Aptos Display" pitchFamily="34" charset="0"/>
                <a:ea typeface="Aptos Display" pitchFamily="34" charset="-122"/>
                <a:cs typeface="Aptos Display" pitchFamily="34" charset="-120"/>
              </a:rPr>
              <a:t>Trigger</a:t>
            </a:r>
            <a:endParaRPr lang="en-US" sz="1150" dirty="0"/>
          </a:p>
        </p:txBody>
      </p:sp>
      <p:sp>
        <p:nvSpPr>
          <p:cNvPr id="29" name="Text 26"/>
          <p:cNvSpPr/>
          <p:nvPr/>
        </p:nvSpPr>
        <p:spPr>
          <a:xfrm>
            <a:off x="6702552" y="2706624"/>
            <a:ext cx="1051560" cy="548640"/>
          </a:xfrm>
          <a:prstGeom prst="rect">
            <a:avLst/>
          </a:prstGeom>
          <a:noFill/>
          <a:ln/>
        </p:spPr>
        <p:txBody>
          <a:bodyPr wrap="square" lIns="254" tIns="254" rIns="254" bIns="254" rtlCol="0" anchor="t"/>
          <a:lstStyle/>
          <a:p>
            <a:pPr indent="0" marL="0">
              <a:buNone/>
            </a:pPr>
            <a:r>
              <a:rPr lang="en-US" sz="880" dirty="0">
                <a:solidFill>
                  <a:srgbClr val="D9E5F5"/>
                </a:solidFill>
                <a:latin typeface="Aptos" pitchFamily="34" charset="0"/>
                <a:ea typeface="Aptos" pitchFamily="34" charset="-122"/>
                <a:cs typeface="Aptos" pitchFamily="34" charset="-120"/>
              </a:rPr>
              <a:t>Schedule or event starts a controlled run.</a:t>
            </a:r>
            <a:endParaRPr lang="en-US" sz="880" dirty="0"/>
          </a:p>
        </p:txBody>
      </p:sp>
      <p:sp>
        <p:nvSpPr>
          <p:cNvPr id="30" name="Shape 27"/>
          <p:cNvSpPr/>
          <p:nvPr/>
        </p:nvSpPr>
        <p:spPr>
          <a:xfrm>
            <a:off x="8156448" y="2267712"/>
            <a:ext cx="1463040" cy="1078992"/>
          </a:xfrm>
          <a:prstGeom prst="roundRect">
            <a:avLst>
              <a:gd name="adj" fmla="val 5085"/>
            </a:avLst>
          </a:prstGeom>
          <a:solidFill>
            <a:srgbClr val="0A1830"/>
          </a:solidFill>
          <a:ln w="12700">
            <a:solidFill>
              <a:srgbClr val="102749"/>
            </a:solidFill>
            <a:prstDash val="solid"/>
          </a:ln>
        </p:spPr>
      </p:sp>
      <p:sp>
        <p:nvSpPr>
          <p:cNvPr id="31" name="Shape 28"/>
          <p:cNvSpPr/>
          <p:nvPr/>
        </p:nvSpPr>
        <p:spPr>
          <a:xfrm>
            <a:off x="8156448" y="2267712"/>
            <a:ext cx="1463040" cy="64008"/>
          </a:xfrm>
          <a:prstGeom prst="rect">
            <a:avLst/>
          </a:prstGeom>
          <a:solidFill>
            <a:srgbClr val="12B3A8"/>
          </a:solidFill>
          <a:ln w="12700">
            <a:solidFill>
              <a:srgbClr val="12B3A8">
                <a:alpha val="0"/>
              </a:srgbClr>
            </a:solidFill>
            <a:prstDash val="solid"/>
          </a:ln>
        </p:spPr>
      </p:sp>
      <p:sp>
        <p:nvSpPr>
          <p:cNvPr id="32" name="Text 29"/>
          <p:cNvSpPr/>
          <p:nvPr/>
        </p:nvSpPr>
        <p:spPr>
          <a:xfrm>
            <a:off x="8321040" y="2432304"/>
            <a:ext cx="1188720" cy="201168"/>
          </a:xfrm>
          <a:prstGeom prst="rect">
            <a:avLst/>
          </a:prstGeom>
          <a:noFill/>
          <a:ln/>
        </p:spPr>
        <p:txBody>
          <a:bodyPr wrap="square" lIns="0" tIns="0" rIns="0" bIns="0" rtlCol="0" anchor="ctr"/>
          <a:lstStyle/>
          <a:p>
            <a:pPr indent="0" marL="0">
              <a:buNone/>
            </a:pPr>
            <a:r>
              <a:rPr lang="en-US" sz="1150" b="1" dirty="0">
                <a:solidFill>
                  <a:srgbClr val="FFFFFF"/>
                </a:solidFill>
                <a:latin typeface="Aptos Display" pitchFamily="34" charset="0"/>
                <a:ea typeface="Aptos Display" pitchFamily="34" charset="-122"/>
                <a:cs typeface="Aptos Display" pitchFamily="34" charset="-120"/>
              </a:rPr>
              <a:t>Queue</a:t>
            </a:r>
            <a:endParaRPr lang="en-US" sz="1150" dirty="0"/>
          </a:p>
        </p:txBody>
      </p:sp>
      <p:sp>
        <p:nvSpPr>
          <p:cNvPr id="33" name="Text 30"/>
          <p:cNvSpPr/>
          <p:nvPr/>
        </p:nvSpPr>
        <p:spPr>
          <a:xfrm>
            <a:off x="8321040" y="2706624"/>
            <a:ext cx="1188720" cy="548640"/>
          </a:xfrm>
          <a:prstGeom prst="rect">
            <a:avLst/>
          </a:prstGeom>
          <a:noFill/>
          <a:ln/>
        </p:spPr>
        <p:txBody>
          <a:bodyPr wrap="square" lIns="254" tIns="254" rIns="254" bIns="254" rtlCol="0" anchor="t"/>
          <a:lstStyle/>
          <a:p>
            <a:pPr indent="0" marL="0">
              <a:buNone/>
            </a:pPr>
            <a:r>
              <a:rPr lang="en-US" sz="860" dirty="0">
                <a:solidFill>
                  <a:srgbClr val="D9E5F5"/>
                </a:solidFill>
                <a:latin typeface="Aptos" pitchFamily="34" charset="0"/>
                <a:ea typeface="Aptos" pitchFamily="34" charset="-122"/>
                <a:cs typeface="Aptos" pitchFamily="34" charset="-120"/>
              </a:rPr>
              <a:t>Structured transactions, retries, and state tracking.</a:t>
            </a:r>
            <a:endParaRPr lang="en-US" sz="860" dirty="0"/>
          </a:p>
        </p:txBody>
      </p:sp>
      <p:sp>
        <p:nvSpPr>
          <p:cNvPr id="34" name="Shape 31"/>
          <p:cNvSpPr/>
          <p:nvPr/>
        </p:nvSpPr>
        <p:spPr>
          <a:xfrm>
            <a:off x="9893808" y="2267712"/>
            <a:ext cx="1353312" cy="1078992"/>
          </a:xfrm>
          <a:prstGeom prst="roundRect">
            <a:avLst>
              <a:gd name="adj" fmla="val 5085"/>
            </a:avLst>
          </a:prstGeom>
          <a:solidFill>
            <a:srgbClr val="0A1830"/>
          </a:solidFill>
          <a:ln w="12700">
            <a:solidFill>
              <a:srgbClr val="102749"/>
            </a:solidFill>
            <a:prstDash val="solid"/>
          </a:ln>
        </p:spPr>
      </p:sp>
      <p:sp>
        <p:nvSpPr>
          <p:cNvPr id="35" name="Shape 32"/>
          <p:cNvSpPr/>
          <p:nvPr/>
        </p:nvSpPr>
        <p:spPr>
          <a:xfrm>
            <a:off x="9893808" y="2267712"/>
            <a:ext cx="1353312" cy="64008"/>
          </a:xfrm>
          <a:prstGeom prst="rect">
            <a:avLst/>
          </a:prstGeom>
          <a:solidFill>
            <a:srgbClr val="8AB8FF"/>
          </a:solidFill>
          <a:ln w="12700">
            <a:solidFill>
              <a:srgbClr val="8AB8FF">
                <a:alpha val="0"/>
              </a:srgbClr>
            </a:solidFill>
            <a:prstDash val="solid"/>
          </a:ln>
        </p:spPr>
      </p:sp>
      <p:sp>
        <p:nvSpPr>
          <p:cNvPr id="36" name="Text 33"/>
          <p:cNvSpPr/>
          <p:nvPr/>
        </p:nvSpPr>
        <p:spPr>
          <a:xfrm>
            <a:off x="10058400" y="2432304"/>
            <a:ext cx="1078992" cy="201168"/>
          </a:xfrm>
          <a:prstGeom prst="rect">
            <a:avLst/>
          </a:prstGeom>
          <a:noFill/>
          <a:ln/>
        </p:spPr>
        <p:txBody>
          <a:bodyPr wrap="square" lIns="0" tIns="0" rIns="0" bIns="0" rtlCol="0" anchor="ctr"/>
          <a:lstStyle/>
          <a:p>
            <a:pPr indent="0" marL="0">
              <a:buNone/>
            </a:pPr>
            <a:r>
              <a:rPr lang="en-US" sz="1150" b="1" dirty="0">
                <a:solidFill>
                  <a:srgbClr val="FFFFFF"/>
                </a:solidFill>
                <a:latin typeface="Aptos Display" pitchFamily="34" charset="0"/>
                <a:ea typeface="Aptos Display" pitchFamily="34" charset="-122"/>
                <a:cs typeface="Aptos Display" pitchFamily="34" charset="-120"/>
              </a:rPr>
              <a:t>Output</a:t>
            </a:r>
            <a:endParaRPr lang="en-US" sz="1150" dirty="0"/>
          </a:p>
        </p:txBody>
      </p:sp>
      <p:sp>
        <p:nvSpPr>
          <p:cNvPr id="37" name="Text 34"/>
          <p:cNvSpPr/>
          <p:nvPr/>
        </p:nvSpPr>
        <p:spPr>
          <a:xfrm>
            <a:off x="10058400" y="2706624"/>
            <a:ext cx="1078992" cy="548640"/>
          </a:xfrm>
          <a:prstGeom prst="rect">
            <a:avLst/>
          </a:prstGeom>
          <a:noFill/>
          <a:ln/>
        </p:spPr>
        <p:txBody>
          <a:bodyPr wrap="square" lIns="254" tIns="254" rIns="254" bIns="254" rtlCol="0" anchor="t"/>
          <a:lstStyle/>
          <a:p>
            <a:pPr indent="0" marL="0">
              <a:buNone/>
            </a:pPr>
            <a:r>
              <a:rPr lang="en-US" sz="860" dirty="0">
                <a:solidFill>
                  <a:srgbClr val="D9E5F5"/>
                </a:solidFill>
                <a:latin typeface="Aptos" pitchFamily="34" charset="0"/>
                <a:ea typeface="Aptos" pitchFamily="34" charset="-122"/>
                <a:cs typeface="Aptos" pitchFamily="34" charset="-120"/>
              </a:rPr>
              <a:t>Updates, reports, screenshots, and review signals.</a:t>
            </a:r>
            <a:endParaRPr lang="en-US" sz="8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F4F7FB"/>
          </a:solidFill>
          <a:ln/>
        </p:spPr>
      </p:sp>
      <p:sp>
        <p:nvSpPr>
          <p:cNvPr id="4" name="Shape 1"/>
          <p:cNvSpPr/>
          <p:nvPr/>
        </p:nvSpPr>
        <p:spPr>
          <a:xfrm>
            <a:off x="0" y="0"/>
            <a:ext cx="12191695" cy="411480"/>
          </a:xfrm>
          <a:prstGeom prst="rect">
            <a:avLst/>
          </a:prstGeom>
          <a:solidFill>
            <a:srgbClr val="0A1830"/>
          </a:solidFill>
          <a:ln/>
        </p:spPr>
      </p:sp>
      <p:sp>
        <p:nvSpPr>
          <p:cNvPr id="5" name="Shape 2"/>
          <p:cNvSpPr/>
          <p:nvPr/>
        </p:nvSpPr>
        <p:spPr>
          <a:xfrm>
            <a:off x="9509760" y="-137160"/>
            <a:ext cx="3200400" cy="2194560"/>
          </a:xfrm>
          <a:prstGeom prst="ellipse">
            <a:avLst/>
          </a:prstGeom>
          <a:solidFill>
            <a:srgbClr val="8AB8FF">
              <a:alpha val="16000"/>
            </a:srgbClr>
          </a:solidFill>
          <a:ln w="12700">
            <a:solidFill>
              <a:srgbClr val="8AB8FF">
                <a:alpha val="0"/>
              </a:srgbClr>
            </a:solidFill>
            <a:prstDash val="solid"/>
          </a:ln>
        </p:spPr>
      </p:sp>
      <p:sp>
        <p:nvSpPr>
          <p:cNvPr id="6" name="Shape 3"/>
          <p:cNvSpPr/>
          <p:nvPr/>
        </p:nvSpPr>
        <p:spPr>
          <a:xfrm>
            <a:off x="-731520" y="5394960"/>
            <a:ext cx="2560320" cy="1645920"/>
          </a:xfrm>
          <a:prstGeom prst="ellipse">
            <a:avLst/>
          </a:prstGeom>
          <a:solidFill>
            <a:srgbClr val="12B3A8">
              <a:alpha val="10000"/>
            </a:srgbClr>
          </a:solidFill>
          <a:ln w="12700">
            <a:solidFill>
              <a:srgbClr val="12B3A8">
                <a:alpha val="0"/>
              </a:srgbClr>
            </a:solidFill>
            <a:prstDash val="solid"/>
          </a:ln>
        </p:spPr>
      </p:sp>
      <p:sp>
        <p:nvSpPr>
          <p:cNvPr id="7" name="Text 4"/>
          <p:cNvSpPr/>
          <p:nvPr/>
        </p:nvSpPr>
        <p:spPr>
          <a:xfrm>
            <a:off x="658368" y="182880"/>
            <a:ext cx="2651760" cy="146304"/>
          </a:xfrm>
          <a:prstGeom prst="rect">
            <a:avLst/>
          </a:prstGeom>
          <a:noFill/>
          <a:ln/>
        </p:spPr>
        <p:txBody>
          <a:bodyPr wrap="square" lIns="0" tIns="0" rIns="0" bIns="0" rtlCol="0" anchor="ctr"/>
          <a:lstStyle/>
          <a:p>
            <a:pPr indent="0" marL="0">
              <a:buNone/>
            </a:pPr>
            <a:r>
              <a:rPr lang="en-US" sz="850" b="1" dirty="0">
                <a:solidFill>
                  <a:srgbClr val="8AB8FF"/>
                </a:solidFill>
                <a:latin typeface="Aptos" pitchFamily="34" charset="0"/>
                <a:ea typeface="Aptos" pitchFamily="34" charset="-122"/>
                <a:cs typeface="Aptos" pitchFamily="34" charset="-120"/>
              </a:rPr>
              <a:t>WHY IT MATTERS</a:t>
            </a:r>
            <a:endParaRPr lang="en-US" sz="850" dirty="0"/>
          </a:p>
        </p:txBody>
      </p:sp>
      <p:sp>
        <p:nvSpPr>
          <p:cNvPr id="8" name="Text 5"/>
          <p:cNvSpPr/>
          <p:nvPr/>
        </p:nvSpPr>
        <p:spPr>
          <a:xfrm>
            <a:off x="658368" y="612648"/>
            <a:ext cx="7223760" cy="411480"/>
          </a:xfrm>
          <a:prstGeom prst="rect">
            <a:avLst/>
          </a:prstGeom>
          <a:noFill/>
          <a:ln/>
        </p:spPr>
        <p:txBody>
          <a:bodyPr wrap="square" lIns="0" tIns="0" rIns="0" bIns="0" rtlCol="0" anchor="ctr"/>
          <a:lstStyle/>
          <a:p>
            <a:pPr indent="0" marL="0">
              <a:buNone/>
            </a:pPr>
            <a:r>
              <a:rPr lang="en-US" sz="2400" b="1" dirty="0">
                <a:solidFill>
                  <a:srgbClr val="102749"/>
                </a:solidFill>
                <a:latin typeface="Aptos Display" pitchFamily="34" charset="0"/>
                <a:ea typeface="Aptos Display" pitchFamily="34" charset="-122"/>
                <a:cs typeface="Aptos Display" pitchFamily="34" charset="-120"/>
              </a:rPr>
              <a:t>Session Objective and Why This Matters for BAs</a:t>
            </a:r>
            <a:endParaRPr lang="en-US" sz="2400" dirty="0"/>
          </a:p>
        </p:txBody>
      </p:sp>
      <p:sp>
        <p:nvSpPr>
          <p:cNvPr id="9" name="Text 6"/>
          <p:cNvSpPr/>
          <p:nvPr/>
        </p:nvSpPr>
        <p:spPr>
          <a:xfrm>
            <a:off x="658368" y="1069848"/>
            <a:ext cx="7863840" cy="310896"/>
          </a:xfrm>
          <a:prstGeom prst="rect">
            <a:avLst/>
          </a:prstGeom>
          <a:noFill/>
          <a:ln/>
        </p:spPr>
        <p:txBody>
          <a:bodyPr wrap="square" lIns="0" tIns="0" rIns="0" bIns="0" rtlCol="0" anchor="ctr"/>
          <a:lstStyle/>
          <a:p>
            <a:pPr indent="0" marL="0">
              <a:buNone/>
            </a:pPr>
            <a:r>
              <a:rPr lang="en-US" sz="1100" dirty="0">
                <a:solidFill>
                  <a:srgbClr val="51607B"/>
                </a:solidFill>
                <a:latin typeface="Aptos" pitchFamily="34" charset="0"/>
                <a:ea typeface="Aptos" pitchFamily="34" charset="-122"/>
                <a:cs typeface="Aptos" pitchFamily="34" charset="-120"/>
              </a:rPr>
              <a:t>Business Analysts help make automation feasible, testable, and governable</a:t>
            </a:r>
            <a:endParaRPr lang="en-US" sz="1100" dirty="0"/>
          </a:p>
        </p:txBody>
      </p:sp>
      <p:sp>
        <p:nvSpPr>
          <p:cNvPr id="10" name="Text 7"/>
          <p:cNvSpPr/>
          <p:nvPr/>
        </p:nvSpPr>
        <p:spPr>
          <a:xfrm>
            <a:off x="11155680" y="530352"/>
            <a:ext cx="365760" cy="201168"/>
          </a:xfrm>
          <a:prstGeom prst="rect">
            <a:avLst/>
          </a:prstGeom>
          <a:noFill/>
          <a:ln/>
        </p:spPr>
        <p:txBody>
          <a:bodyPr wrap="square" lIns="0" tIns="0" rIns="0" bIns="0" rtlCol="0" anchor="ctr"/>
          <a:lstStyle/>
          <a:p>
            <a:pPr algn="r" indent="0" marL="0">
              <a:buNone/>
            </a:pPr>
            <a:r>
              <a:rPr lang="en-US" sz="950" dirty="0">
                <a:solidFill>
                  <a:srgbClr val="51607B"/>
                </a:solidFill>
                <a:latin typeface="Consolas" pitchFamily="34" charset="0"/>
                <a:ea typeface="Consolas" pitchFamily="34" charset="-122"/>
                <a:cs typeface="Consolas" pitchFamily="34" charset="-120"/>
              </a:rPr>
              <a:t>02</a:t>
            </a:r>
            <a:endParaRPr lang="en-US" sz="950" dirty="0"/>
          </a:p>
        </p:txBody>
      </p:sp>
      <p:sp>
        <p:nvSpPr>
          <p:cNvPr id="11" name="Shape 8"/>
          <p:cNvSpPr/>
          <p:nvPr/>
        </p:nvSpPr>
        <p:spPr>
          <a:xfrm>
            <a:off x="8366760" y="676656"/>
            <a:ext cx="3154680" cy="822960"/>
          </a:xfrm>
          <a:prstGeom prst="roundRect">
            <a:avLst>
              <a:gd name="adj" fmla="val 8889"/>
            </a:avLst>
          </a:prstGeom>
          <a:solidFill>
            <a:srgbClr val="FFFFFF"/>
          </a:solidFill>
          <a:ln w="12700">
            <a:solidFill>
              <a:srgbClr val="1F6FFF">
                <a:alpha val="0"/>
              </a:srgbClr>
            </a:solidFill>
            <a:prstDash val="solid"/>
          </a:ln>
        </p:spPr>
      </p:sp>
      <p:sp>
        <p:nvSpPr>
          <p:cNvPr id="12" name="Shape 9"/>
          <p:cNvSpPr/>
          <p:nvPr/>
        </p:nvSpPr>
        <p:spPr>
          <a:xfrm>
            <a:off x="8366760" y="676656"/>
            <a:ext cx="73152" cy="822960"/>
          </a:xfrm>
          <a:prstGeom prst="rect">
            <a:avLst/>
          </a:prstGeom>
          <a:solidFill>
            <a:srgbClr val="1F6FFF"/>
          </a:solidFill>
          <a:ln w="12700">
            <a:solidFill>
              <a:srgbClr val="1F6FFF">
                <a:alpha val="0"/>
              </a:srgbClr>
            </a:solidFill>
            <a:prstDash val="solid"/>
          </a:ln>
        </p:spPr>
      </p:sp>
      <p:sp>
        <p:nvSpPr>
          <p:cNvPr id="13" name="Text 10"/>
          <p:cNvSpPr/>
          <p:nvPr/>
        </p:nvSpPr>
        <p:spPr>
          <a:xfrm>
            <a:off x="8531352" y="786384"/>
            <a:ext cx="1097280" cy="164592"/>
          </a:xfrm>
          <a:prstGeom prst="rect">
            <a:avLst/>
          </a:prstGeom>
          <a:noFill/>
          <a:ln/>
        </p:spPr>
        <p:txBody>
          <a:bodyPr wrap="square" lIns="0" tIns="0" rIns="0" bIns="0" rtlCol="0" anchor="ctr"/>
          <a:lstStyle/>
          <a:p>
            <a:pPr indent="0" marL="0">
              <a:buNone/>
            </a:pPr>
            <a:r>
              <a:rPr lang="en-US" sz="800" b="1" dirty="0">
                <a:solidFill>
                  <a:srgbClr val="1F6FFF"/>
                </a:solidFill>
                <a:latin typeface="Aptos" pitchFamily="34" charset="0"/>
                <a:ea typeface="Aptos" pitchFamily="34" charset="-122"/>
                <a:cs typeface="Aptos" pitchFamily="34" charset="-120"/>
              </a:rPr>
              <a:t>Key takeaway</a:t>
            </a:r>
            <a:endParaRPr lang="en-US" sz="800" dirty="0"/>
          </a:p>
        </p:txBody>
      </p:sp>
      <p:sp>
        <p:nvSpPr>
          <p:cNvPr id="14" name="Text 11"/>
          <p:cNvSpPr/>
          <p:nvPr/>
        </p:nvSpPr>
        <p:spPr>
          <a:xfrm>
            <a:off x="8531352" y="932688"/>
            <a:ext cx="2880360" cy="521208"/>
          </a:xfrm>
          <a:prstGeom prst="rect">
            <a:avLst/>
          </a:prstGeom>
          <a:noFill/>
          <a:ln/>
        </p:spPr>
        <p:txBody>
          <a:bodyPr wrap="square" lIns="254" tIns="254" rIns="254" bIns="254" rtlCol="0" anchor="ctr"/>
          <a:lstStyle/>
          <a:p>
            <a:pPr indent="0" marL="0">
              <a:buNone/>
            </a:pPr>
            <a:r>
              <a:rPr lang="en-US" sz="920" dirty="0">
                <a:solidFill>
                  <a:srgbClr val="102749"/>
                </a:solidFill>
                <a:latin typeface="Aptos" pitchFamily="34" charset="0"/>
                <a:ea typeface="Aptos" pitchFamily="34" charset="-122"/>
                <a:cs typeface="Aptos" pitchFamily="34" charset="-120"/>
              </a:rPr>
              <a:t>A strong BA does more than identify a manual task. They help define the process truth, the rules, the exceptions, the outputs, and the validation approach that a bot can safely execute.</a:t>
            </a:r>
            <a:endParaRPr lang="en-US" sz="920" dirty="0"/>
          </a:p>
        </p:txBody>
      </p:sp>
      <p:sp>
        <p:nvSpPr>
          <p:cNvPr id="15" name="Shape 12"/>
          <p:cNvSpPr/>
          <p:nvPr/>
        </p:nvSpPr>
        <p:spPr>
          <a:xfrm>
            <a:off x="731520" y="1810512"/>
            <a:ext cx="100584" cy="100584"/>
          </a:xfrm>
          <a:prstGeom prst="ellipse">
            <a:avLst/>
          </a:prstGeom>
          <a:solidFill>
            <a:srgbClr val="1F6FFF"/>
          </a:solidFill>
          <a:ln w="12700">
            <a:solidFill>
              <a:srgbClr val="1F6FFF">
                <a:alpha val="0"/>
              </a:srgbClr>
            </a:solidFill>
            <a:prstDash val="solid"/>
          </a:ln>
        </p:spPr>
      </p:sp>
      <p:sp>
        <p:nvSpPr>
          <p:cNvPr id="16" name="Text 13"/>
          <p:cNvSpPr/>
          <p:nvPr/>
        </p:nvSpPr>
        <p:spPr>
          <a:xfrm>
            <a:off x="896112" y="1737360"/>
            <a:ext cx="6949440" cy="301752"/>
          </a:xfrm>
          <a:prstGeom prst="rect">
            <a:avLst/>
          </a:prstGeom>
          <a:noFill/>
          <a:ln/>
        </p:spPr>
        <p:txBody>
          <a:bodyPr wrap="square" lIns="0" tIns="0" rIns="0" bIns="0" rtlCol="0" anchor="ctr"/>
          <a:lstStyle/>
          <a:p>
            <a:pPr indent="0" marL="0">
              <a:buNone/>
            </a:pPr>
            <a:r>
              <a:rPr lang="en-US" sz="1110" dirty="0">
                <a:solidFill>
                  <a:srgbClr val="102749"/>
                </a:solidFill>
                <a:latin typeface="Aptos" pitchFamily="34" charset="0"/>
                <a:ea typeface="Aptos" pitchFamily="34" charset="-122"/>
                <a:cs typeface="Aptos" pitchFamily="34" charset="-120"/>
              </a:rPr>
              <a:t>Understand the structure of a real automation run: trigger, setup, transactions, outputs, controls, and closure</a:t>
            </a:r>
            <a:endParaRPr lang="en-US" sz="1110" dirty="0"/>
          </a:p>
        </p:txBody>
      </p:sp>
      <p:sp>
        <p:nvSpPr>
          <p:cNvPr id="17" name="Shape 14"/>
          <p:cNvSpPr/>
          <p:nvPr/>
        </p:nvSpPr>
        <p:spPr>
          <a:xfrm>
            <a:off x="731520" y="2386584"/>
            <a:ext cx="100584" cy="100584"/>
          </a:xfrm>
          <a:prstGeom prst="ellipse">
            <a:avLst/>
          </a:prstGeom>
          <a:solidFill>
            <a:srgbClr val="1F6FFF"/>
          </a:solidFill>
          <a:ln w="12700">
            <a:solidFill>
              <a:srgbClr val="1F6FFF">
                <a:alpha val="0"/>
              </a:srgbClr>
            </a:solidFill>
            <a:prstDash val="solid"/>
          </a:ln>
        </p:spPr>
      </p:sp>
      <p:sp>
        <p:nvSpPr>
          <p:cNvPr id="18" name="Text 15"/>
          <p:cNvSpPr/>
          <p:nvPr/>
        </p:nvSpPr>
        <p:spPr>
          <a:xfrm>
            <a:off x="896112" y="2313432"/>
            <a:ext cx="6949440" cy="301752"/>
          </a:xfrm>
          <a:prstGeom prst="rect">
            <a:avLst/>
          </a:prstGeom>
          <a:noFill/>
          <a:ln/>
        </p:spPr>
        <p:txBody>
          <a:bodyPr wrap="square" lIns="0" tIns="0" rIns="0" bIns="0" rtlCol="0" anchor="ctr"/>
          <a:lstStyle/>
          <a:p>
            <a:pPr indent="0" marL="0">
              <a:buNone/>
            </a:pPr>
            <a:r>
              <a:rPr lang="en-US" sz="1110" dirty="0">
                <a:solidFill>
                  <a:srgbClr val="102749"/>
                </a:solidFill>
                <a:latin typeface="Aptos" pitchFamily="34" charset="0"/>
                <a:ea typeface="Aptos" pitchFamily="34" charset="-122"/>
                <a:cs typeface="Aptos" pitchFamily="34" charset="-120"/>
              </a:rPr>
              <a:t>See how automation solutions are split into modules rather than built as one long fragile script</a:t>
            </a:r>
            <a:endParaRPr lang="en-US" sz="1110" dirty="0"/>
          </a:p>
        </p:txBody>
      </p:sp>
      <p:sp>
        <p:nvSpPr>
          <p:cNvPr id="19" name="Shape 16"/>
          <p:cNvSpPr/>
          <p:nvPr/>
        </p:nvSpPr>
        <p:spPr>
          <a:xfrm>
            <a:off x="731520" y="2962656"/>
            <a:ext cx="100584" cy="100584"/>
          </a:xfrm>
          <a:prstGeom prst="ellipse">
            <a:avLst/>
          </a:prstGeom>
          <a:solidFill>
            <a:srgbClr val="1F6FFF"/>
          </a:solidFill>
          <a:ln w="12700">
            <a:solidFill>
              <a:srgbClr val="1F6FFF">
                <a:alpha val="0"/>
              </a:srgbClr>
            </a:solidFill>
            <a:prstDash val="solid"/>
          </a:ln>
        </p:spPr>
      </p:sp>
      <p:sp>
        <p:nvSpPr>
          <p:cNvPr id="20" name="Text 17"/>
          <p:cNvSpPr/>
          <p:nvPr/>
        </p:nvSpPr>
        <p:spPr>
          <a:xfrm>
            <a:off x="896112" y="2889504"/>
            <a:ext cx="6949440" cy="301752"/>
          </a:xfrm>
          <a:prstGeom prst="rect">
            <a:avLst/>
          </a:prstGeom>
          <a:noFill/>
          <a:ln/>
        </p:spPr>
        <p:txBody>
          <a:bodyPr wrap="square" lIns="0" tIns="0" rIns="0" bIns="0" rtlCol="0" anchor="ctr"/>
          <a:lstStyle/>
          <a:p>
            <a:pPr indent="0" marL="0">
              <a:buNone/>
            </a:pPr>
            <a:r>
              <a:rPr lang="en-US" sz="1110" dirty="0">
                <a:solidFill>
                  <a:srgbClr val="102749"/>
                </a:solidFill>
                <a:latin typeface="Aptos" pitchFamily="34" charset="0"/>
                <a:ea typeface="Aptos" pitchFamily="34" charset="-122"/>
                <a:cs typeface="Aptos" pitchFamily="34" charset="-120"/>
              </a:rPr>
              <a:t>Learn why exception handling, reporting, and review paths are central to automation success</a:t>
            </a:r>
            <a:endParaRPr lang="en-US" sz="1110" dirty="0"/>
          </a:p>
        </p:txBody>
      </p:sp>
      <p:sp>
        <p:nvSpPr>
          <p:cNvPr id="21" name="Shape 18"/>
          <p:cNvSpPr/>
          <p:nvPr/>
        </p:nvSpPr>
        <p:spPr>
          <a:xfrm>
            <a:off x="731520" y="3538728"/>
            <a:ext cx="100584" cy="100584"/>
          </a:xfrm>
          <a:prstGeom prst="ellipse">
            <a:avLst/>
          </a:prstGeom>
          <a:solidFill>
            <a:srgbClr val="1F6FFF"/>
          </a:solidFill>
          <a:ln w="12700">
            <a:solidFill>
              <a:srgbClr val="1F6FFF">
                <a:alpha val="0"/>
              </a:srgbClr>
            </a:solidFill>
            <a:prstDash val="solid"/>
          </a:ln>
        </p:spPr>
      </p:sp>
      <p:sp>
        <p:nvSpPr>
          <p:cNvPr id="22" name="Text 19"/>
          <p:cNvSpPr/>
          <p:nvPr/>
        </p:nvSpPr>
        <p:spPr>
          <a:xfrm>
            <a:off x="896112" y="3465576"/>
            <a:ext cx="6949440" cy="301752"/>
          </a:xfrm>
          <a:prstGeom prst="rect">
            <a:avLst/>
          </a:prstGeom>
          <a:noFill/>
          <a:ln/>
        </p:spPr>
        <p:txBody>
          <a:bodyPr wrap="square" lIns="0" tIns="0" rIns="0" bIns="0" rtlCol="0" anchor="ctr"/>
          <a:lstStyle/>
          <a:p>
            <a:pPr indent="0" marL="0">
              <a:buNone/>
            </a:pPr>
            <a:r>
              <a:rPr lang="en-US" sz="1110" dirty="0">
                <a:solidFill>
                  <a:srgbClr val="102749"/>
                </a:solidFill>
                <a:latin typeface="Aptos" pitchFamily="34" charset="0"/>
                <a:ea typeface="Aptos" pitchFamily="34" charset="-122"/>
                <a:cs typeface="Aptos" pitchFamily="34" charset="-120"/>
              </a:rPr>
              <a:t>Recognize where BA inputs directly affect feasibility, UAT quality, and post-go-live stability</a:t>
            </a:r>
            <a:endParaRPr lang="en-US" sz="1110" dirty="0"/>
          </a:p>
        </p:txBody>
      </p:sp>
      <p:sp>
        <p:nvSpPr>
          <p:cNvPr id="23" name="Shape 20"/>
          <p:cNvSpPr/>
          <p:nvPr/>
        </p:nvSpPr>
        <p:spPr>
          <a:xfrm>
            <a:off x="8229600" y="1783080"/>
            <a:ext cx="3246120" cy="1133856"/>
          </a:xfrm>
          <a:prstGeom prst="roundRect">
            <a:avLst>
              <a:gd name="adj" fmla="val 4839"/>
            </a:avLst>
          </a:prstGeom>
          <a:solidFill>
            <a:srgbClr val="FFFFFF"/>
          </a:solidFill>
          <a:ln w="12700">
            <a:solidFill>
              <a:srgbClr val="C7D5EA"/>
            </a:solidFill>
            <a:prstDash val="solid"/>
          </a:ln>
        </p:spPr>
      </p:sp>
      <p:sp>
        <p:nvSpPr>
          <p:cNvPr id="24" name="Shape 21"/>
          <p:cNvSpPr/>
          <p:nvPr/>
        </p:nvSpPr>
        <p:spPr>
          <a:xfrm>
            <a:off x="8229600" y="1783080"/>
            <a:ext cx="3246120" cy="64008"/>
          </a:xfrm>
          <a:prstGeom prst="rect">
            <a:avLst/>
          </a:prstGeom>
          <a:solidFill>
            <a:srgbClr val="1F6FFF"/>
          </a:solidFill>
          <a:ln w="12700">
            <a:solidFill>
              <a:srgbClr val="1F6FFF">
                <a:alpha val="0"/>
              </a:srgbClr>
            </a:solidFill>
            <a:prstDash val="solid"/>
          </a:ln>
        </p:spPr>
      </p:sp>
      <p:sp>
        <p:nvSpPr>
          <p:cNvPr id="25" name="Text 22"/>
          <p:cNvSpPr/>
          <p:nvPr/>
        </p:nvSpPr>
        <p:spPr>
          <a:xfrm>
            <a:off x="8394192" y="1947672"/>
            <a:ext cx="297180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Feasibility</a:t>
            </a:r>
            <a:endParaRPr lang="en-US" sz="1150" dirty="0"/>
          </a:p>
        </p:txBody>
      </p:sp>
      <p:sp>
        <p:nvSpPr>
          <p:cNvPr id="26" name="Text 23"/>
          <p:cNvSpPr/>
          <p:nvPr/>
        </p:nvSpPr>
        <p:spPr>
          <a:xfrm>
            <a:off x="8394192" y="2221992"/>
            <a:ext cx="2971800" cy="603504"/>
          </a:xfrm>
          <a:prstGeom prst="rect">
            <a:avLst/>
          </a:prstGeom>
          <a:noFill/>
          <a:ln/>
        </p:spPr>
        <p:txBody>
          <a:bodyPr wrap="square" lIns="254" tIns="254" rIns="254" bIns="254" rtlCol="0" anchor="t"/>
          <a:lstStyle/>
          <a:p>
            <a:pPr indent="0" marL="0">
              <a:buNone/>
            </a:pPr>
            <a:r>
              <a:rPr lang="en-US" sz="940" dirty="0">
                <a:solidFill>
                  <a:srgbClr val="51607B"/>
                </a:solidFill>
                <a:latin typeface="Aptos" pitchFamily="34" charset="0"/>
                <a:ea typeface="Aptos" pitchFamily="34" charset="-122"/>
                <a:cs typeface="Aptos" pitchFamily="34" charset="-120"/>
              </a:rPr>
              <a:t>BAs identify whether the process is stable enough, rules-based enough, and measurable enough to automate.</a:t>
            </a:r>
            <a:endParaRPr lang="en-US" sz="940" dirty="0"/>
          </a:p>
        </p:txBody>
      </p:sp>
      <p:sp>
        <p:nvSpPr>
          <p:cNvPr id="27" name="Shape 24"/>
          <p:cNvSpPr/>
          <p:nvPr/>
        </p:nvSpPr>
        <p:spPr>
          <a:xfrm>
            <a:off x="8229600" y="3200400"/>
            <a:ext cx="3246120" cy="1133856"/>
          </a:xfrm>
          <a:prstGeom prst="roundRect">
            <a:avLst>
              <a:gd name="adj" fmla="val 4839"/>
            </a:avLst>
          </a:prstGeom>
          <a:solidFill>
            <a:srgbClr val="FFFFFF"/>
          </a:solidFill>
          <a:ln w="12700">
            <a:solidFill>
              <a:srgbClr val="C7D5EA"/>
            </a:solidFill>
            <a:prstDash val="solid"/>
          </a:ln>
        </p:spPr>
      </p:sp>
      <p:sp>
        <p:nvSpPr>
          <p:cNvPr id="28" name="Shape 25"/>
          <p:cNvSpPr/>
          <p:nvPr/>
        </p:nvSpPr>
        <p:spPr>
          <a:xfrm>
            <a:off x="8229600" y="3200400"/>
            <a:ext cx="3246120" cy="64008"/>
          </a:xfrm>
          <a:prstGeom prst="rect">
            <a:avLst/>
          </a:prstGeom>
          <a:solidFill>
            <a:srgbClr val="12B3A8"/>
          </a:solidFill>
          <a:ln w="12700">
            <a:solidFill>
              <a:srgbClr val="12B3A8">
                <a:alpha val="0"/>
              </a:srgbClr>
            </a:solidFill>
            <a:prstDash val="solid"/>
          </a:ln>
        </p:spPr>
      </p:sp>
      <p:sp>
        <p:nvSpPr>
          <p:cNvPr id="29" name="Text 26"/>
          <p:cNvSpPr/>
          <p:nvPr/>
        </p:nvSpPr>
        <p:spPr>
          <a:xfrm>
            <a:off x="8394192" y="3364992"/>
            <a:ext cx="297180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Clarity</a:t>
            </a:r>
            <a:endParaRPr lang="en-US" sz="1150" dirty="0"/>
          </a:p>
        </p:txBody>
      </p:sp>
      <p:sp>
        <p:nvSpPr>
          <p:cNvPr id="30" name="Text 27"/>
          <p:cNvSpPr/>
          <p:nvPr/>
        </p:nvSpPr>
        <p:spPr>
          <a:xfrm>
            <a:off x="8394192" y="3639312"/>
            <a:ext cx="2971800" cy="603504"/>
          </a:xfrm>
          <a:prstGeom prst="rect">
            <a:avLst/>
          </a:prstGeom>
          <a:noFill/>
          <a:ln/>
        </p:spPr>
        <p:txBody>
          <a:bodyPr wrap="square" lIns="254" tIns="254" rIns="254" bIns="254" rtlCol="0" anchor="t"/>
          <a:lstStyle/>
          <a:p>
            <a:pPr indent="0" marL="0">
              <a:buNone/>
            </a:pPr>
            <a:r>
              <a:rPr lang="en-US" sz="940" dirty="0">
                <a:solidFill>
                  <a:srgbClr val="51607B"/>
                </a:solidFill>
                <a:latin typeface="Aptos" pitchFamily="34" charset="0"/>
                <a:ea typeface="Aptos" pitchFamily="34" charset="-122"/>
                <a:cs typeface="Aptos" pitchFamily="34" charset="-120"/>
              </a:rPr>
              <a:t>Bots need explicit inputs, decisions, variants, and output definitions. Ambiguity turns into production defects.</a:t>
            </a:r>
            <a:endParaRPr lang="en-US" sz="940" dirty="0"/>
          </a:p>
        </p:txBody>
      </p:sp>
      <p:sp>
        <p:nvSpPr>
          <p:cNvPr id="31" name="Shape 28"/>
          <p:cNvSpPr/>
          <p:nvPr/>
        </p:nvSpPr>
        <p:spPr>
          <a:xfrm>
            <a:off x="8229600" y="4617720"/>
            <a:ext cx="3246120" cy="1133856"/>
          </a:xfrm>
          <a:prstGeom prst="roundRect">
            <a:avLst>
              <a:gd name="adj" fmla="val 4839"/>
            </a:avLst>
          </a:prstGeom>
          <a:solidFill>
            <a:srgbClr val="FFFFFF"/>
          </a:solidFill>
          <a:ln w="12700">
            <a:solidFill>
              <a:srgbClr val="C7D5EA"/>
            </a:solidFill>
            <a:prstDash val="solid"/>
          </a:ln>
        </p:spPr>
      </p:sp>
      <p:sp>
        <p:nvSpPr>
          <p:cNvPr id="32" name="Shape 29"/>
          <p:cNvSpPr/>
          <p:nvPr/>
        </p:nvSpPr>
        <p:spPr>
          <a:xfrm>
            <a:off x="8229600" y="4617720"/>
            <a:ext cx="3246120" cy="64008"/>
          </a:xfrm>
          <a:prstGeom prst="rect">
            <a:avLst/>
          </a:prstGeom>
          <a:solidFill>
            <a:srgbClr val="1F6FFF"/>
          </a:solidFill>
          <a:ln w="12700">
            <a:solidFill>
              <a:srgbClr val="1F6FFF">
                <a:alpha val="0"/>
              </a:srgbClr>
            </a:solidFill>
            <a:prstDash val="solid"/>
          </a:ln>
        </p:spPr>
      </p:sp>
      <p:sp>
        <p:nvSpPr>
          <p:cNvPr id="33" name="Text 30"/>
          <p:cNvSpPr/>
          <p:nvPr/>
        </p:nvSpPr>
        <p:spPr>
          <a:xfrm>
            <a:off x="8394192" y="4782312"/>
            <a:ext cx="297180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Validation</a:t>
            </a:r>
            <a:endParaRPr lang="en-US" sz="1150" dirty="0"/>
          </a:p>
        </p:txBody>
      </p:sp>
      <p:sp>
        <p:nvSpPr>
          <p:cNvPr id="34" name="Text 31"/>
          <p:cNvSpPr/>
          <p:nvPr/>
        </p:nvSpPr>
        <p:spPr>
          <a:xfrm>
            <a:off x="8394192" y="5056632"/>
            <a:ext cx="2971800" cy="603504"/>
          </a:xfrm>
          <a:prstGeom prst="rect">
            <a:avLst/>
          </a:prstGeom>
          <a:noFill/>
          <a:ln/>
        </p:spPr>
        <p:txBody>
          <a:bodyPr wrap="square" lIns="254" tIns="254" rIns="254" bIns="254" rtlCol="0" anchor="t"/>
          <a:lstStyle/>
          <a:p>
            <a:pPr indent="0" marL="0">
              <a:buNone/>
            </a:pPr>
            <a:r>
              <a:rPr lang="en-US" sz="940" dirty="0">
                <a:solidFill>
                  <a:srgbClr val="51607B"/>
                </a:solidFill>
                <a:latin typeface="Aptos" pitchFamily="34" charset="0"/>
                <a:ea typeface="Aptos" pitchFamily="34" charset="-122"/>
                <a:cs typeface="Aptos" pitchFamily="34" charset="-120"/>
              </a:rPr>
              <a:t>The BA helps define what correct output looks like, what should be reviewed by humans, and how success is measured.</a:t>
            </a:r>
            <a:endParaRPr lang="en-US" sz="940" dirty="0"/>
          </a:p>
        </p:txBody>
      </p:sp>
      <p:sp>
        <p:nvSpPr>
          <p:cNvPr id="35" name="Text 32"/>
          <p:cNvSpPr/>
          <p:nvPr/>
        </p:nvSpPr>
        <p:spPr>
          <a:xfrm>
            <a:off x="658368" y="6510528"/>
            <a:ext cx="2560320" cy="164592"/>
          </a:xfrm>
          <a:prstGeom prst="rect">
            <a:avLst/>
          </a:prstGeom>
          <a:noFill/>
          <a:ln/>
        </p:spPr>
        <p:txBody>
          <a:bodyPr wrap="square" lIns="0" tIns="0" rIns="0" bIns="0" rtlCol="0" anchor="ctr"/>
          <a:lstStyle/>
          <a:p>
            <a:pPr indent="0" marL="0">
              <a:buNone/>
            </a:pPr>
            <a:r>
              <a:rPr lang="en-US" sz="850" dirty="0">
                <a:solidFill>
                  <a:srgbClr val="51607B"/>
                </a:solidFill>
                <a:latin typeface="Aptos" pitchFamily="34" charset="0"/>
                <a:ea typeface="Aptos" pitchFamily="34" charset="-122"/>
                <a:cs typeface="Aptos" pitchFamily="34" charset="-120"/>
              </a:rPr>
              <a:t>Innobot  |  Internal workshop</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F4F7FB"/>
          </a:solidFill>
          <a:ln/>
        </p:spPr>
      </p:sp>
      <p:sp>
        <p:nvSpPr>
          <p:cNvPr id="4" name="Shape 1"/>
          <p:cNvSpPr/>
          <p:nvPr/>
        </p:nvSpPr>
        <p:spPr>
          <a:xfrm>
            <a:off x="0" y="0"/>
            <a:ext cx="12191695" cy="411480"/>
          </a:xfrm>
          <a:prstGeom prst="rect">
            <a:avLst/>
          </a:prstGeom>
          <a:solidFill>
            <a:srgbClr val="0A1830"/>
          </a:solidFill>
          <a:ln/>
        </p:spPr>
      </p:sp>
      <p:sp>
        <p:nvSpPr>
          <p:cNvPr id="5" name="Shape 2"/>
          <p:cNvSpPr/>
          <p:nvPr/>
        </p:nvSpPr>
        <p:spPr>
          <a:xfrm>
            <a:off x="9509760" y="-137160"/>
            <a:ext cx="3200400" cy="2194560"/>
          </a:xfrm>
          <a:prstGeom prst="ellipse">
            <a:avLst/>
          </a:prstGeom>
          <a:solidFill>
            <a:srgbClr val="8AB8FF">
              <a:alpha val="16000"/>
            </a:srgbClr>
          </a:solidFill>
          <a:ln w="12700">
            <a:solidFill>
              <a:srgbClr val="8AB8FF">
                <a:alpha val="0"/>
              </a:srgbClr>
            </a:solidFill>
            <a:prstDash val="solid"/>
          </a:ln>
        </p:spPr>
      </p:sp>
      <p:sp>
        <p:nvSpPr>
          <p:cNvPr id="6" name="Shape 3"/>
          <p:cNvSpPr/>
          <p:nvPr/>
        </p:nvSpPr>
        <p:spPr>
          <a:xfrm>
            <a:off x="-731520" y="5394960"/>
            <a:ext cx="2560320" cy="1645920"/>
          </a:xfrm>
          <a:prstGeom prst="ellipse">
            <a:avLst/>
          </a:prstGeom>
          <a:solidFill>
            <a:srgbClr val="12B3A8">
              <a:alpha val="10000"/>
            </a:srgbClr>
          </a:solidFill>
          <a:ln w="12700">
            <a:solidFill>
              <a:srgbClr val="12B3A8">
                <a:alpha val="0"/>
              </a:srgbClr>
            </a:solidFill>
            <a:prstDash val="solid"/>
          </a:ln>
        </p:spPr>
      </p:sp>
      <p:sp>
        <p:nvSpPr>
          <p:cNvPr id="7" name="Text 4"/>
          <p:cNvSpPr/>
          <p:nvPr/>
        </p:nvSpPr>
        <p:spPr>
          <a:xfrm>
            <a:off x="658368" y="182880"/>
            <a:ext cx="2651760" cy="146304"/>
          </a:xfrm>
          <a:prstGeom prst="rect">
            <a:avLst/>
          </a:prstGeom>
          <a:noFill/>
          <a:ln/>
        </p:spPr>
        <p:txBody>
          <a:bodyPr wrap="square" lIns="0" tIns="0" rIns="0" bIns="0" rtlCol="0" anchor="ctr"/>
          <a:lstStyle/>
          <a:p>
            <a:pPr indent="0" marL="0">
              <a:buNone/>
            </a:pPr>
            <a:r>
              <a:rPr lang="en-US" sz="850" b="1" dirty="0">
                <a:solidFill>
                  <a:srgbClr val="8AB8FF"/>
                </a:solidFill>
                <a:latin typeface="Aptos" pitchFamily="34" charset="0"/>
                <a:ea typeface="Aptos" pitchFamily="34" charset="-122"/>
                <a:cs typeface="Aptos" pitchFamily="34" charset="-120"/>
              </a:rPr>
              <a:t>RECAP</a:t>
            </a:r>
            <a:endParaRPr lang="en-US" sz="850" dirty="0"/>
          </a:p>
        </p:txBody>
      </p:sp>
      <p:sp>
        <p:nvSpPr>
          <p:cNvPr id="8" name="Text 5"/>
          <p:cNvSpPr/>
          <p:nvPr/>
        </p:nvSpPr>
        <p:spPr>
          <a:xfrm>
            <a:off x="658368" y="612648"/>
            <a:ext cx="7223760" cy="411480"/>
          </a:xfrm>
          <a:prstGeom prst="rect">
            <a:avLst/>
          </a:prstGeom>
          <a:noFill/>
          <a:ln/>
        </p:spPr>
        <p:txBody>
          <a:bodyPr wrap="square" lIns="0" tIns="0" rIns="0" bIns="0" rtlCol="0" anchor="ctr"/>
          <a:lstStyle/>
          <a:p>
            <a:pPr indent="0" marL="0">
              <a:buNone/>
            </a:pPr>
            <a:r>
              <a:rPr lang="en-US" sz="2400" b="1" dirty="0">
                <a:solidFill>
                  <a:srgbClr val="102749"/>
                </a:solidFill>
                <a:latin typeface="Aptos Display" pitchFamily="34" charset="0"/>
                <a:ea typeface="Aptos Display" pitchFamily="34" charset="-122"/>
                <a:cs typeface="Aptos Display" pitchFamily="34" charset="-120"/>
              </a:rPr>
              <a:t>Recap of Day 1</a:t>
            </a:r>
            <a:endParaRPr lang="en-US" sz="2400" dirty="0"/>
          </a:p>
        </p:txBody>
      </p:sp>
      <p:sp>
        <p:nvSpPr>
          <p:cNvPr id="9" name="Text 6"/>
          <p:cNvSpPr/>
          <p:nvPr/>
        </p:nvSpPr>
        <p:spPr>
          <a:xfrm>
            <a:off x="658368" y="1069848"/>
            <a:ext cx="7863840" cy="310896"/>
          </a:xfrm>
          <a:prstGeom prst="rect">
            <a:avLst/>
          </a:prstGeom>
          <a:noFill/>
          <a:ln/>
        </p:spPr>
        <p:txBody>
          <a:bodyPr wrap="square" lIns="0" tIns="0" rIns="0" bIns="0" rtlCol="0" anchor="ctr"/>
          <a:lstStyle/>
          <a:p>
            <a:pPr indent="0" marL="0">
              <a:buNone/>
            </a:pPr>
            <a:r>
              <a:rPr lang="en-US" sz="1100" dirty="0">
                <a:solidFill>
                  <a:srgbClr val="51607B"/>
                </a:solidFill>
                <a:latin typeface="Aptos" pitchFamily="34" charset="0"/>
                <a:ea typeface="Aptos" pitchFamily="34" charset="-122"/>
                <a:cs typeface="Aptos" pitchFamily="34" charset="-120"/>
              </a:rPr>
              <a:t>Yesterday focused on choosing the right process; today focuses on how that process actually runs</a:t>
            </a:r>
            <a:endParaRPr lang="en-US" sz="1100" dirty="0"/>
          </a:p>
        </p:txBody>
      </p:sp>
      <p:sp>
        <p:nvSpPr>
          <p:cNvPr id="10" name="Text 7"/>
          <p:cNvSpPr/>
          <p:nvPr/>
        </p:nvSpPr>
        <p:spPr>
          <a:xfrm>
            <a:off x="11155680" y="530352"/>
            <a:ext cx="365760" cy="201168"/>
          </a:xfrm>
          <a:prstGeom prst="rect">
            <a:avLst/>
          </a:prstGeom>
          <a:noFill/>
          <a:ln/>
        </p:spPr>
        <p:txBody>
          <a:bodyPr wrap="square" lIns="0" tIns="0" rIns="0" bIns="0" rtlCol="0" anchor="ctr"/>
          <a:lstStyle/>
          <a:p>
            <a:pPr algn="r" indent="0" marL="0">
              <a:buNone/>
            </a:pPr>
            <a:r>
              <a:rPr lang="en-US" sz="950" dirty="0">
                <a:solidFill>
                  <a:srgbClr val="51607B"/>
                </a:solidFill>
                <a:latin typeface="Consolas" pitchFamily="34" charset="0"/>
                <a:ea typeface="Consolas" pitchFamily="34" charset="-122"/>
                <a:cs typeface="Consolas" pitchFamily="34" charset="-120"/>
              </a:rPr>
              <a:t>03</a:t>
            </a:r>
            <a:endParaRPr lang="en-US" sz="950" dirty="0"/>
          </a:p>
        </p:txBody>
      </p:sp>
      <p:sp>
        <p:nvSpPr>
          <p:cNvPr id="11" name="Shape 8"/>
          <p:cNvSpPr/>
          <p:nvPr/>
        </p:nvSpPr>
        <p:spPr>
          <a:xfrm>
            <a:off x="8366760" y="676656"/>
            <a:ext cx="3154680" cy="822960"/>
          </a:xfrm>
          <a:prstGeom prst="roundRect">
            <a:avLst>
              <a:gd name="adj" fmla="val 8889"/>
            </a:avLst>
          </a:prstGeom>
          <a:solidFill>
            <a:srgbClr val="FFFFFF"/>
          </a:solidFill>
          <a:ln w="12700">
            <a:solidFill>
              <a:srgbClr val="12B3A8">
                <a:alpha val="0"/>
              </a:srgbClr>
            </a:solidFill>
            <a:prstDash val="solid"/>
          </a:ln>
        </p:spPr>
      </p:sp>
      <p:sp>
        <p:nvSpPr>
          <p:cNvPr id="12" name="Shape 9"/>
          <p:cNvSpPr/>
          <p:nvPr/>
        </p:nvSpPr>
        <p:spPr>
          <a:xfrm>
            <a:off x="8366760" y="676656"/>
            <a:ext cx="73152" cy="822960"/>
          </a:xfrm>
          <a:prstGeom prst="rect">
            <a:avLst/>
          </a:prstGeom>
          <a:solidFill>
            <a:srgbClr val="12B3A8"/>
          </a:solidFill>
          <a:ln w="12700">
            <a:solidFill>
              <a:srgbClr val="12B3A8">
                <a:alpha val="0"/>
              </a:srgbClr>
            </a:solidFill>
            <a:prstDash val="solid"/>
          </a:ln>
        </p:spPr>
      </p:sp>
      <p:sp>
        <p:nvSpPr>
          <p:cNvPr id="13" name="Text 10"/>
          <p:cNvSpPr/>
          <p:nvPr/>
        </p:nvSpPr>
        <p:spPr>
          <a:xfrm>
            <a:off x="8531352" y="786384"/>
            <a:ext cx="1097280" cy="164592"/>
          </a:xfrm>
          <a:prstGeom prst="rect">
            <a:avLst/>
          </a:prstGeom>
          <a:noFill/>
          <a:ln/>
        </p:spPr>
        <p:txBody>
          <a:bodyPr wrap="square" lIns="0" tIns="0" rIns="0" bIns="0" rtlCol="0" anchor="ctr"/>
          <a:lstStyle/>
          <a:p>
            <a:pPr indent="0" marL="0">
              <a:buNone/>
            </a:pPr>
            <a:r>
              <a:rPr lang="en-US" sz="800" b="1" dirty="0">
                <a:solidFill>
                  <a:srgbClr val="12B3A8"/>
                </a:solidFill>
                <a:latin typeface="Aptos" pitchFamily="34" charset="0"/>
                <a:ea typeface="Aptos" pitchFamily="34" charset="-122"/>
                <a:cs typeface="Aptos" pitchFamily="34" charset="-120"/>
              </a:rPr>
              <a:t>Key takeaway</a:t>
            </a:r>
            <a:endParaRPr lang="en-US" sz="800" dirty="0"/>
          </a:p>
        </p:txBody>
      </p:sp>
      <p:sp>
        <p:nvSpPr>
          <p:cNvPr id="14" name="Text 11"/>
          <p:cNvSpPr/>
          <p:nvPr/>
        </p:nvSpPr>
        <p:spPr>
          <a:xfrm>
            <a:off x="8531352" y="932688"/>
            <a:ext cx="2880360" cy="521208"/>
          </a:xfrm>
          <a:prstGeom prst="rect">
            <a:avLst/>
          </a:prstGeom>
          <a:noFill/>
          <a:ln/>
        </p:spPr>
        <p:txBody>
          <a:bodyPr wrap="square" lIns="254" tIns="254" rIns="254" bIns="254" rtlCol="0" anchor="ctr"/>
          <a:lstStyle/>
          <a:p>
            <a:pPr indent="0" marL="0">
              <a:buNone/>
            </a:pPr>
            <a:r>
              <a:rPr lang="en-US" sz="920" dirty="0">
                <a:solidFill>
                  <a:srgbClr val="102749"/>
                </a:solidFill>
                <a:latin typeface="Aptos" pitchFamily="34" charset="0"/>
                <a:ea typeface="Aptos" pitchFamily="34" charset="-122"/>
                <a:cs typeface="Aptos" pitchFamily="34" charset="-120"/>
              </a:rPr>
              <a:t>The same analysis discipline from Day 1 carries directly into delivery. Weak process understanding creates weak automation design.</a:t>
            </a:r>
            <a:endParaRPr lang="en-US" sz="920" dirty="0"/>
          </a:p>
        </p:txBody>
      </p:sp>
      <p:sp>
        <p:nvSpPr>
          <p:cNvPr id="15" name="Shape 12"/>
          <p:cNvSpPr/>
          <p:nvPr/>
        </p:nvSpPr>
        <p:spPr>
          <a:xfrm>
            <a:off x="713232" y="1755648"/>
            <a:ext cx="6967728" cy="3246120"/>
          </a:xfrm>
          <a:prstGeom prst="roundRect">
            <a:avLst>
              <a:gd name="adj" fmla="val 1408"/>
            </a:avLst>
          </a:prstGeom>
          <a:solidFill>
            <a:srgbClr val="FFFFFF"/>
          </a:solidFill>
          <a:ln w="12700">
            <a:solidFill>
              <a:srgbClr val="C7D5EA"/>
            </a:solidFill>
            <a:prstDash val="solid"/>
          </a:ln>
        </p:spPr>
      </p:sp>
      <p:sp>
        <p:nvSpPr>
          <p:cNvPr id="16" name="Shape 13"/>
          <p:cNvSpPr/>
          <p:nvPr/>
        </p:nvSpPr>
        <p:spPr>
          <a:xfrm>
            <a:off x="932688" y="2066544"/>
            <a:ext cx="100584" cy="100584"/>
          </a:xfrm>
          <a:prstGeom prst="ellipse">
            <a:avLst/>
          </a:prstGeom>
          <a:solidFill>
            <a:srgbClr val="1F6FFF"/>
          </a:solidFill>
          <a:ln w="12700">
            <a:solidFill>
              <a:srgbClr val="1F6FFF">
                <a:alpha val="0"/>
              </a:srgbClr>
            </a:solidFill>
            <a:prstDash val="solid"/>
          </a:ln>
        </p:spPr>
      </p:sp>
      <p:sp>
        <p:nvSpPr>
          <p:cNvPr id="17" name="Text 14"/>
          <p:cNvSpPr/>
          <p:nvPr/>
        </p:nvSpPr>
        <p:spPr>
          <a:xfrm>
            <a:off x="1097280" y="1993392"/>
            <a:ext cx="6355080" cy="301752"/>
          </a:xfrm>
          <a:prstGeom prst="rect">
            <a:avLst/>
          </a:prstGeom>
          <a:noFill/>
          <a:ln/>
        </p:spPr>
        <p:txBody>
          <a:bodyPr wrap="square" lIns="0" tIns="0" rIns="0" bIns="0" rtlCol="0" anchor="ctr"/>
          <a:lstStyle/>
          <a:p>
            <a:pPr indent="0" marL="0">
              <a:buNone/>
            </a:pPr>
            <a:r>
              <a:rPr lang="en-US" sz="1080" dirty="0">
                <a:solidFill>
                  <a:srgbClr val="102749"/>
                </a:solidFill>
                <a:latin typeface="Aptos" pitchFamily="34" charset="0"/>
                <a:ea typeface="Aptos" pitchFamily="34" charset="-122"/>
                <a:cs typeface="Aptos" pitchFamily="34" charset="-120"/>
              </a:rPr>
              <a:t>Good automation candidates are repetitive, rules-based, digital, and high enough in volume to justify control and support effort</a:t>
            </a:r>
            <a:endParaRPr lang="en-US" sz="1080" dirty="0"/>
          </a:p>
        </p:txBody>
      </p:sp>
      <p:sp>
        <p:nvSpPr>
          <p:cNvPr id="18" name="Shape 15"/>
          <p:cNvSpPr/>
          <p:nvPr/>
        </p:nvSpPr>
        <p:spPr>
          <a:xfrm>
            <a:off x="932688" y="2724912"/>
            <a:ext cx="100584" cy="100584"/>
          </a:xfrm>
          <a:prstGeom prst="ellipse">
            <a:avLst/>
          </a:prstGeom>
          <a:solidFill>
            <a:srgbClr val="1F6FFF"/>
          </a:solidFill>
          <a:ln w="12700">
            <a:solidFill>
              <a:srgbClr val="1F6FFF">
                <a:alpha val="0"/>
              </a:srgbClr>
            </a:solidFill>
            <a:prstDash val="solid"/>
          </a:ln>
        </p:spPr>
      </p:sp>
      <p:sp>
        <p:nvSpPr>
          <p:cNvPr id="19" name="Text 16"/>
          <p:cNvSpPr/>
          <p:nvPr/>
        </p:nvSpPr>
        <p:spPr>
          <a:xfrm>
            <a:off x="1097280" y="2651760"/>
            <a:ext cx="6355080" cy="301752"/>
          </a:xfrm>
          <a:prstGeom prst="rect">
            <a:avLst/>
          </a:prstGeom>
          <a:noFill/>
          <a:ln/>
        </p:spPr>
        <p:txBody>
          <a:bodyPr wrap="square" lIns="0" tIns="0" rIns="0" bIns="0" rtlCol="0" anchor="ctr"/>
          <a:lstStyle/>
          <a:p>
            <a:pPr indent="0" marL="0">
              <a:buNone/>
            </a:pPr>
            <a:r>
              <a:rPr lang="en-US" sz="1080" dirty="0">
                <a:solidFill>
                  <a:srgbClr val="102749"/>
                </a:solidFill>
                <a:latin typeface="Aptos" pitchFamily="34" charset="0"/>
                <a:ea typeface="Aptos" pitchFamily="34" charset="-122"/>
                <a:cs typeface="Aptos" pitchFamily="34" charset="-120"/>
              </a:rPr>
              <a:t>Standardization matters: too many process variants, policy gaps, or undocumented workarounds reduce automation value</a:t>
            </a:r>
            <a:endParaRPr lang="en-US" sz="1080" dirty="0"/>
          </a:p>
        </p:txBody>
      </p:sp>
      <p:sp>
        <p:nvSpPr>
          <p:cNvPr id="20" name="Shape 17"/>
          <p:cNvSpPr/>
          <p:nvPr/>
        </p:nvSpPr>
        <p:spPr>
          <a:xfrm>
            <a:off x="932688" y="3383280"/>
            <a:ext cx="100584" cy="100584"/>
          </a:xfrm>
          <a:prstGeom prst="ellipse">
            <a:avLst/>
          </a:prstGeom>
          <a:solidFill>
            <a:srgbClr val="1F6FFF"/>
          </a:solidFill>
          <a:ln w="12700">
            <a:solidFill>
              <a:srgbClr val="1F6FFF">
                <a:alpha val="0"/>
              </a:srgbClr>
            </a:solidFill>
            <a:prstDash val="solid"/>
          </a:ln>
        </p:spPr>
      </p:sp>
      <p:sp>
        <p:nvSpPr>
          <p:cNvPr id="21" name="Text 18"/>
          <p:cNvSpPr/>
          <p:nvPr/>
        </p:nvSpPr>
        <p:spPr>
          <a:xfrm>
            <a:off x="1097280" y="3310128"/>
            <a:ext cx="6355080" cy="301752"/>
          </a:xfrm>
          <a:prstGeom prst="rect">
            <a:avLst/>
          </a:prstGeom>
          <a:noFill/>
          <a:ln/>
        </p:spPr>
        <p:txBody>
          <a:bodyPr wrap="square" lIns="0" tIns="0" rIns="0" bIns="0" rtlCol="0" anchor="ctr"/>
          <a:lstStyle/>
          <a:p>
            <a:pPr indent="0" marL="0">
              <a:buNone/>
            </a:pPr>
            <a:r>
              <a:rPr lang="en-US" sz="1080" dirty="0">
                <a:solidFill>
                  <a:srgbClr val="102749"/>
                </a:solidFill>
                <a:latin typeface="Aptos" pitchFamily="34" charset="0"/>
                <a:ea typeface="Aptos" pitchFamily="34" charset="-122"/>
                <a:cs typeface="Aptos" pitchFamily="34" charset="-120"/>
              </a:rPr>
              <a:t>A business case is not enough by itself; process quality and exception patterns matter just as much</a:t>
            </a:r>
            <a:endParaRPr lang="en-US" sz="1080" dirty="0"/>
          </a:p>
        </p:txBody>
      </p:sp>
      <p:sp>
        <p:nvSpPr>
          <p:cNvPr id="22" name="Shape 19"/>
          <p:cNvSpPr/>
          <p:nvPr/>
        </p:nvSpPr>
        <p:spPr>
          <a:xfrm>
            <a:off x="932688" y="4041648"/>
            <a:ext cx="100584" cy="100584"/>
          </a:xfrm>
          <a:prstGeom prst="ellipse">
            <a:avLst/>
          </a:prstGeom>
          <a:solidFill>
            <a:srgbClr val="1F6FFF"/>
          </a:solidFill>
          <a:ln w="12700">
            <a:solidFill>
              <a:srgbClr val="1F6FFF">
                <a:alpha val="0"/>
              </a:srgbClr>
            </a:solidFill>
            <a:prstDash val="solid"/>
          </a:ln>
        </p:spPr>
      </p:sp>
      <p:sp>
        <p:nvSpPr>
          <p:cNvPr id="23" name="Text 20"/>
          <p:cNvSpPr/>
          <p:nvPr/>
        </p:nvSpPr>
        <p:spPr>
          <a:xfrm>
            <a:off x="1097280" y="3968496"/>
            <a:ext cx="6355080" cy="301752"/>
          </a:xfrm>
          <a:prstGeom prst="rect">
            <a:avLst/>
          </a:prstGeom>
          <a:noFill/>
          <a:ln/>
        </p:spPr>
        <p:txBody>
          <a:bodyPr wrap="square" lIns="0" tIns="0" rIns="0" bIns="0" rtlCol="0" anchor="ctr"/>
          <a:lstStyle/>
          <a:p>
            <a:pPr indent="0" marL="0">
              <a:buNone/>
            </a:pPr>
            <a:r>
              <a:rPr lang="en-US" sz="1080" dirty="0">
                <a:solidFill>
                  <a:srgbClr val="102749"/>
                </a:solidFill>
                <a:latin typeface="Aptos" pitchFamily="34" charset="0"/>
                <a:ea typeface="Aptos" pitchFamily="34" charset="-122"/>
                <a:cs typeface="Aptos" pitchFamily="34" charset="-120"/>
              </a:rPr>
              <a:t>The BA role starts before development by exposing hidden decisions, dependencies, and exception routes</a:t>
            </a:r>
            <a:endParaRPr lang="en-US" sz="1080" dirty="0"/>
          </a:p>
        </p:txBody>
      </p:sp>
      <p:sp>
        <p:nvSpPr>
          <p:cNvPr id="24" name="Shape 21"/>
          <p:cNvSpPr/>
          <p:nvPr/>
        </p:nvSpPr>
        <p:spPr>
          <a:xfrm>
            <a:off x="8183880" y="1783080"/>
            <a:ext cx="3273552" cy="896112"/>
          </a:xfrm>
          <a:prstGeom prst="roundRect">
            <a:avLst>
              <a:gd name="adj" fmla="val 6122"/>
            </a:avLst>
          </a:prstGeom>
          <a:solidFill>
            <a:srgbClr val="FFFFFF"/>
          </a:solidFill>
          <a:ln w="12700">
            <a:solidFill>
              <a:srgbClr val="C7D5EA"/>
            </a:solidFill>
            <a:prstDash val="solid"/>
          </a:ln>
        </p:spPr>
      </p:sp>
      <p:sp>
        <p:nvSpPr>
          <p:cNvPr id="25" name="Shape 22"/>
          <p:cNvSpPr/>
          <p:nvPr/>
        </p:nvSpPr>
        <p:spPr>
          <a:xfrm>
            <a:off x="8183880" y="1783080"/>
            <a:ext cx="3273552" cy="64008"/>
          </a:xfrm>
          <a:prstGeom prst="rect">
            <a:avLst/>
          </a:prstGeom>
          <a:solidFill>
            <a:srgbClr val="1F6FFF"/>
          </a:solidFill>
          <a:ln w="12700">
            <a:solidFill>
              <a:srgbClr val="1F6FFF">
                <a:alpha val="0"/>
              </a:srgbClr>
            </a:solidFill>
            <a:prstDash val="solid"/>
          </a:ln>
        </p:spPr>
      </p:sp>
      <p:sp>
        <p:nvSpPr>
          <p:cNvPr id="26" name="Text 23"/>
          <p:cNvSpPr/>
          <p:nvPr/>
        </p:nvSpPr>
        <p:spPr>
          <a:xfrm>
            <a:off x="8348472" y="1947672"/>
            <a:ext cx="2999232"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Keep From Day 1</a:t>
            </a:r>
            <a:endParaRPr lang="en-US" sz="1150" dirty="0"/>
          </a:p>
        </p:txBody>
      </p:sp>
      <p:sp>
        <p:nvSpPr>
          <p:cNvPr id="27" name="Text 24"/>
          <p:cNvSpPr/>
          <p:nvPr/>
        </p:nvSpPr>
        <p:spPr>
          <a:xfrm>
            <a:off x="8348472" y="2221992"/>
            <a:ext cx="2999232" cy="365760"/>
          </a:xfrm>
          <a:prstGeom prst="rect">
            <a:avLst/>
          </a:prstGeom>
          <a:noFill/>
          <a:ln/>
        </p:spPr>
        <p:txBody>
          <a:bodyPr wrap="square" lIns="254" tIns="254" rIns="254" bIns="254" rtlCol="0" anchor="t"/>
          <a:lstStyle/>
          <a:p>
            <a:pPr indent="0" marL="0">
              <a:buNone/>
            </a:pPr>
            <a:r>
              <a:rPr lang="en-US" sz="880" dirty="0">
                <a:solidFill>
                  <a:srgbClr val="51607B"/>
                </a:solidFill>
                <a:latin typeface="Aptos" pitchFamily="34" charset="0"/>
                <a:ea typeface="Aptos" pitchFamily="34" charset="-122"/>
                <a:cs typeface="Aptos" pitchFamily="34" charset="-120"/>
              </a:rPr>
              <a:t>Process map, business rules, handoffs, exceptions, expected outputs, and volume assumptions.</a:t>
            </a:r>
            <a:endParaRPr lang="en-US" sz="880" dirty="0"/>
          </a:p>
        </p:txBody>
      </p:sp>
      <p:sp>
        <p:nvSpPr>
          <p:cNvPr id="28" name="Shape 25"/>
          <p:cNvSpPr/>
          <p:nvPr/>
        </p:nvSpPr>
        <p:spPr>
          <a:xfrm>
            <a:off x="8183880" y="2926080"/>
            <a:ext cx="3273552" cy="896112"/>
          </a:xfrm>
          <a:prstGeom prst="roundRect">
            <a:avLst>
              <a:gd name="adj" fmla="val 6122"/>
            </a:avLst>
          </a:prstGeom>
          <a:solidFill>
            <a:srgbClr val="FFFFFF"/>
          </a:solidFill>
          <a:ln w="12700">
            <a:solidFill>
              <a:srgbClr val="C7D5EA"/>
            </a:solidFill>
            <a:prstDash val="solid"/>
          </a:ln>
        </p:spPr>
      </p:sp>
      <p:sp>
        <p:nvSpPr>
          <p:cNvPr id="29" name="Shape 26"/>
          <p:cNvSpPr/>
          <p:nvPr/>
        </p:nvSpPr>
        <p:spPr>
          <a:xfrm>
            <a:off x="8183880" y="2926080"/>
            <a:ext cx="3273552" cy="64008"/>
          </a:xfrm>
          <a:prstGeom prst="rect">
            <a:avLst/>
          </a:prstGeom>
          <a:solidFill>
            <a:srgbClr val="12B3A8"/>
          </a:solidFill>
          <a:ln w="12700">
            <a:solidFill>
              <a:srgbClr val="12B3A8">
                <a:alpha val="0"/>
              </a:srgbClr>
            </a:solidFill>
            <a:prstDash val="solid"/>
          </a:ln>
        </p:spPr>
      </p:sp>
      <p:sp>
        <p:nvSpPr>
          <p:cNvPr id="30" name="Text 27"/>
          <p:cNvSpPr/>
          <p:nvPr/>
        </p:nvSpPr>
        <p:spPr>
          <a:xfrm>
            <a:off x="8348472" y="3090672"/>
            <a:ext cx="2999232"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Add Today</a:t>
            </a:r>
            <a:endParaRPr lang="en-US" sz="1150" dirty="0"/>
          </a:p>
        </p:txBody>
      </p:sp>
      <p:sp>
        <p:nvSpPr>
          <p:cNvPr id="31" name="Text 28"/>
          <p:cNvSpPr/>
          <p:nvPr/>
        </p:nvSpPr>
        <p:spPr>
          <a:xfrm>
            <a:off x="8348472" y="3364992"/>
            <a:ext cx="2999232" cy="365760"/>
          </a:xfrm>
          <a:prstGeom prst="rect">
            <a:avLst/>
          </a:prstGeom>
          <a:noFill/>
          <a:ln/>
        </p:spPr>
        <p:txBody>
          <a:bodyPr wrap="square" lIns="254" tIns="254" rIns="254" bIns="254" rtlCol="0" anchor="t"/>
          <a:lstStyle/>
          <a:p>
            <a:pPr indent="0" marL="0">
              <a:buNone/>
            </a:pPr>
            <a:r>
              <a:rPr lang="en-US" sz="880" dirty="0">
                <a:solidFill>
                  <a:srgbClr val="51607B"/>
                </a:solidFill>
                <a:latin typeface="Aptos" pitchFamily="34" charset="0"/>
                <a:ea typeface="Aptos" pitchFamily="34" charset="-122"/>
                <a:cs typeface="Aptos" pitchFamily="34" charset="-120"/>
              </a:rPr>
              <a:t>Runtime structure, orchestration logic, retry design, queue handling, and monitoring expectations.</a:t>
            </a:r>
            <a:endParaRPr lang="en-US" sz="880" dirty="0"/>
          </a:p>
        </p:txBody>
      </p:sp>
      <p:sp>
        <p:nvSpPr>
          <p:cNvPr id="32" name="Shape 29"/>
          <p:cNvSpPr/>
          <p:nvPr/>
        </p:nvSpPr>
        <p:spPr>
          <a:xfrm>
            <a:off x="8183880" y="4069080"/>
            <a:ext cx="3273552" cy="896112"/>
          </a:xfrm>
          <a:prstGeom prst="roundRect">
            <a:avLst>
              <a:gd name="adj" fmla="val 6122"/>
            </a:avLst>
          </a:prstGeom>
          <a:solidFill>
            <a:srgbClr val="FFFFFF"/>
          </a:solidFill>
          <a:ln w="12700">
            <a:solidFill>
              <a:srgbClr val="C7D5EA"/>
            </a:solidFill>
            <a:prstDash val="solid"/>
          </a:ln>
        </p:spPr>
      </p:sp>
      <p:sp>
        <p:nvSpPr>
          <p:cNvPr id="33" name="Shape 30"/>
          <p:cNvSpPr/>
          <p:nvPr/>
        </p:nvSpPr>
        <p:spPr>
          <a:xfrm>
            <a:off x="8183880" y="4069080"/>
            <a:ext cx="3273552" cy="64008"/>
          </a:xfrm>
          <a:prstGeom prst="rect">
            <a:avLst/>
          </a:prstGeom>
          <a:solidFill>
            <a:srgbClr val="1F6FFF"/>
          </a:solidFill>
          <a:ln w="12700">
            <a:solidFill>
              <a:srgbClr val="1F6FFF">
                <a:alpha val="0"/>
              </a:srgbClr>
            </a:solidFill>
            <a:prstDash val="solid"/>
          </a:ln>
        </p:spPr>
      </p:sp>
      <p:sp>
        <p:nvSpPr>
          <p:cNvPr id="34" name="Text 31"/>
          <p:cNvSpPr/>
          <p:nvPr/>
        </p:nvSpPr>
        <p:spPr>
          <a:xfrm>
            <a:off x="8348472" y="4233672"/>
            <a:ext cx="2999232"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Core Shift</a:t>
            </a:r>
            <a:endParaRPr lang="en-US" sz="1150" dirty="0"/>
          </a:p>
        </p:txBody>
      </p:sp>
      <p:sp>
        <p:nvSpPr>
          <p:cNvPr id="35" name="Text 32"/>
          <p:cNvSpPr/>
          <p:nvPr/>
        </p:nvSpPr>
        <p:spPr>
          <a:xfrm>
            <a:off x="8348472" y="4507992"/>
            <a:ext cx="2999232" cy="365760"/>
          </a:xfrm>
          <a:prstGeom prst="rect">
            <a:avLst/>
          </a:prstGeom>
          <a:noFill/>
          <a:ln/>
        </p:spPr>
        <p:txBody>
          <a:bodyPr wrap="square" lIns="254" tIns="254" rIns="254" bIns="254" rtlCol="0" anchor="t"/>
          <a:lstStyle/>
          <a:p>
            <a:pPr indent="0" marL="0">
              <a:buNone/>
            </a:pPr>
            <a:r>
              <a:rPr lang="en-US" sz="880" dirty="0">
                <a:solidFill>
                  <a:srgbClr val="51607B"/>
                </a:solidFill>
                <a:latin typeface="Aptos" pitchFamily="34" charset="0"/>
                <a:ea typeface="Aptos" pitchFamily="34" charset="-122"/>
                <a:cs typeface="Aptos" pitchFamily="34" charset="-120"/>
              </a:rPr>
              <a:t>We move from candidate selection to controlled execution in a delivery environment.</a:t>
            </a:r>
            <a:endParaRPr lang="en-US" sz="880" dirty="0"/>
          </a:p>
        </p:txBody>
      </p:sp>
      <p:sp>
        <p:nvSpPr>
          <p:cNvPr id="36" name="Shape 33"/>
          <p:cNvSpPr/>
          <p:nvPr/>
        </p:nvSpPr>
        <p:spPr>
          <a:xfrm>
            <a:off x="749808" y="5248656"/>
            <a:ext cx="10652760" cy="676656"/>
          </a:xfrm>
          <a:prstGeom prst="roundRect">
            <a:avLst>
              <a:gd name="adj" fmla="val 6757"/>
            </a:avLst>
          </a:prstGeom>
          <a:solidFill>
            <a:srgbClr val="FFF9EE"/>
          </a:solidFill>
          <a:ln w="12700">
            <a:solidFill>
              <a:srgbClr val="12B3A8"/>
            </a:solidFill>
            <a:prstDash val="solid"/>
          </a:ln>
        </p:spPr>
      </p:sp>
      <p:sp>
        <p:nvSpPr>
          <p:cNvPr id="37" name="Text 34"/>
          <p:cNvSpPr/>
          <p:nvPr/>
        </p:nvSpPr>
        <p:spPr>
          <a:xfrm>
            <a:off x="914400" y="5376672"/>
            <a:ext cx="10378440" cy="164592"/>
          </a:xfrm>
          <a:prstGeom prst="rect">
            <a:avLst/>
          </a:prstGeom>
          <a:noFill/>
          <a:ln/>
        </p:spPr>
        <p:txBody>
          <a:bodyPr wrap="square" lIns="0" tIns="0" rIns="0" bIns="0" rtlCol="0" anchor="ctr"/>
          <a:lstStyle/>
          <a:p>
            <a:pPr indent="0" marL="0">
              <a:buNone/>
            </a:pPr>
            <a:r>
              <a:rPr lang="en-US" sz="850" b="1" dirty="0">
                <a:solidFill>
                  <a:srgbClr val="12B3A8"/>
                </a:solidFill>
                <a:latin typeface="Aptos" pitchFamily="34" charset="0"/>
                <a:ea typeface="Aptos" pitchFamily="34" charset="-122"/>
                <a:cs typeface="Aptos" pitchFamily="34" charset="-120"/>
              </a:rPr>
              <a:t>Bridge To Day 2</a:t>
            </a:r>
            <a:endParaRPr lang="en-US" sz="850" dirty="0"/>
          </a:p>
        </p:txBody>
      </p:sp>
      <p:sp>
        <p:nvSpPr>
          <p:cNvPr id="38" name="Text 35"/>
          <p:cNvSpPr/>
          <p:nvPr/>
        </p:nvSpPr>
        <p:spPr>
          <a:xfrm>
            <a:off x="914400" y="5550408"/>
            <a:ext cx="10378440" cy="329184"/>
          </a:xfrm>
          <a:prstGeom prst="rect">
            <a:avLst/>
          </a:prstGeom>
          <a:noFill/>
          <a:ln/>
        </p:spPr>
        <p:txBody>
          <a:bodyPr wrap="square" lIns="254" tIns="254" rIns="254" bIns="254" rtlCol="0" anchor="ctr"/>
          <a:lstStyle/>
          <a:p>
            <a:pPr indent="0" marL="0">
              <a:buNone/>
            </a:pPr>
            <a:r>
              <a:rPr lang="en-US" sz="940" dirty="0">
                <a:solidFill>
                  <a:srgbClr val="102749"/>
                </a:solidFill>
                <a:latin typeface="Aptos" pitchFamily="34" charset="0"/>
                <a:ea typeface="Aptos" pitchFamily="34" charset="-122"/>
                <a:cs typeface="Aptos" pitchFamily="34" charset="-120"/>
              </a:rPr>
              <a:t>Process understanding from Day 1 becomes runtime control and support design in Day 2.</a:t>
            </a:r>
            <a:endParaRPr lang="en-US" sz="940" dirty="0"/>
          </a:p>
        </p:txBody>
      </p:sp>
      <p:sp>
        <p:nvSpPr>
          <p:cNvPr id="39" name="Text 36"/>
          <p:cNvSpPr/>
          <p:nvPr/>
        </p:nvSpPr>
        <p:spPr>
          <a:xfrm>
            <a:off x="658368" y="6510528"/>
            <a:ext cx="2560320" cy="164592"/>
          </a:xfrm>
          <a:prstGeom prst="rect">
            <a:avLst/>
          </a:prstGeom>
          <a:noFill/>
          <a:ln/>
        </p:spPr>
        <p:txBody>
          <a:bodyPr wrap="square" lIns="0" tIns="0" rIns="0" bIns="0" rtlCol="0" anchor="ctr"/>
          <a:lstStyle/>
          <a:p>
            <a:pPr indent="0" marL="0">
              <a:buNone/>
            </a:pPr>
            <a:r>
              <a:rPr lang="en-US" sz="850" dirty="0">
                <a:solidFill>
                  <a:srgbClr val="51607B"/>
                </a:solidFill>
                <a:latin typeface="Aptos" pitchFamily="34" charset="0"/>
                <a:ea typeface="Aptos" pitchFamily="34" charset="-122"/>
                <a:cs typeface="Aptos" pitchFamily="34" charset="-120"/>
              </a:rPr>
              <a:t>Innobot  |  Internal workshop</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F4F7FB"/>
          </a:solidFill>
          <a:ln/>
        </p:spPr>
      </p:sp>
      <p:sp>
        <p:nvSpPr>
          <p:cNvPr id="4" name="Shape 1"/>
          <p:cNvSpPr/>
          <p:nvPr/>
        </p:nvSpPr>
        <p:spPr>
          <a:xfrm>
            <a:off x="0" y="0"/>
            <a:ext cx="12191695" cy="411480"/>
          </a:xfrm>
          <a:prstGeom prst="rect">
            <a:avLst/>
          </a:prstGeom>
          <a:solidFill>
            <a:srgbClr val="0A1830"/>
          </a:solidFill>
          <a:ln/>
        </p:spPr>
      </p:sp>
      <p:sp>
        <p:nvSpPr>
          <p:cNvPr id="5" name="Shape 2"/>
          <p:cNvSpPr/>
          <p:nvPr/>
        </p:nvSpPr>
        <p:spPr>
          <a:xfrm>
            <a:off x="9509760" y="-137160"/>
            <a:ext cx="3200400" cy="2194560"/>
          </a:xfrm>
          <a:prstGeom prst="ellipse">
            <a:avLst/>
          </a:prstGeom>
          <a:solidFill>
            <a:srgbClr val="8AB8FF">
              <a:alpha val="16000"/>
            </a:srgbClr>
          </a:solidFill>
          <a:ln w="12700">
            <a:solidFill>
              <a:srgbClr val="8AB8FF">
                <a:alpha val="0"/>
              </a:srgbClr>
            </a:solidFill>
            <a:prstDash val="solid"/>
          </a:ln>
        </p:spPr>
      </p:sp>
      <p:sp>
        <p:nvSpPr>
          <p:cNvPr id="6" name="Shape 3"/>
          <p:cNvSpPr/>
          <p:nvPr/>
        </p:nvSpPr>
        <p:spPr>
          <a:xfrm>
            <a:off x="-731520" y="5394960"/>
            <a:ext cx="2560320" cy="1645920"/>
          </a:xfrm>
          <a:prstGeom prst="ellipse">
            <a:avLst/>
          </a:prstGeom>
          <a:solidFill>
            <a:srgbClr val="12B3A8">
              <a:alpha val="10000"/>
            </a:srgbClr>
          </a:solidFill>
          <a:ln w="12700">
            <a:solidFill>
              <a:srgbClr val="12B3A8">
                <a:alpha val="0"/>
              </a:srgbClr>
            </a:solidFill>
            <a:prstDash val="solid"/>
          </a:ln>
        </p:spPr>
      </p:sp>
      <p:sp>
        <p:nvSpPr>
          <p:cNvPr id="7" name="Shape 4"/>
          <p:cNvSpPr/>
          <p:nvPr/>
        </p:nvSpPr>
        <p:spPr>
          <a:xfrm>
            <a:off x="0" y="411480"/>
            <a:ext cx="12191695" cy="146304"/>
          </a:xfrm>
          <a:prstGeom prst="rect">
            <a:avLst/>
          </a:prstGeom>
          <a:solidFill>
            <a:srgbClr val="1F6FFF"/>
          </a:solidFill>
          <a:ln/>
        </p:spPr>
      </p:sp>
      <p:sp>
        <p:nvSpPr>
          <p:cNvPr id="8" name="Text 5"/>
          <p:cNvSpPr/>
          <p:nvPr/>
        </p:nvSpPr>
        <p:spPr>
          <a:xfrm>
            <a:off x="658368" y="182880"/>
            <a:ext cx="2651760" cy="146304"/>
          </a:xfrm>
          <a:prstGeom prst="rect">
            <a:avLst/>
          </a:prstGeom>
          <a:noFill/>
          <a:ln/>
        </p:spPr>
        <p:txBody>
          <a:bodyPr wrap="square" lIns="0" tIns="0" rIns="0" bIns="0" rtlCol="0" anchor="ctr"/>
          <a:lstStyle/>
          <a:p>
            <a:pPr indent="0" marL="0">
              <a:buNone/>
            </a:pPr>
            <a:r>
              <a:rPr lang="en-US" sz="850" b="1" dirty="0">
                <a:solidFill>
                  <a:srgbClr val="8AB8FF"/>
                </a:solidFill>
                <a:latin typeface="Aptos" pitchFamily="34" charset="0"/>
                <a:ea typeface="Aptos" pitchFamily="34" charset="-122"/>
                <a:cs typeface="Aptos" pitchFamily="34" charset="-120"/>
              </a:rPr>
              <a:t>PART I  RUNTIME BASICS</a:t>
            </a:r>
            <a:endParaRPr lang="en-US" sz="850" dirty="0"/>
          </a:p>
        </p:txBody>
      </p:sp>
      <p:sp>
        <p:nvSpPr>
          <p:cNvPr id="9" name="Text 6"/>
          <p:cNvSpPr/>
          <p:nvPr/>
        </p:nvSpPr>
        <p:spPr>
          <a:xfrm>
            <a:off x="658368" y="612648"/>
            <a:ext cx="7223760" cy="411480"/>
          </a:xfrm>
          <a:prstGeom prst="rect">
            <a:avLst/>
          </a:prstGeom>
          <a:noFill/>
          <a:ln/>
        </p:spPr>
        <p:txBody>
          <a:bodyPr wrap="square" lIns="0" tIns="0" rIns="0" bIns="0" rtlCol="0" anchor="ctr"/>
          <a:lstStyle/>
          <a:p>
            <a:pPr indent="0" marL="0">
              <a:buNone/>
            </a:pPr>
            <a:r>
              <a:rPr lang="en-US" sz="2400" b="1" dirty="0">
                <a:solidFill>
                  <a:srgbClr val="102749"/>
                </a:solidFill>
                <a:latin typeface="Aptos Display" pitchFamily="34" charset="0"/>
                <a:ea typeface="Aptos Display" pitchFamily="34" charset="-122"/>
                <a:cs typeface="Aptos Display" pitchFamily="34" charset="-120"/>
              </a:rPr>
              <a:t>What Actually Happens When a Bot Runs</a:t>
            </a:r>
            <a:endParaRPr lang="en-US" sz="2400" dirty="0"/>
          </a:p>
        </p:txBody>
      </p:sp>
      <p:sp>
        <p:nvSpPr>
          <p:cNvPr id="10" name="Text 7"/>
          <p:cNvSpPr/>
          <p:nvPr/>
        </p:nvSpPr>
        <p:spPr>
          <a:xfrm>
            <a:off x="658368" y="1069848"/>
            <a:ext cx="7863840" cy="310896"/>
          </a:xfrm>
          <a:prstGeom prst="rect">
            <a:avLst/>
          </a:prstGeom>
          <a:noFill/>
          <a:ln/>
        </p:spPr>
        <p:txBody>
          <a:bodyPr wrap="square" lIns="0" tIns="0" rIns="0" bIns="0" rtlCol="0" anchor="ctr"/>
          <a:lstStyle/>
          <a:p>
            <a:pPr indent="0" marL="0">
              <a:buNone/>
            </a:pPr>
            <a:r>
              <a:rPr lang="en-US" sz="1100" dirty="0">
                <a:solidFill>
                  <a:srgbClr val="51607B"/>
                </a:solidFill>
                <a:latin typeface="Aptos" pitchFamily="34" charset="0"/>
                <a:ea typeface="Aptos" pitchFamily="34" charset="-122"/>
                <a:cs typeface="Aptos" pitchFamily="34" charset="-120"/>
              </a:rPr>
              <a:t>A bot run is a controlled sequence, not a single click script</a:t>
            </a:r>
            <a:endParaRPr lang="en-US" sz="1100" dirty="0"/>
          </a:p>
        </p:txBody>
      </p:sp>
      <p:sp>
        <p:nvSpPr>
          <p:cNvPr id="11" name="Text 8"/>
          <p:cNvSpPr/>
          <p:nvPr/>
        </p:nvSpPr>
        <p:spPr>
          <a:xfrm>
            <a:off x="11155680" y="530352"/>
            <a:ext cx="365760" cy="201168"/>
          </a:xfrm>
          <a:prstGeom prst="rect">
            <a:avLst/>
          </a:prstGeom>
          <a:noFill/>
          <a:ln/>
        </p:spPr>
        <p:txBody>
          <a:bodyPr wrap="square" lIns="0" tIns="0" rIns="0" bIns="0" rtlCol="0" anchor="ctr"/>
          <a:lstStyle/>
          <a:p>
            <a:pPr algn="r" indent="0" marL="0">
              <a:buNone/>
            </a:pPr>
            <a:r>
              <a:rPr lang="en-US" sz="950" dirty="0">
                <a:solidFill>
                  <a:srgbClr val="51607B"/>
                </a:solidFill>
                <a:latin typeface="Consolas" pitchFamily="34" charset="0"/>
                <a:ea typeface="Consolas" pitchFamily="34" charset="-122"/>
                <a:cs typeface="Consolas" pitchFamily="34" charset="-120"/>
              </a:rPr>
              <a:t>04</a:t>
            </a:r>
            <a:endParaRPr lang="en-US" sz="950" dirty="0"/>
          </a:p>
        </p:txBody>
      </p:sp>
      <p:sp>
        <p:nvSpPr>
          <p:cNvPr id="12" name="Shape 9"/>
          <p:cNvSpPr/>
          <p:nvPr/>
        </p:nvSpPr>
        <p:spPr>
          <a:xfrm>
            <a:off x="8366760" y="676656"/>
            <a:ext cx="3154680" cy="822960"/>
          </a:xfrm>
          <a:prstGeom prst="roundRect">
            <a:avLst>
              <a:gd name="adj" fmla="val 8889"/>
            </a:avLst>
          </a:prstGeom>
          <a:solidFill>
            <a:srgbClr val="FFFFFF"/>
          </a:solidFill>
          <a:ln w="12700">
            <a:solidFill>
              <a:srgbClr val="1F6FFF">
                <a:alpha val="0"/>
              </a:srgbClr>
            </a:solidFill>
            <a:prstDash val="solid"/>
          </a:ln>
        </p:spPr>
      </p:sp>
      <p:sp>
        <p:nvSpPr>
          <p:cNvPr id="13" name="Shape 10"/>
          <p:cNvSpPr/>
          <p:nvPr/>
        </p:nvSpPr>
        <p:spPr>
          <a:xfrm>
            <a:off x="8366760" y="676656"/>
            <a:ext cx="73152" cy="822960"/>
          </a:xfrm>
          <a:prstGeom prst="rect">
            <a:avLst/>
          </a:prstGeom>
          <a:solidFill>
            <a:srgbClr val="1F6FFF"/>
          </a:solidFill>
          <a:ln w="12700">
            <a:solidFill>
              <a:srgbClr val="1F6FFF">
                <a:alpha val="0"/>
              </a:srgbClr>
            </a:solidFill>
            <a:prstDash val="solid"/>
          </a:ln>
        </p:spPr>
      </p:sp>
      <p:sp>
        <p:nvSpPr>
          <p:cNvPr id="14" name="Text 11"/>
          <p:cNvSpPr/>
          <p:nvPr/>
        </p:nvSpPr>
        <p:spPr>
          <a:xfrm>
            <a:off x="8531352" y="786384"/>
            <a:ext cx="1097280" cy="164592"/>
          </a:xfrm>
          <a:prstGeom prst="rect">
            <a:avLst/>
          </a:prstGeom>
          <a:noFill/>
          <a:ln/>
        </p:spPr>
        <p:txBody>
          <a:bodyPr wrap="square" lIns="0" tIns="0" rIns="0" bIns="0" rtlCol="0" anchor="ctr"/>
          <a:lstStyle/>
          <a:p>
            <a:pPr indent="0" marL="0">
              <a:buNone/>
            </a:pPr>
            <a:r>
              <a:rPr lang="en-US" sz="800" b="1" dirty="0">
                <a:solidFill>
                  <a:srgbClr val="1F6FFF"/>
                </a:solidFill>
                <a:latin typeface="Aptos" pitchFamily="34" charset="0"/>
                <a:ea typeface="Aptos" pitchFamily="34" charset="-122"/>
                <a:cs typeface="Aptos" pitchFamily="34" charset="-120"/>
              </a:rPr>
              <a:t>Key takeaway</a:t>
            </a:r>
            <a:endParaRPr lang="en-US" sz="800" dirty="0"/>
          </a:p>
        </p:txBody>
      </p:sp>
      <p:sp>
        <p:nvSpPr>
          <p:cNvPr id="15" name="Text 12"/>
          <p:cNvSpPr/>
          <p:nvPr/>
        </p:nvSpPr>
        <p:spPr>
          <a:xfrm>
            <a:off x="8531352" y="932688"/>
            <a:ext cx="2880360" cy="521208"/>
          </a:xfrm>
          <a:prstGeom prst="rect">
            <a:avLst/>
          </a:prstGeom>
          <a:noFill/>
          <a:ln/>
        </p:spPr>
        <p:txBody>
          <a:bodyPr wrap="square" lIns="254" tIns="254" rIns="254" bIns="254" rtlCol="0" anchor="ctr"/>
          <a:lstStyle/>
          <a:p>
            <a:pPr indent="0" marL="0">
              <a:buNone/>
            </a:pPr>
            <a:r>
              <a:rPr lang="en-US" sz="920" dirty="0">
                <a:solidFill>
                  <a:srgbClr val="102749"/>
                </a:solidFill>
                <a:latin typeface="Aptos" pitchFamily="34" charset="0"/>
                <a:ea typeface="Aptos" pitchFamily="34" charset="-122"/>
                <a:cs typeface="Aptos" pitchFamily="34" charset="-120"/>
              </a:rPr>
              <a:t>Every production bot run has an operating rhythm: start, authenticate, collect work, process transactions, handle exceptions, log results, and close cleanly.</a:t>
            </a:r>
            <a:endParaRPr lang="en-US" sz="920" dirty="0"/>
          </a:p>
        </p:txBody>
      </p:sp>
      <p:sp>
        <p:nvSpPr>
          <p:cNvPr id="16" name="Shape 13"/>
          <p:cNvSpPr/>
          <p:nvPr/>
        </p:nvSpPr>
        <p:spPr>
          <a:xfrm>
            <a:off x="731520" y="1783080"/>
            <a:ext cx="1440833" cy="566928"/>
          </a:xfrm>
          <a:prstGeom prst="roundRect">
            <a:avLst>
              <a:gd name="adj" fmla="val 8065"/>
            </a:avLst>
          </a:prstGeom>
          <a:solidFill>
            <a:srgbClr val="FFFFFF"/>
          </a:solidFill>
          <a:ln w="12700">
            <a:solidFill>
              <a:srgbClr val="C7D5EA"/>
            </a:solidFill>
            <a:prstDash val="solid"/>
          </a:ln>
        </p:spPr>
      </p:sp>
      <p:sp>
        <p:nvSpPr>
          <p:cNvPr id="17" name="Shape 14"/>
          <p:cNvSpPr/>
          <p:nvPr/>
        </p:nvSpPr>
        <p:spPr>
          <a:xfrm>
            <a:off x="859536" y="1892808"/>
            <a:ext cx="228600" cy="228600"/>
          </a:xfrm>
          <a:prstGeom prst="ellipse">
            <a:avLst/>
          </a:prstGeom>
          <a:solidFill>
            <a:srgbClr val="1F6FFF"/>
          </a:solidFill>
          <a:ln w="12700">
            <a:solidFill>
              <a:srgbClr val="1F6FFF">
                <a:alpha val="0"/>
              </a:srgbClr>
            </a:solidFill>
            <a:prstDash val="solid"/>
          </a:ln>
        </p:spPr>
      </p:sp>
      <p:sp>
        <p:nvSpPr>
          <p:cNvPr id="18" name="Text 15"/>
          <p:cNvSpPr/>
          <p:nvPr/>
        </p:nvSpPr>
        <p:spPr>
          <a:xfrm>
            <a:off x="859536" y="1892808"/>
            <a:ext cx="228600" cy="164592"/>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9" name="Text 16"/>
          <p:cNvSpPr/>
          <p:nvPr/>
        </p:nvSpPr>
        <p:spPr>
          <a:xfrm>
            <a:off x="1170432" y="1874520"/>
            <a:ext cx="892193" cy="429768"/>
          </a:xfrm>
          <a:prstGeom prst="rect">
            <a:avLst/>
          </a:prstGeom>
          <a:noFill/>
          <a:ln/>
        </p:spPr>
        <p:txBody>
          <a:bodyPr wrap="square" lIns="127" tIns="127" rIns="127" bIns="127" rtlCol="0" anchor="ctr"/>
          <a:lstStyle/>
          <a:p>
            <a:pPr indent="0" marL="0">
              <a:buNone/>
            </a:pPr>
            <a:r>
              <a:rPr lang="en-US" sz="910" dirty="0">
                <a:solidFill>
                  <a:srgbClr val="102749"/>
                </a:solidFill>
                <a:latin typeface="Aptos" pitchFamily="34" charset="0"/>
                <a:ea typeface="Aptos" pitchFamily="34" charset="-122"/>
                <a:cs typeface="Aptos" pitchFamily="34" charset="-120"/>
              </a:rPr>
              <a:t>Trigger or schedule starts the run</a:t>
            </a:r>
            <a:endParaRPr lang="en-US" sz="910" dirty="0"/>
          </a:p>
        </p:txBody>
      </p:sp>
      <p:sp>
        <p:nvSpPr>
          <p:cNvPr id="20" name="Shape 17"/>
          <p:cNvSpPr/>
          <p:nvPr/>
        </p:nvSpPr>
        <p:spPr>
          <a:xfrm>
            <a:off x="2199785" y="1956816"/>
            <a:ext cx="109728" cy="219456"/>
          </a:xfrm>
          <a:prstGeom prst="chevron">
            <a:avLst/>
          </a:prstGeom>
          <a:solidFill>
            <a:srgbClr val="12B3A8"/>
          </a:solidFill>
          <a:ln w="12700">
            <a:solidFill>
              <a:srgbClr val="12B3A8">
                <a:alpha val="0"/>
              </a:srgbClr>
            </a:solidFill>
            <a:prstDash val="solid"/>
          </a:ln>
        </p:spPr>
      </p:sp>
      <p:sp>
        <p:nvSpPr>
          <p:cNvPr id="21" name="Shape 18"/>
          <p:cNvSpPr/>
          <p:nvPr/>
        </p:nvSpPr>
        <p:spPr>
          <a:xfrm>
            <a:off x="2282081" y="1783080"/>
            <a:ext cx="1440833" cy="566928"/>
          </a:xfrm>
          <a:prstGeom prst="roundRect">
            <a:avLst>
              <a:gd name="adj" fmla="val 8065"/>
            </a:avLst>
          </a:prstGeom>
          <a:solidFill>
            <a:srgbClr val="EEF4FB"/>
          </a:solidFill>
          <a:ln w="12700">
            <a:solidFill>
              <a:srgbClr val="C7D5EA"/>
            </a:solidFill>
            <a:prstDash val="solid"/>
          </a:ln>
        </p:spPr>
      </p:sp>
      <p:sp>
        <p:nvSpPr>
          <p:cNvPr id="22" name="Shape 19"/>
          <p:cNvSpPr/>
          <p:nvPr/>
        </p:nvSpPr>
        <p:spPr>
          <a:xfrm>
            <a:off x="2410097" y="1892808"/>
            <a:ext cx="228600" cy="228600"/>
          </a:xfrm>
          <a:prstGeom prst="ellipse">
            <a:avLst/>
          </a:prstGeom>
          <a:solidFill>
            <a:srgbClr val="1F6FFF"/>
          </a:solidFill>
          <a:ln w="12700">
            <a:solidFill>
              <a:srgbClr val="1F6FFF">
                <a:alpha val="0"/>
              </a:srgbClr>
            </a:solidFill>
            <a:prstDash val="solid"/>
          </a:ln>
        </p:spPr>
      </p:sp>
      <p:sp>
        <p:nvSpPr>
          <p:cNvPr id="23" name="Text 20"/>
          <p:cNvSpPr/>
          <p:nvPr/>
        </p:nvSpPr>
        <p:spPr>
          <a:xfrm>
            <a:off x="2410097" y="1892808"/>
            <a:ext cx="228600" cy="164592"/>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4" name="Text 21"/>
          <p:cNvSpPr/>
          <p:nvPr/>
        </p:nvSpPr>
        <p:spPr>
          <a:xfrm>
            <a:off x="2720993" y="1874520"/>
            <a:ext cx="892193" cy="429768"/>
          </a:xfrm>
          <a:prstGeom prst="rect">
            <a:avLst/>
          </a:prstGeom>
          <a:noFill/>
          <a:ln/>
        </p:spPr>
        <p:txBody>
          <a:bodyPr wrap="square" lIns="127" tIns="127" rIns="127" bIns="127" rtlCol="0" anchor="ctr"/>
          <a:lstStyle/>
          <a:p>
            <a:pPr indent="0" marL="0">
              <a:buNone/>
            </a:pPr>
            <a:r>
              <a:rPr lang="en-US" sz="910" dirty="0">
                <a:solidFill>
                  <a:srgbClr val="102749"/>
                </a:solidFill>
                <a:latin typeface="Aptos" pitchFamily="34" charset="0"/>
                <a:ea typeface="Aptos" pitchFamily="34" charset="-122"/>
                <a:cs typeface="Aptos" pitchFamily="34" charset="-120"/>
              </a:rPr>
              <a:t>Initialize settings, credentials, and application access</a:t>
            </a:r>
            <a:endParaRPr lang="en-US" sz="910" dirty="0"/>
          </a:p>
        </p:txBody>
      </p:sp>
      <p:sp>
        <p:nvSpPr>
          <p:cNvPr id="25" name="Shape 22"/>
          <p:cNvSpPr/>
          <p:nvPr/>
        </p:nvSpPr>
        <p:spPr>
          <a:xfrm>
            <a:off x="3750346" y="1956816"/>
            <a:ext cx="109728" cy="219456"/>
          </a:xfrm>
          <a:prstGeom prst="chevron">
            <a:avLst/>
          </a:prstGeom>
          <a:solidFill>
            <a:srgbClr val="12B3A8"/>
          </a:solidFill>
          <a:ln w="12700">
            <a:solidFill>
              <a:srgbClr val="12B3A8">
                <a:alpha val="0"/>
              </a:srgbClr>
            </a:solidFill>
            <a:prstDash val="solid"/>
          </a:ln>
        </p:spPr>
      </p:sp>
      <p:sp>
        <p:nvSpPr>
          <p:cNvPr id="26" name="Shape 23"/>
          <p:cNvSpPr/>
          <p:nvPr/>
        </p:nvSpPr>
        <p:spPr>
          <a:xfrm>
            <a:off x="3832642" y="1783080"/>
            <a:ext cx="1440833" cy="566928"/>
          </a:xfrm>
          <a:prstGeom prst="roundRect">
            <a:avLst>
              <a:gd name="adj" fmla="val 8065"/>
            </a:avLst>
          </a:prstGeom>
          <a:solidFill>
            <a:srgbClr val="FFFFFF"/>
          </a:solidFill>
          <a:ln w="12700">
            <a:solidFill>
              <a:srgbClr val="C7D5EA"/>
            </a:solidFill>
            <a:prstDash val="solid"/>
          </a:ln>
        </p:spPr>
      </p:sp>
      <p:sp>
        <p:nvSpPr>
          <p:cNvPr id="27" name="Shape 24"/>
          <p:cNvSpPr/>
          <p:nvPr/>
        </p:nvSpPr>
        <p:spPr>
          <a:xfrm>
            <a:off x="3960658" y="1892808"/>
            <a:ext cx="228600" cy="228600"/>
          </a:xfrm>
          <a:prstGeom prst="ellipse">
            <a:avLst/>
          </a:prstGeom>
          <a:solidFill>
            <a:srgbClr val="1F6FFF"/>
          </a:solidFill>
          <a:ln w="12700">
            <a:solidFill>
              <a:srgbClr val="1F6FFF">
                <a:alpha val="0"/>
              </a:srgbClr>
            </a:solidFill>
            <a:prstDash val="solid"/>
          </a:ln>
        </p:spPr>
      </p:sp>
      <p:sp>
        <p:nvSpPr>
          <p:cNvPr id="28" name="Text 25"/>
          <p:cNvSpPr/>
          <p:nvPr/>
        </p:nvSpPr>
        <p:spPr>
          <a:xfrm>
            <a:off x="3960658" y="1892808"/>
            <a:ext cx="228600" cy="164592"/>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9" name="Text 26"/>
          <p:cNvSpPr/>
          <p:nvPr/>
        </p:nvSpPr>
        <p:spPr>
          <a:xfrm>
            <a:off x="4271554" y="1874520"/>
            <a:ext cx="892193" cy="429768"/>
          </a:xfrm>
          <a:prstGeom prst="rect">
            <a:avLst/>
          </a:prstGeom>
          <a:noFill/>
          <a:ln/>
        </p:spPr>
        <p:txBody>
          <a:bodyPr wrap="square" lIns="127" tIns="127" rIns="127" bIns="127" rtlCol="0" anchor="ctr"/>
          <a:lstStyle/>
          <a:p>
            <a:pPr indent="0" marL="0">
              <a:buNone/>
            </a:pPr>
            <a:r>
              <a:rPr lang="en-US" sz="910" dirty="0">
                <a:solidFill>
                  <a:srgbClr val="102749"/>
                </a:solidFill>
                <a:latin typeface="Aptos" pitchFamily="34" charset="0"/>
                <a:ea typeface="Aptos" pitchFamily="34" charset="-122"/>
                <a:cs typeface="Aptos" pitchFamily="34" charset="-120"/>
              </a:rPr>
              <a:t>Fetch or prepare work items</a:t>
            </a:r>
            <a:endParaRPr lang="en-US" sz="910" dirty="0"/>
          </a:p>
        </p:txBody>
      </p:sp>
      <p:sp>
        <p:nvSpPr>
          <p:cNvPr id="30" name="Shape 27"/>
          <p:cNvSpPr/>
          <p:nvPr/>
        </p:nvSpPr>
        <p:spPr>
          <a:xfrm>
            <a:off x="5300907" y="1956816"/>
            <a:ext cx="109728" cy="219456"/>
          </a:xfrm>
          <a:prstGeom prst="chevron">
            <a:avLst/>
          </a:prstGeom>
          <a:solidFill>
            <a:srgbClr val="12B3A8"/>
          </a:solidFill>
          <a:ln w="12700">
            <a:solidFill>
              <a:srgbClr val="12B3A8">
                <a:alpha val="0"/>
              </a:srgbClr>
            </a:solidFill>
            <a:prstDash val="solid"/>
          </a:ln>
        </p:spPr>
      </p:sp>
      <p:sp>
        <p:nvSpPr>
          <p:cNvPr id="31" name="Shape 28"/>
          <p:cNvSpPr/>
          <p:nvPr/>
        </p:nvSpPr>
        <p:spPr>
          <a:xfrm>
            <a:off x="5383203" y="1783080"/>
            <a:ext cx="1440833" cy="566928"/>
          </a:xfrm>
          <a:prstGeom prst="roundRect">
            <a:avLst>
              <a:gd name="adj" fmla="val 8065"/>
            </a:avLst>
          </a:prstGeom>
          <a:solidFill>
            <a:srgbClr val="EEF4FB"/>
          </a:solidFill>
          <a:ln w="12700">
            <a:solidFill>
              <a:srgbClr val="C7D5EA"/>
            </a:solidFill>
            <a:prstDash val="solid"/>
          </a:ln>
        </p:spPr>
      </p:sp>
      <p:sp>
        <p:nvSpPr>
          <p:cNvPr id="32" name="Shape 29"/>
          <p:cNvSpPr/>
          <p:nvPr/>
        </p:nvSpPr>
        <p:spPr>
          <a:xfrm>
            <a:off x="5511219" y="1892808"/>
            <a:ext cx="228600" cy="228600"/>
          </a:xfrm>
          <a:prstGeom prst="ellipse">
            <a:avLst/>
          </a:prstGeom>
          <a:solidFill>
            <a:srgbClr val="1F6FFF"/>
          </a:solidFill>
          <a:ln w="12700">
            <a:solidFill>
              <a:srgbClr val="1F6FFF">
                <a:alpha val="0"/>
              </a:srgbClr>
            </a:solidFill>
            <a:prstDash val="solid"/>
          </a:ln>
        </p:spPr>
      </p:sp>
      <p:sp>
        <p:nvSpPr>
          <p:cNvPr id="33" name="Text 30"/>
          <p:cNvSpPr/>
          <p:nvPr/>
        </p:nvSpPr>
        <p:spPr>
          <a:xfrm>
            <a:off x="5511219" y="1892808"/>
            <a:ext cx="228600" cy="164592"/>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4" name="Text 31"/>
          <p:cNvSpPr/>
          <p:nvPr/>
        </p:nvSpPr>
        <p:spPr>
          <a:xfrm>
            <a:off x="5822115" y="1874520"/>
            <a:ext cx="892193" cy="429768"/>
          </a:xfrm>
          <a:prstGeom prst="rect">
            <a:avLst/>
          </a:prstGeom>
          <a:noFill/>
          <a:ln/>
        </p:spPr>
        <p:txBody>
          <a:bodyPr wrap="square" lIns="127" tIns="127" rIns="127" bIns="127" rtlCol="0" anchor="ctr"/>
          <a:lstStyle/>
          <a:p>
            <a:pPr indent="0" marL="0">
              <a:buNone/>
            </a:pPr>
            <a:r>
              <a:rPr lang="en-US" sz="910" dirty="0">
                <a:solidFill>
                  <a:srgbClr val="102749"/>
                </a:solidFill>
                <a:latin typeface="Aptos" pitchFamily="34" charset="0"/>
                <a:ea typeface="Aptos" pitchFamily="34" charset="-122"/>
                <a:cs typeface="Aptos" pitchFamily="34" charset="-120"/>
              </a:rPr>
              <a:t>Process each item using defined rules</a:t>
            </a:r>
            <a:endParaRPr lang="en-US" sz="910" dirty="0"/>
          </a:p>
        </p:txBody>
      </p:sp>
      <p:sp>
        <p:nvSpPr>
          <p:cNvPr id="35" name="Shape 32"/>
          <p:cNvSpPr/>
          <p:nvPr/>
        </p:nvSpPr>
        <p:spPr>
          <a:xfrm>
            <a:off x="6851469" y="1956816"/>
            <a:ext cx="109728" cy="219456"/>
          </a:xfrm>
          <a:prstGeom prst="chevron">
            <a:avLst/>
          </a:prstGeom>
          <a:solidFill>
            <a:srgbClr val="12B3A8"/>
          </a:solidFill>
          <a:ln w="12700">
            <a:solidFill>
              <a:srgbClr val="12B3A8">
                <a:alpha val="0"/>
              </a:srgbClr>
            </a:solidFill>
            <a:prstDash val="solid"/>
          </a:ln>
        </p:spPr>
      </p:sp>
      <p:sp>
        <p:nvSpPr>
          <p:cNvPr id="36" name="Shape 33"/>
          <p:cNvSpPr/>
          <p:nvPr/>
        </p:nvSpPr>
        <p:spPr>
          <a:xfrm>
            <a:off x="6933765" y="1783080"/>
            <a:ext cx="1440833" cy="566928"/>
          </a:xfrm>
          <a:prstGeom prst="roundRect">
            <a:avLst>
              <a:gd name="adj" fmla="val 8065"/>
            </a:avLst>
          </a:prstGeom>
          <a:solidFill>
            <a:srgbClr val="FFFFFF"/>
          </a:solidFill>
          <a:ln w="12700">
            <a:solidFill>
              <a:srgbClr val="C7D5EA"/>
            </a:solidFill>
            <a:prstDash val="solid"/>
          </a:ln>
        </p:spPr>
      </p:sp>
      <p:sp>
        <p:nvSpPr>
          <p:cNvPr id="37" name="Shape 34"/>
          <p:cNvSpPr/>
          <p:nvPr/>
        </p:nvSpPr>
        <p:spPr>
          <a:xfrm>
            <a:off x="7061781" y="1892808"/>
            <a:ext cx="228600" cy="228600"/>
          </a:xfrm>
          <a:prstGeom prst="ellipse">
            <a:avLst/>
          </a:prstGeom>
          <a:solidFill>
            <a:srgbClr val="1F6FFF"/>
          </a:solidFill>
          <a:ln w="12700">
            <a:solidFill>
              <a:srgbClr val="1F6FFF">
                <a:alpha val="0"/>
              </a:srgbClr>
            </a:solidFill>
            <a:prstDash val="solid"/>
          </a:ln>
        </p:spPr>
      </p:sp>
      <p:sp>
        <p:nvSpPr>
          <p:cNvPr id="38" name="Text 35"/>
          <p:cNvSpPr/>
          <p:nvPr/>
        </p:nvSpPr>
        <p:spPr>
          <a:xfrm>
            <a:off x="7061781" y="1892808"/>
            <a:ext cx="228600" cy="164592"/>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Aptos" pitchFamily="34" charset="-122"/>
                <a:cs typeface="Aptos" pitchFamily="34" charset="-120"/>
              </a:rPr>
              <a:t>5</a:t>
            </a:r>
            <a:endParaRPr lang="en-US" sz="850" dirty="0"/>
          </a:p>
        </p:txBody>
      </p:sp>
      <p:sp>
        <p:nvSpPr>
          <p:cNvPr id="39" name="Text 36"/>
          <p:cNvSpPr/>
          <p:nvPr/>
        </p:nvSpPr>
        <p:spPr>
          <a:xfrm>
            <a:off x="7372677" y="1874520"/>
            <a:ext cx="892193" cy="429768"/>
          </a:xfrm>
          <a:prstGeom prst="rect">
            <a:avLst/>
          </a:prstGeom>
          <a:noFill/>
          <a:ln/>
        </p:spPr>
        <p:txBody>
          <a:bodyPr wrap="square" lIns="127" tIns="127" rIns="127" bIns="127" rtlCol="0" anchor="ctr"/>
          <a:lstStyle/>
          <a:p>
            <a:pPr indent="0" marL="0">
              <a:buNone/>
            </a:pPr>
            <a:r>
              <a:rPr lang="en-US" sz="910" dirty="0">
                <a:solidFill>
                  <a:srgbClr val="102749"/>
                </a:solidFill>
                <a:latin typeface="Aptos" pitchFamily="34" charset="0"/>
                <a:ea typeface="Aptos" pitchFamily="34" charset="-122"/>
                <a:cs typeface="Aptos" pitchFamily="34" charset="-120"/>
              </a:rPr>
              <a:t>Handle system issues and business exceptions differently</a:t>
            </a:r>
            <a:endParaRPr lang="en-US" sz="910" dirty="0"/>
          </a:p>
        </p:txBody>
      </p:sp>
      <p:sp>
        <p:nvSpPr>
          <p:cNvPr id="40" name="Shape 37"/>
          <p:cNvSpPr/>
          <p:nvPr/>
        </p:nvSpPr>
        <p:spPr>
          <a:xfrm>
            <a:off x="8402030" y="1956816"/>
            <a:ext cx="109728" cy="219456"/>
          </a:xfrm>
          <a:prstGeom prst="chevron">
            <a:avLst/>
          </a:prstGeom>
          <a:solidFill>
            <a:srgbClr val="12B3A8"/>
          </a:solidFill>
          <a:ln w="12700">
            <a:solidFill>
              <a:srgbClr val="12B3A8">
                <a:alpha val="0"/>
              </a:srgbClr>
            </a:solidFill>
            <a:prstDash val="solid"/>
          </a:ln>
        </p:spPr>
      </p:sp>
      <p:sp>
        <p:nvSpPr>
          <p:cNvPr id="41" name="Shape 38"/>
          <p:cNvSpPr/>
          <p:nvPr/>
        </p:nvSpPr>
        <p:spPr>
          <a:xfrm>
            <a:off x="8484326" y="1783080"/>
            <a:ext cx="1440833" cy="566928"/>
          </a:xfrm>
          <a:prstGeom prst="roundRect">
            <a:avLst>
              <a:gd name="adj" fmla="val 8065"/>
            </a:avLst>
          </a:prstGeom>
          <a:solidFill>
            <a:srgbClr val="EEF4FB"/>
          </a:solidFill>
          <a:ln w="12700">
            <a:solidFill>
              <a:srgbClr val="C7D5EA"/>
            </a:solidFill>
            <a:prstDash val="solid"/>
          </a:ln>
        </p:spPr>
      </p:sp>
      <p:sp>
        <p:nvSpPr>
          <p:cNvPr id="42" name="Shape 39"/>
          <p:cNvSpPr/>
          <p:nvPr/>
        </p:nvSpPr>
        <p:spPr>
          <a:xfrm>
            <a:off x="8612342" y="1892808"/>
            <a:ext cx="228600" cy="228600"/>
          </a:xfrm>
          <a:prstGeom prst="ellipse">
            <a:avLst/>
          </a:prstGeom>
          <a:solidFill>
            <a:srgbClr val="1F6FFF"/>
          </a:solidFill>
          <a:ln w="12700">
            <a:solidFill>
              <a:srgbClr val="1F6FFF">
                <a:alpha val="0"/>
              </a:srgbClr>
            </a:solidFill>
            <a:prstDash val="solid"/>
          </a:ln>
        </p:spPr>
      </p:sp>
      <p:sp>
        <p:nvSpPr>
          <p:cNvPr id="43" name="Text 40"/>
          <p:cNvSpPr/>
          <p:nvPr/>
        </p:nvSpPr>
        <p:spPr>
          <a:xfrm>
            <a:off x="8612342" y="1892808"/>
            <a:ext cx="228600" cy="164592"/>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Aptos" pitchFamily="34" charset="-122"/>
                <a:cs typeface="Aptos" pitchFamily="34" charset="-120"/>
              </a:rPr>
              <a:t>6</a:t>
            </a:r>
            <a:endParaRPr lang="en-US" sz="850" dirty="0"/>
          </a:p>
        </p:txBody>
      </p:sp>
      <p:sp>
        <p:nvSpPr>
          <p:cNvPr id="44" name="Text 41"/>
          <p:cNvSpPr/>
          <p:nvPr/>
        </p:nvSpPr>
        <p:spPr>
          <a:xfrm>
            <a:off x="8923238" y="1874520"/>
            <a:ext cx="892193" cy="429768"/>
          </a:xfrm>
          <a:prstGeom prst="rect">
            <a:avLst/>
          </a:prstGeom>
          <a:noFill/>
          <a:ln/>
        </p:spPr>
        <p:txBody>
          <a:bodyPr wrap="square" lIns="127" tIns="127" rIns="127" bIns="127" rtlCol="0" anchor="ctr"/>
          <a:lstStyle/>
          <a:p>
            <a:pPr indent="0" marL="0">
              <a:buNone/>
            </a:pPr>
            <a:r>
              <a:rPr lang="en-US" sz="910" dirty="0">
                <a:solidFill>
                  <a:srgbClr val="102749"/>
                </a:solidFill>
                <a:latin typeface="Aptos" pitchFamily="34" charset="0"/>
                <a:ea typeface="Aptos" pitchFamily="34" charset="-122"/>
                <a:cs typeface="Aptos" pitchFamily="34" charset="-120"/>
              </a:rPr>
              <a:t>Write logs, outputs, screenshots, and status updates</a:t>
            </a:r>
            <a:endParaRPr lang="en-US" sz="910" dirty="0"/>
          </a:p>
        </p:txBody>
      </p:sp>
      <p:sp>
        <p:nvSpPr>
          <p:cNvPr id="45" name="Shape 42"/>
          <p:cNvSpPr/>
          <p:nvPr/>
        </p:nvSpPr>
        <p:spPr>
          <a:xfrm>
            <a:off x="9952591" y="1956816"/>
            <a:ext cx="109728" cy="219456"/>
          </a:xfrm>
          <a:prstGeom prst="chevron">
            <a:avLst/>
          </a:prstGeom>
          <a:solidFill>
            <a:srgbClr val="12B3A8"/>
          </a:solidFill>
          <a:ln w="12700">
            <a:solidFill>
              <a:srgbClr val="12B3A8">
                <a:alpha val="0"/>
              </a:srgbClr>
            </a:solidFill>
            <a:prstDash val="solid"/>
          </a:ln>
        </p:spPr>
      </p:sp>
      <p:sp>
        <p:nvSpPr>
          <p:cNvPr id="46" name="Shape 43"/>
          <p:cNvSpPr/>
          <p:nvPr/>
        </p:nvSpPr>
        <p:spPr>
          <a:xfrm>
            <a:off x="10034887" y="1783080"/>
            <a:ext cx="1440833" cy="566928"/>
          </a:xfrm>
          <a:prstGeom prst="roundRect">
            <a:avLst>
              <a:gd name="adj" fmla="val 8065"/>
            </a:avLst>
          </a:prstGeom>
          <a:solidFill>
            <a:srgbClr val="FFFFFF"/>
          </a:solidFill>
          <a:ln w="12700">
            <a:solidFill>
              <a:srgbClr val="C7D5EA"/>
            </a:solidFill>
            <a:prstDash val="solid"/>
          </a:ln>
        </p:spPr>
      </p:sp>
      <p:sp>
        <p:nvSpPr>
          <p:cNvPr id="47" name="Shape 44"/>
          <p:cNvSpPr/>
          <p:nvPr/>
        </p:nvSpPr>
        <p:spPr>
          <a:xfrm>
            <a:off x="10162903" y="1892808"/>
            <a:ext cx="228600" cy="228600"/>
          </a:xfrm>
          <a:prstGeom prst="ellipse">
            <a:avLst/>
          </a:prstGeom>
          <a:solidFill>
            <a:srgbClr val="1F6FFF"/>
          </a:solidFill>
          <a:ln w="12700">
            <a:solidFill>
              <a:srgbClr val="1F6FFF">
                <a:alpha val="0"/>
              </a:srgbClr>
            </a:solidFill>
            <a:prstDash val="solid"/>
          </a:ln>
        </p:spPr>
      </p:sp>
      <p:sp>
        <p:nvSpPr>
          <p:cNvPr id="48" name="Text 45"/>
          <p:cNvSpPr/>
          <p:nvPr/>
        </p:nvSpPr>
        <p:spPr>
          <a:xfrm>
            <a:off x="10162903" y="1892808"/>
            <a:ext cx="228600" cy="164592"/>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Aptos" pitchFamily="34" charset="-122"/>
                <a:cs typeface="Aptos" pitchFamily="34" charset="-120"/>
              </a:rPr>
              <a:t>7</a:t>
            </a:r>
            <a:endParaRPr lang="en-US" sz="850" dirty="0"/>
          </a:p>
        </p:txBody>
      </p:sp>
      <p:sp>
        <p:nvSpPr>
          <p:cNvPr id="49" name="Text 46"/>
          <p:cNvSpPr/>
          <p:nvPr/>
        </p:nvSpPr>
        <p:spPr>
          <a:xfrm>
            <a:off x="10473799" y="1874520"/>
            <a:ext cx="892193" cy="429768"/>
          </a:xfrm>
          <a:prstGeom prst="rect">
            <a:avLst/>
          </a:prstGeom>
          <a:noFill/>
          <a:ln/>
        </p:spPr>
        <p:txBody>
          <a:bodyPr wrap="square" lIns="127" tIns="127" rIns="127" bIns="127" rtlCol="0" anchor="ctr"/>
          <a:lstStyle/>
          <a:p>
            <a:pPr indent="0" marL="0">
              <a:buNone/>
            </a:pPr>
            <a:r>
              <a:rPr lang="en-US" sz="910" dirty="0">
                <a:solidFill>
                  <a:srgbClr val="102749"/>
                </a:solidFill>
                <a:latin typeface="Aptos" pitchFamily="34" charset="0"/>
                <a:ea typeface="Aptos" pitchFamily="34" charset="-122"/>
                <a:cs typeface="Aptos" pitchFamily="34" charset="-120"/>
              </a:rPr>
              <a:t>Close sessions, release resources, and publish run results</a:t>
            </a:r>
            <a:endParaRPr lang="en-US" sz="910" dirty="0"/>
          </a:p>
        </p:txBody>
      </p:sp>
      <p:sp>
        <p:nvSpPr>
          <p:cNvPr id="50" name="Shape 47"/>
          <p:cNvSpPr/>
          <p:nvPr/>
        </p:nvSpPr>
        <p:spPr>
          <a:xfrm>
            <a:off x="731520" y="2761488"/>
            <a:ext cx="7607808" cy="2377440"/>
          </a:xfrm>
          <a:prstGeom prst="roundRect">
            <a:avLst>
              <a:gd name="adj" fmla="val 1923"/>
            </a:avLst>
          </a:prstGeom>
          <a:solidFill>
            <a:srgbClr val="FFFFFF"/>
          </a:solidFill>
          <a:ln w="12700">
            <a:solidFill>
              <a:srgbClr val="C7D5EA"/>
            </a:solidFill>
            <a:prstDash val="solid"/>
          </a:ln>
        </p:spPr>
      </p:sp>
      <p:sp>
        <p:nvSpPr>
          <p:cNvPr id="51" name="Shape 48"/>
          <p:cNvSpPr/>
          <p:nvPr/>
        </p:nvSpPr>
        <p:spPr>
          <a:xfrm>
            <a:off x="932688" y="3072384"/>
            <a:ext cx="100584" cy="100584"/>
          </a:xfrm>
          <a:prstGeom prst="ellipse">
            <a:avLst/>
          </a:prstGeom>
          <a:solidFill>
            <a:srgbClr val="1F6FFF"/>
          </a:solidFill>
          <a:ln w="12700">
            <a:solidFill>
              <a:srgbClr val="1F6FFF">
                <a:alpha val="0"/>
              </a:srgbClr>
            </a:solidFill>
            <a:prstDash val="solid"/>
          </a:ln>
        </p:spPr>
      </p:sp>
      <p:sp>
        <p:nvSpPr>
          <p:cNvPr id="52" name="Text 49"/>
          <p:cNvSpPr/>
          <p:nvPr/>
        </p:nvSpPr>
        <p:spPr>
          <a:xfrm>
            <a:off x="1097280" y="2999232"/>
            <a:ext cx="6949440" cy="301752"/>
          </a:xfrm>
          <a:prstGeom prst="rect">
            <a:avLst/>
          </a:prstGeom>
          <a:noFill/>
          <a:ln/>
        </p:spPr>
        <p:txBody>
          <a:bodyPr wrap="square" lIns="0" tIns="0" rIns="0" bIns="0" rtlCol="0" anchor="ctr"/>
          <a:lstStyle/>
          <a:p>
            <a:pPr indent="0" marL="0">
              <a:buNone/>
            </a:pPr>
            <a:r>
              <a:rPr lang="en-US" sz="1060" dirty="0">
                <a:solidFill>
                  <a:srgbClr val="102749"/>
                </a:solidFill>
                <a:latin typeface="Aptos" pitchFamily="34" charset="0"/>
                <a:ea typeface="Aptos" pitchFamily="34" charset="-122"/>
                <a:cs typeface="Aptos" pitchFamily="34" charset="-120"/>
              </a:rPr>
              <a:t>Bots depend on expected application states, approved credentials, and known input formats</a:t>
            </a:r>
            <a:endParaRPr lang="en-US" sz="1060" dirty="0"/>
          </a:p>
        </p:txBody>
      </p:sp>
      <p:sp>
        <p:nvSpPr>
          <p:cNvPr id="53" name="Shape 50"/>
          <p:cNvSpPr/>
          <p:nvPr/>
        </p:nvSpPr>
        <p:spPr>
          <a:xfrm>
            <a:off x="932688" y="3621024"/>
            <a:ext cx="100584" cy="100584"/>
          </a:xfrm>
          <a:prstGeom prst="ellipse">
            <a:avLst/>
          </a:prstGeom>
          <a:solidFill>
            <a:srgbClr val="1F6FFF"/>
          </a:solidFill>
          <a:ln w="12700">
            <a:solidFill>
              <a:srgbClr val="1F6FFF">
                <a:alpha val="0"/>
              </a:srgbClr>
            </a:solidFill>
            <a:prstDash val="solid"/>
          </a:ln>
        </p:spPr>
      </p:sp>
      <p:sp>
        <p:nvSpPr>
          <p:cNvPr id="54" name="Text 51"/>
          <p:cNvSpPr/>
          <p:nvPr/>
        </p:nvSpPr>
        <p:spPr>
          <a:xfrm>
            <a:off x="1097280" y="3547872"/>
            <a:ext cx="6949440" cy="301752"/>
          </a:xfrm>
          <a:prstGeom prst="rect">
            <a:avLst/>
          </a:prstGeom>
          <a:noFill/>
          <a:ln/>
        </p:spPr>
        <p:txBody>
          <a:bodyPr wrap="square" lIns="0" tIns="0" rIns="0" bIns="0" rtlCol="0" anchor="ctr"/>
          <a:lstStyle/>
          <a:p>
            <a:pPr indent="0" marL="0">
              <a:buNone/>
            </a:pPr>
            <a:r>
              <a:rPr lang="en-US" sz="1060" dirty="0">
                <a:solidFill>
                  <a:srgbClr val="102749"/>
                </a:solidFill>
                <a:latin typeface="Aptos" pitchFamily="34" charset="0"/>
                <a:ea typeface="Aptos" pitchFamily="34" charset="-122"/>
                <a:cs typeface="Aptos" pitchFamily="34" charset="-120"/>
              </a:rPr>
              <a:t>A successful run includes control actions such as cleanup, logging, and status reporting, not only business actions</a:t>
            </a:r>
            <a:endParaRPr lang="en-US" sz="1060" dirty="0"/>
          </a:p>
        </p:txBody>
      </p:sp>
      <p:sp>
        <p:nvSpPr>
          <p:cNvPr id="55" name="Shape 52"/>
          <p:cNvSpPr/>
          <p:nvPr/>
        </p:nvSpPr>
        <p:spPr>
          <a:xfrm>
            <a:off x="932688" y="4169664"/>
            <a:ext cx="100584" cy="100584"/>
          </a:xfrm>
          <a:prstGeom prst="ellipse">
            <a:avLst/>
          </a:prstGeom>
          <a:solidFill>
            <a:srgbClr val="1F6FFF"/>
          </a:solidFill>
          <a:ln w="12700">
            <a:solidFill>
              <a:srgbClr val="1F6FFF">
                <a:alpha val="0"/>
              </a:srgbClr>
            </a:solidFill>
            <a:prstDash val="solid"/>
          </a:ln>
        </p:spPr>
      </p:sp>
      <p:sp>
        <p:nvSpPr>
          <p:cNvPr id="56" name="Text 53"/>
          <p:cNvSpPr/>
          <p:nvPr/>
        </p:nvSpPr>
        <p:spPr>
          <a:xfrm>
            <a:off x="1097280" y="4096512"/>
            <a:ext cx="6949440" cy="301752"/>
          </a:xfrm>
          <a:prstGeom prst="rect">
            <a:avLst/>
          </a:prstGeom>
          <a:noFill/>
          <a:ln/>
        </p:spPr>
        <p:txBody>
          <a:bodyPr wrap="square" lIns="0" tIns="0" rIns="0" bIns="0" rtlCol="0" anchor="ctr"/>
          <a:lstStyle/>
          <a:p>
            <a:pPr indent="0" marL="0">
              <a:buNone/>
            </a:pPr>
            <a:r>
              <a:rPr lang="en-US" sz="1060" dirty="0">
                <a:solidFill>
                  <a:srgbClr val="102749"/>
                </a:solidFill>
                <a:latin typeface="Aptos" pitchFamily="34" charset="0"/>
                <a:ea typeface="Aptos" pitchFamily="34" charset="-122"/>
                <a:cs typeface="Aptos" pitchFamily="34" charset="-120"/>
              </a:rPr>
              <a:t>The more transactions involved, the more important batching, state tracking, and recoverability become</a:t>
            </a:r>
            <a:endParaRPr lang="en-US" sz="1060" dirty="0"/>
          </a:p>
        </p:txBody>
      </p:sp>
      <p:sp>
        <p:nvSpPr>
          <p:cNvPr id="57" name="Shape 54"/>
          <p:cNvSpPr/>
          <p:nvPr/>
        </p:nvSpPr>
        <p:spPr>
          <a:xfrm>
            <a:off x="932688" y="4718304"/>
            <a:ext cx="100584" cy="100584"/>
          </a:xfrm>
          <a:prstGeom prst="ellipse">
            <a:avLst/>
          </a:prstGeom>
          <a:solidFill>
            <a:srgbClr val="1F6FFF"/>
          </a:solidFill>
          <a:ln w="12700">
            <a:solidFill>
              <a:srgbClr val="1F6FFF">
                <a:alpha val="0"/>
              </a:srgbClr>
            </a:solidFill>
            <a:prstDash val="solid"/>
          </a:ln>
        </p:spPr>
      </p:sp>
      <p:sp>
        <p:nvSpPr>
          <p:cNvPr id="58" name="Text 55"/>
          <p:cNvSpPr/>
          <p:nvPr/>
        </p:nvSpPr>
        <p:spPr>
          <a:xfrm>
            <a:off x="1097280" y="4645152"/>
            <a:ext cx="6949440" cy="301752"/>
          </a:xfrm>
          <a:prstGeom prst="rect">
            <a:avLst/>
          </a:prstGeom>
          <a:noFill/>
          <a:ln/>
        </p:spPr>
        <p:txBody>
          <a:bodyPr wrap="square" lIns="0" tIns="0" rIns="0" bIns="0" rtlCol="0" anchor="ctr"/>
          <a:lstStyle/>
          <a:p>
            <a:pPr indent="0" marL="0">
              <a:buNone/>
            </a:pPr>
            <a:r>
              <a:rPr lang="en-US" sz="1060" dirty="0">
                <a:solidFill>
                  <a:srgbClr val="102749"/>
                </a:solidFill>
                <a:latin typeface="Aptos" pitchFamily="34" charset="0"/>
                <a:ea typeface="Aptos" pitchFamily="34" charset="-122"/>
                <a:cs typeface="Aptos" pitchFamily="34" charset="-120"/>
              </a:rPr>
              <a:t>If the run structure is unclear, support and troubleshooting quickly become difficult</a:t>
            </a:r>
            <a:endParaRPr lang="en-US" sz="1060" dirty="0"/>
          </a:p>
        </p:txBody>
      </p:sp>
      <p:sp>
        <p:nvSpPr>
          <p:cNvPr id="59" name="Shape 56"/>
          <p:cNvSpPr/>
          <p:nvPr/>
        </p:nvSpPr>
        <p:spPr>
          <a:xfrm>
            <a:off x="8613648" y="2816352"/>
            <a:ext cx="2816352" cy="1060704"/>
          </a:xfrm>
          <a:prstGeom prst="roundRect">
            <a:avLst>
              <a:gd name="adj" fmla="val 4310"/>
            </a:avLst>
          </a:prstGeom>
          <a:solidFill>
            <a:srgbClr val="FFF9EE"/>
          </a:solidFill>
          <a:ln w="12700">
            <a:solidFill>
              <a:srgbClr val="E6A019"/>
            </a:solidFill>
            <a:prstDash val="solid"/>
          </a:ln>
        </p:spPr>
      </p:sp>
      <p:sp>
        <p:nvSpPr>
          <p:cNvPr id="60" name="Text 57"/>
          <p:cNvSpPr/>
          <p:nvPr/>
        </p:nvSpPr>
        <p:spPr>
          <a:xfrm>
            <a:off x="8778240" y="2944368"/>
            <a:ext cx="2542032" cy="164592"/>
          </a:xfrm>
          <a:prstGeom prst="rect">
            <a:avLst/>
          </a:prstGeom>
          <a:noFill/>
          <a:ln/>
        </p:spPr>
        <p:txBody>
          <a:bodyPr wrap="square" lIns="0" tIns="0" rIns="0" bIns="0" rtlCol="0" anchor="ctr"/>
          <a:lstStyle/>
          <a:p>
            <a:pPr indent="0" marL="0">
              <a:buNone/>
            </a:pPr>
            <a:r>
              <a:rPr lang="en-US" sz="850" b="1" dirty="0">
                <a:solidFill>
                  <a:srgbClr val="E6A019"/>
                </a:solidFill>
                <a:latin typeface="Aptos" pitchFamily="34" charset="0"/>
                <a:ea typeface="Aptos" pitchFamily="34" charset="-122"/>
                <a:cs typeface="Aptos" pitchFamily="34" charset="-120"/>
              </a:rPr>
              <a:t>Presenter Warning</a:t>
            </a:r>
            <a:endParaRPr lang="en-US" sz="850" dirty="0"/>
          </a:p>
        </p:txBody>
      </p:sp>
      <p:sp>
        <p:nvSpPr>
          <p:cNvPr id="61" name="Text 58"/>
          <p:cNvSpPr/>
          <p:nvPr/>
        </p:nvSpPr>
        <p:spPr>
          <a:xfrm>
            <a:off x="8778240" y="3118104"/>
            <a:ext cx="2542032" cy="713232"/>
          </a:xfrm>
          <a:prstGeom prst="rect">
            <a:avLst/>
          </a:prstGeom>
          <a:noFill/>
          <a:ln/>
        </p:spPr>
        <p:txBody>
          <a:bodyPr wrap="square" lIns="254" tIns="254" rIns="254" bIns="254" rtlCol="0" anchor="ctr"/>
          <a:lstStyle/>
          <a:p>
            <a:pPr indent="0" marL="0">
              <a:buNone/>
            </a:pPr>
            <a:r>
              <a:rPr lang="en-US" sz="940" dirty="0">
                <a:solidFill>
                  <a:srgbClr val="102749"/>
                </a:solidFill>
                <a:latin typeface="Aptos" pitchFamily="34" charset="0"/>
                <a:ea typeface="Aptos" pitchFamily="34" charset="-122"/>
                <a:cs typeface="Aptos" pitchFamily="34" charset="-120"/>
              </a:rPr>
              <a:t>Bots do not think. They execute defined instructions against expected conditions.</a:t>
            </a:r>
            <a:endParaRPr lang="en-US" sz="940" dirty="0"/>
          </a:p>
        </p:txBody>
      </p:sp>
      <p:sp>
        <p:nvSpPr>
          <p:cNvPr id="62" name="Shape 59"/>
          <p:cNvSpPr/>
          <p:nvPr/>
        </p:nvSpPr>
        <p:spPr>
          <a:xfrm>
            <a:off x="8613648" y="4133088"/>
            <a:ext cx="2816352" cy="950976"/>
          </a:xfrm>
          <a:prstGeom prst="roundRect">
            <a:avLst>
              <a:gd name="adj" fmla="val 5769"/>
            </a:avLst>
          </a:prstGeom>
          <a:solidFill>
            <a:srgbClr val="FFFFFF"/>
          </a:solidFill>
          <a:ln w="12700">
            <a:solidFill>
              <a:srgbClr val="C7D5EA"/>
            </a:solidFill>
            <a:prstDash val="solid"/>
          </a:ln>
        </p:spPr>
      </p:sp>
      <p:sp>
        <p:nvSpPr>
          <p:cNvPr id="63" name="Shape 60"/>
          <p:cNvSpPr/>
          <p:nvPr/>
        </p:nvSpPr>
        <p:spPr>
          <a:xfrm>
            <a:off x="8613648" y="4133088"/>
            <a:ext cx="2816352" cy="64008"/>
          </a:xfrm>
          <a:prstGeom prst="rect">
            <a:avLst/>
          </a:prstGeom>
          <a:solidFill>
            <a:srgbClr val="12B3A8"/>
          </a:solidFill>
          <a:ln w="12700">
            <a:solidFill>
              <a:srgbClr val="12B3A8">
                <a:alpha val="0"/>
              </a:srgbClr>
            </a:solidFill>
            <a:prstDash val="solid"/>
          </a:ln>
        </p:spPr>
      </p:sp>
      <p:sp>
        <p:nvSpPr>
          <p:cNvPr id="64" name="Text 61"/>
          <p:cNvSpPr/>
          <p:nvPr/>
        </p:nvSpPr>
        <p:spPr>
          <a:xfrm>
            <a:off x="8778240" y="4297680"/>
            <a:ext cx="2542032"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Operational view</a:t>
            </a:r>
            <a:endParaRPr lang="en-US" sz="1150" dirty="0"/>
          </a:p>
        </p:txBody>
      </p:sp>
      <p:sp>
        <p:nvSpPr>
          <p:cNvPr id="65" name="Text 62"/>
          <p:cNvSpPr/>
          <p:nvPr/>
        </p:nvSpPr>
        <p:spPr>
          <a:xfrm>
            <a:off x="8778240" y="4572000"/>
            <a:ext cx="2542032" cy="420624"/>
          </a:xfrm>
          <a:prstGeom prst="rect">
            <a:avLst/>
          </a:prstGeom>
          <a:noFill/>
          <a:ln/>
        </p:spPr>
        <p:txBody>
          <a:bodyPr wrap="square" lIns="254" tIns="254" rIns="254" bIns="254" rtlCol="0" anchor="t"/>
          <a:lstStyle/>
          <a:p>
            <a:pPr indent="0" marL="0">
              <a:buNone/>
            </a:pPr>
            <a:r>
              <a:rPr lang="en-US" sz="900" dirty="0">
                <a:solidFill>
                  <a:srgbClr val="51607B"/>
                </a:solidFill>
                <a:latin typeface="Aptos" pitchFamily="34" charset="0"/>
                <a:ea typeface="Aptos" pitchFamily="34" charset="-122"/>
                <a:cs typeface="Aptos" pitchFamily="34" charset="-120"/>
              </a:rPr>
              <a:t>The run must remain visible, recoverable, and cleanly closed after every execution.</a:t>
            </a:r>
            <a:endParaRPr lang="en-US" sz="900" dirty="0"/>
          </a:p>
        </p:txBody>
      </p:sp>
      <p:sp>
        <p:nvSpPr>
          <p:cNvPr id="66" name="Text 63"/>
          <p:cNvSpPr/>
          <p:nvPr/>
        </p:nvSpPr>
        <p:spPr>
          <a:xfrm>
            <a:off x="658368" y="6510528"/>
            <a:ext cx="2560320" cy="164592"/>
          </a:xfrm>
          <a:prstGeom prst="rect">
            <a:avLst/>
          </a:prstGeom>
          <a:noFill/>
          <a:ln/>
        </p:spPr>
        <p:txBody>
          <a:bodyPr wrap="square" lIns="0" tIns="0" rIns="0" bIns="0" rtlCol="0" anchor="ctr"/>
          <a:lstStyle/>
          <a:p>
            <a:pPr indent="0" marL="0">
              <a:buNone/>
            </a:pPr>
            <a:r>
              <a:rPr lang="en-US" sz="850" dirty="0">
                <a:solidFill>
                  <a:srgbClr val="51607B"/>
                </a:solidFill>
                <a:latin typeface="Aptos" pitchFamily="34" charset="0"/>
                <a:ea typeface="Aptos" pitchFamily="34" charset="-122"/>
                <a:cs typeface="Aptos" pitchFamily="34" charset="-120"/>
              </a:rPr>
              <a:t>Innobot  |  Internal workshop</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F4F7FB"/>
          </a:solidFill>
          <a:ln/>
        </p:spPr>
      </p:sp>
      <p:sp>
        <p:nvSpPr>
          <p:cNvPr id="4" name="Shape 1"/>
          <p:cNvSpPr/>
          <p:nvPr/>
        </p:nvSpPr>
        <p:spPr>
          <a:xfrm>
            <a:off x="0" y="0"/>
            <a:ext cx="12191695" cy="411480"/>
          </a:xfrm>
          <a:prstGeom prst="rect">
            <a:avLst/>
          </a:prstGeom>
          <a:solidFill>
            <a:srgbClr val="0A1830"/>
          </a:solidFill>
          <a:ln/>
        </p:spPr>
      </p:sp>
      <p:sp>
        <p:nvSpPr>
          <p:cNvPr id="5" name="Shape 2"/>
          <p:cNvSpPr/>
          <p:nvPr/>
        </p:nvSpPr>
        <p:spPr>
          <a:xfrm>
            <a:off x="9509760" y="-137160"/>
            <a:ext cx="3200400" cy="2194560"/>
          </a:xfrm>
          <a:prstGeom prst="ellipse">
            <a:avLst/>
          </a:prstGeom>
          <a:solidFill>
            <a:srgbClr val="8AB8FF">
              <a:alpha val="16000"/>
            </a:srgbClr>
          </a:solidFill>
          <a:ln w="12700">
            <a:solidFill>
              <a:srgbClr val="8AB8FF">
                <a:alpha val="0"/>
              </a:srgbClr>
            </a:solidFill>
            <a:prstDash val="solid"/>
          </a:ln>
        </p:spPr>
      </p:sp>
      <p:sp>
        <p:nvSpPr>
          <p:cNvPr id="6" name="Shape 3"/>
          <p:cNvSpPr/>
          <p:nvPr/>
        </p:nvSpPr>
        <p:spPr>
          <a:xfrm>
            <a:off x="-731520" y="5394960"/>
            <a:ext cx="2560320" cy="1645920"/>
          </a:xfrm>
          <a:prstGeom prst="ellipse">
            <a:avLst/>
          </a:prstGeom>
          <a:solidFill>
            <a:srgbClr val="12B3A8">
              <a:alpha val="10000"/>
            </a:srgbClr>
          </a:solidFill>
          <a:ln w="12700">
            <a:solidFill>
              <a:srgbClr val="12B3A8">
                <a:alpha val="0"/>
              </a:srgbClr>
            </a:solidFill>
            <a:prstDash val="solid"/>
          </a:ln>
        </p:spPr>
      </p:sp>
      <p:sp>
        <p:nvSpPr>
          <p:cNvPr id="7" name="Text 4"/>
          <p:cNvSpPr/>
          <p:nvPr/>
        </p:nvSpPr>
        <p:spPr>
          <a:xfrm>
            <a:off x="658368" y="182880"/>
            <a:ext cx="2651760" cy="146304"/>
          </a:xfrm>
          <a:prstGeom prst="rect">
            <a:avLst/>
          </a:prstGeom>
          <a:noFill/>
          <a:ln/>
        </p:spPr>
        <p:txBody>
          <a:bodyPr wrap="square" lIns="0" tIns="0" rIns="0" bIns="0" rtlCol="0" anchor="ctr"/>
          <a:lstStyle/>
          <a:p>
            <a:pPr indent="0" marL="0">
              <a:buNone/>
            </a:pPr>
            <a:r>
              <a:rPr lang="en-US" sz="850" b="1" dirty="0">
                <a:solidFill>
                  <a:srgbClr val="8AB8FF"/>
                </a:solidFill>
                <a:latin typeface="Aptos" pitchFamily="34" charset="0"/>
                <a:ea typeface="Aptos" pitchFamily="34" charset="-122"/>
                <a:cs typeface="Aptos" pitchFamily="34" charset="-120"/>
              </a:rPr>
              <a:t>RUNTIME MODEL</a:t>
            </a:r>
            <a:endParaRPr lang="en-US" sz="850" dirty="0"/>
          </a:p>
        </p:txBody>
      </p:sp>
      <p:sp>
        <p:nvSpPr>
          <p:cNvPr id="8" name="Text 5"/>
          <p:cNvSpPr/>
          <p:nvPr/>
        </p:nvSpPr>
        <p:spPr>
          <a:xfrm>
            <a:off x="658368" y="612648"/>
            <a:ext cx="7223760" cy="411480"/>
          </a:xfrm>
          <a:prstGeom prst="rect">
            <a:avLst/>
          </a:prstGeom>
          <a:noFill/>
          <a:ln/>
        </p:spPr>
        <p:txBody>
          <a:bodyPr wrap="square" lIns="0" tIns="0" rIns="0" bIns="0" rtlCol="0" anchor="ctr"/>
          <a:lstStyle/>
          <a:p>
            <a:pPr indent="0" marL="0">
              <a:buNone/>
            </a:pPr>
            <a:r>
              <a:rPr lang="en-US" sz="2400" b="1" dirty="0">
                <a:solidFill>
                  <a:srgbClr val="102749"/>
                </a:solidFill>
                <a:latin typeface="Aptos Display" pitchFamily="34" charset="0"/>
                <a:ea typeface="Aptos Display" pitchFamily="34" charset="-122"/>
                <a:cs typeface="Aptos Display" pitchFamily="34" charset="-120"/>
              </a:rPr>
              <a:t>Trigger / Input / Rules / Output Model</a:t>
            </a:r>
            <a:endParaRPr lang="en-US" sz="2400" dirty="0"/>
          </a:p>
        </p:txBody>
      </p:sp>
      <p:sp>
        <p:nvSpPr>
          <p:cNvPr id="9" name="Text 6"/>
          <p:cNvSpPr/>
          <p:nvPr/>
        </p:nvSpPr>
        <p:spPr>
          <a:xfrm>
            <a:off x="658368" y="1069848"/>
            <a:ext cx="7863840" cy="310896"/>
          </a:xfrm>
          <a:prstGeom prst="rect">
            <a:avLst/>
          </a:prstGeom>
          <a:noFill/>
          <a:ln/>
        </p:spPr>
        <p:txBody>
          <a:bodyPr wrap="square" lIns="0" tIns="0" rIns="0" bIns="0" rtlCol="0" anchor="ctr"/>
          <a:lstStyle/>
          <a:p>
            <a:pPr indent="0" marL="0">
              <a:buNone/>
            </a:pPr>
            <a:r>
              <a:rPr lang="en-US" sz="1100" dirty="0">
                <a:solidFill>
                  <a:srgbClr val="51607B"/>
                </a:solidFill>
                <a:latin typeface="Aptos" pitchFamily="34" charset="0"/>
                <a:ea typeface="Aptos" pitchFamily="34" charset="-122"/>
                <a:cs typeface="Aptos" pitchFamily="34" charset="-120"/>
              </a:rPr>
              <a:t>Every automation needs a clear operating contract</a:t>
            </a:r>
            <a:endParaRPr lang="en-US" sz="1100" dirty="0"/>
          </a:p>
        </p:txBody>
      </p:sp>
      <p:sp>
        <p:nvSpPr>
          <p:cNvPr id="10" name="Text 7"/>
          <p:cNvSpPr/>
          <p:nvPr/>
        </p:nvSpPr>
        <p:spPr>
          <a:xfrm>
            <a:off x="11155680" y="530352"/>
            <a:ext cx="365760" cy="201168"/>
          </a:xfrm>
          <a:prstGeom prst="rect">
            <a:avLst/>
          </a:prstGeom>
          <a:noFill/>
          <a:ln/>
        </p:spPr>
        <p:txBody>
          <a:bodyPr wrap="square" lIns="0" tIns="0" rIns="0" bIns="0" rtlCol="0" anchor="ctr"/>
          <a:lstStyle/>
          <a:p>
            <a:pPr algn="r" indent="0" marL="0">
              <a:buNone/>
            </a:pPr>
            <a:r>
              <a:rPr lang="en-US" sz="950" dirty="0">
                <a:solidFill>
                  <a:srgbClr val="51607B"/>
                </a:solidFill>
                <a:latin typeface="Consolas" pitchFamily="34" charset="0"/>
                <a:ea typeface="Consolas" pitchFamily="34" charset="-122"/>
                <a:cs typeface="Consolas" pitchFamily="34" charset="-120"/>
              </a:rPr>
              <a:t>05</a:t>
            </a:r>
            <a:endParaRPr lang="en-US" sz="950" dirty="0"/>
          </a:p>
        </p:txBody>
      </p:sp>
      <p:sp>
        <p:nvSpPr>
          <p:cNvPr id="11" name="Shape 8"/>
          <p:cNvSpPr/>
          <p:nvPr/>
        </p:nvSpPr>
        <p:spPr>
          <a:xfrm>
            <a:off x="8366760" y="676656"/>
            <a:ext cx="3154680" cy="822960"/>
          </a:xfrm>
          <a:prstGeom prst="roundRect">
            <a:avLst>
              <a:gd name="adj" fmla="val 8889"/>
            </a:avLst>
          </a:prstGeom>
          <a:solidFill>
            <a:srgbClr val="FFFFFF"/>
          </a:solidFill>
          <a:ln w="12700">
            <a:solidFill>
              <a:srgbClr val="12B3A8">
                <a:alpha val="0"/>
              </a:srgbClr>
            </a:solidFill>
            <a:prstDash val="solid"/>
          </a:ln>
        </p:spPr>
      </p:sp>
      <p:sp>
        <p:nvSpPr>
          <p:cNvPr id="12" name="Shape 9"/>
          <p:cNvSpPr/>
          <p:nvPr/>
        </p:nvSpPr>
        <p:spPr>
          <a:xfrm>
            <a:off x="8366760" y="676656"/>
            <a:ext cx="73152" cy="822960"/>
          </a:xfrm>
          <a:prstGeom prst="rect">
            <a:avLst/>
          </a:prstGeom>
          <a:solidFill>
            <a:srgbClr val="12B3A8"/>
          </a:solidFill>
          <a:ln w="12700">
            <a:solidFill>
              <a:srgbClr val="12B3A8">
                <a:alpha val="0"/>
              </a:srgbClr>
            </a:solidFill>
            <a:prstDash val="solid"/>
          </a:ln>
        </p:spPr>
      </p:sp>
      <p:sp>
        <p:nvSpPr>
          <p:cNvPr id="13" name="Text 10"/>
          <p:cNvSpPr/>
          <p:nvPr/>
        </p:nvSpPr>
        <p:spPr>
          <a:xfrm>
            <a:off x="8531352" y="786384"/>
            <a:ext cx="1097280" cy="164592"/>
          </a:xfrm>
          <a:prstGeom prst="rect">
            <a:avLst/>
          </a:prstGeom>
          <a:noFill/>
          <a:ln/>
        </p:spPr>
        <p:txBody>
          <a:bodyPr wrap="square" lIns="0" tIns="0" rIns="0" bIns="0" rtlCol="0" anchor="ctr"/>
          <a:lstStyle/>
          <a:p>
            <a:pPr indent="0" marL="0">
              <a:buNone/>
            </a:pPr>
            <a:r>
              <a:rPr lang="en-US" sz="800" b="1" dirty="0">
                <a:solidFill>
                  <a:srgbClr val="12B3A8"/>
                </a:solidFill>
                <a:latin typeface="Aptos" pitchFamily="34" charset="0"/>
                <a:ea typeface="Aptos" pitchFamily="34" charset="-122"/>
                <a:cs typeface="Aptos" pitchFamily="34" charset="-120"/>
              </a:rPr>
              <a:t>Key takeaway</a:t>
            </a:r>
            <a:endParaRPr lang="en-US" sz="800" dirty="0"/>
          </a:p>
        </p:txBody>
      </p:sp>
      <p:sp>
        <p:nvSpPr>
          <p:cNvPr id="14" name="Text 11"/>
          <p:cNvSpPr/>
          <p:nvPr/>
        </p:nvSpPr>
        <p:spPr>
          <a:xfrm>
            <a:off x="8531352" y="932688"/>
            <a:ext cx="2880360" cy="521208"/>
          </a:xfrm>
          <a:prstGeom prst="rect">
            <a:avLst/>
          </a:prstGeom>
          <a:noFill/>
          <a:ln/>
        </p:spPr>
        <p:txBody>
          <a:bodyPr wrap="square" lIns="254" tIns="254" rIns="254" bIns="254" rtlCol="0" anchor="ctr"/>
          <a:lstStyle/>
          <a:p>
            <a:pPr indent="0" marL="0">
              <a:buNone/>
            </a:pPr>
            <a:r>
              <a:rPr lang="en-US" sz="920" dirty="0">
                <a:solidFill>
                  <a:srgbClr val="102749"/>
                </a:solidFill>
                <a:latin typeface="Aptos" pitchFamily="34" charset="0"/>
                <a:ea typeface="Aptos" pitchFamily="34" charset="-122"/>
                <a:cs typeface="Aptos" pitchFamily="34" charset="-120"/>
              </a:rPr>
              <a:t>If the trigger, inputs, rules, or outputs are unclear, the automation will be unstable, difficult to validate, or hard to govern.</a:t>
            </a:r>
            <a:endParaRPr lang="en-US" sz="920" dirty="0"/>
          </a:p>
        </p:txBody>
      </p:sp>
      <p:sp>
        <p:nvSpPr>
          <p:cNvPr id="15" name="Shape 12"/>
          <p:cNvSpPr/>
          <p:nvPr/>
        </p:nvSpPr>
        <p:spPr>
          <a:xfrm>
            <a:off x="749808" y="1783080"/>
            <a:ext cx="2578608" cy="2011680"/>
          </a:xfrm>
          <a:prstGeom prst="roundRect">
            <a:avLst>
              <a:gd name="adj" fmla="val 2727"/>
            </a:avLst>
          </a:prstGeom>
          <a:solidFill>
            <a:srgbClr val="FFFFFF"/>
          </a:solidFill>
          <a:ln w="12700">
            <a:solidFill>
              <a:srgbClr val="C7D5EA"/>
            </a:solidFill>
            <a:prstDash val="solid"/>
          </a:ln>
        </p:spPr>
      </p:sp>
      <p:sp>
        <p:nvSpPr>
          <p:cNvPr id="16" name="Shape 13"/>
          <p:cNvSpPr/>
          <p:nvPr/>
        </p:nvSpPr>
        <p:spPr>
          <a:xfrm>
            <a:off x="749808" y="1783080"/>
            <a:ext cx="2578608" cy="64008"/>
          </a:xfrm>
          <a:prstGeom prst="rect">
            <a:avLst/>
          </a:prstGeom>
          <a:solidFill>
            <a:srgbClr val="1F6FFF"/>
          </a:solidFill>
          <a:ln w="12700">
            <a:solidFill>
              <a:srgbClr val="1F6FFF">
                <a:alpha val="0"/>
              </a:srgbClr>
            </a:solidFill>
            <a:prstDash val="solid"/>
          </a:ln>
        </p:spPr>
      </p:sp>
      <p:sp>
        <p:nvSpPr>
          <p:cNvPr id="17" name="Text 14"/>
          <p:cNvSpPr/>
          <p:nvPr/>
        </p:nvSpPr>
        <p:spPr>
          <a:xfrm>
            <a:off x="914400" y="1947672"/>
            <a:ext cx="2304288"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Trigger</a:t>
            </a:r>
            <a:endParaRPr lang="en-US" sz="1150" dirty="0"/>
          </a:p>
        </p:txBody>
      </p:sp>
      <p:sp>
        <p:nvSpPr>
          <p:cNvPr id="18" name="Text 15"/>
          <p:cNvSpPr/>
          <p:nvPr/>
        </p:nvSpPr>
        <p:spPr>
          <a:xfrm>
            <a:off x="914400" y="2221992"/>
            <a:ext cx="2304288" cy="1481328"/>
          </a:xfrm>
          <a:prstGeom prst="rect">
            <a:avLst/>
          </a:prstGeom>
          <a:noFill/>
          <a:ln/>
        </p:spPr>
        <p:txBody>
          <a:bodyPr wrap="square" lIns="254" tIns="254" rIns="254" bIns="254" rtlCol="0" anchor="t"/>
          <a:lstStyle/>
          <a:p>
            <a:pPr indent="0" marL="0">
              <a:buNone/>
            </a:pPr>
            <a:r>
              <a:rPr lang="en-US" sz="950" dirty="0">
                <a:solidFill>
                  <a:srgbClr val="51607B"/>
                </a:solidFill>
                <a:latin typeface="Aptos" pitchFamily="34" charset="0"/>
                <a:ea typeface="Aptos" pitchFamily="34" charset="-122"/>
                <a:cs typeface="Aptos" pitchFamily="34" charset="-120"/>
              </a:rPr>
              <a:t>What starts the run? Schedule, event, user action, queue threshold, or downstream dependency.</a:t>
            </a:r>
            <a:endParaRPr lang="en-US" sz="950" dirty="0"/>
          </a:p>
        </p:txBody>
      </p:sp>
      <p:sp>
        <p:nvSpPr>
          <p:cNvPr id="19" name="Shape 16"/>
          <p:cNvSpPr/>
          <p:nvPr/>
        </p:nvSpPr>
        <p:spPr>
          <a:xfrm>
            <a:off x="3557016" y="1783080"/>
            <a:ext cx="2578608" cy="2011680"/>
          </a:xfrm>
          <a:prstGeom prst="roundRect">
            <a:avLst>
              <a:gd name="adj" fmla="val 2727"/>
            </a:avLst>
          </a:prstGeom>
          <a:solidFill>
            <a:srgbClr val="FFFFFF"/>
          </a:solidFill>
          <a:ln w="12700">
            <a:solidFill>
              <a:srgbClr val="C7D5EA"/>
            </a:solidFill>
            <a:prstDash val="solid"/>
          </a:ln>
        </p:spPr>
      </p:sp>
      <p:sp>
        <p:nvSpPr>
          <p:cNvPr id="20" name="Shape 17"/>
          <p:cNvSpPr/>
          <p:nvPr/>
        </p:nvSpPr>
        <p:spPr>
          <a:xfrm>
            <a:off x="3557016" y="1783080"/>
            <a:ext cx="2578608" cy="64008"/>
          </a:xfrm>
          <a:prstGeom prst="rect">
            <a:avLst/>
          </a:prstGeom>
          <a:solidFill>
            <a:srgbClr val="12B3A8"/>
          </a:solidFill>
          <a:ln w="12700">
            <a:solidFill>
              <a:srgbClr val="12B3A8">
                <a:alpha val="0"/>
              </a:srgbClr>
            </a:solidFill>
            <a:prstDash val="solid"/>
          </a:ln>
        </p:spPr>
      </p:sp>
      <p:sp>
        <p:nvSpPr>
          <p:cNvPr id="21" name="Text 18"/>
          <p:cNvSpPr/>
          <p:nvPr/>
        </p:nvSpPr>
        <p:spPr>
          <a:xfrm>
            <a:off x="3721608" y="1947672"/>
            <a:ext cx="2304288"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Inputs</a:t>
            </a:r>
            <a:endParaRPr lang="en-US" sz="1150" dirty="0"/>
          </a:p>
        </p:txBody>
      </p:sp>
      <p:sp>
        <p:nvSpPr>
          <p:cNvPr id="22" name="Text 19"/>
          <p:cNvSpPr/>
          <p:nvPr/>
        </p:nvSpPr>
        <p:spPr>
          <a:xfrm>
            <a:off x="3721608" y="2221992"/>
            <a:ext cx="2304288" cy="1481328"/>
          </a:xfrm>
          <a:prstGeom prst="rect">
            <a:avLst/>
          </a:prstGeom>
          <a:noFill/>
          <a:ln/>
        </p:spPr>
        <p:txBody>
          <a:bodyPr wrap="square" lIns="254" tIns="254" rIns="254" bIns="254" rtlCol="0" anchor="t"/>
          <a:lstStyle/>
          <a:p>
            <a:pPr indent="0" marL="0">
              <a:buNone/>
            </a:pPr>
            <a:r>
              <a:rPr lang="en-US" sz="950" dirty="0">
                <a:solidFill>
                  <a:srgbClr val="51607B"/>
                </a:solidFill>
                <a:latin typeface="Aptos" pitchFamily="34" charset="0"/>
                <a:ea typeface="Aptos" pitchFamily="34" charset="-122"/>
                <a:cs typeface="Aptos" pitchFamily="34" charset="-120"/>
              </a:rPr>
              <a:t>What information is required? Reports, forms, queues, credentials, reference data, and configuration.</a:t>
            </a:r>
            <a:endParaRPr lang="en-US" sz="950" dirty="0"/>
          </a:p>
        </p:txBody>
      </p:sp>
      <p:sp>
        <p:nvSpPr>
          <p:cNvPr id="23" name="Shape 20"/>
          <p:cNvSpPr/>
          <p:nvPr/>
        </p:nvSpPr>
        <p:spPr>
          <a:xfrm>
            <a:off x="6364224" y="1783080"/>
            <a:ext cx="2578608" cy="2011680"/>
          </a:xfrm>
          <a:prstGeom prst="roundRect">
            <a:avLst>
              <a:gd name="adj" fmla="val 2727"/>
            </a:avLst>
          </a:prstGeom>
          <a:solidFill>
            <a:srgbClr val="FFFFFF"/>
          </a:solidFill>
          <a:ln w="12700">
            <a:solidFill>
              <a:srgbClr val="C7D5EA"/>
            </a:solidFill>
            <a:prstDash val="solid"/>
          </a:ln>
        </p:spPr>
      </p:sp>
      <p:sp>
        <p:nvSpPr>
          <p:cNvPr id="24" name="Shape 21"/>
          <p:cNvSpPr/>
          <p:nvPr/>
        </p:nvSpPr>
        <p:spPr>
          <a:xfrm>
            <a:off x="6364224" y="1783080"/>
            <a:ext cx="2578608" cy="64008"/>
          </a:xfrm>
          <a:prstGeom prst="rect">
            <a:avLst/>
          </a:prstGeom>
          <a:solidFill>
            <a:srgbClr val="1F6FFF"/>
          </a:solidFill>
          <a:ln w="12700">
            <a:solidFill>
              <a:srgbClr val="1F6FFF">
                <a:alpha val="0"/>
              </a:srgbClr>
            </a:solidFill>
            <a:prstDash val="solid"/>
          </a:ln>
        </p:spPr>
      </p:sp>
      <p:sp>
        <p:nvSpPr>
          <p:cNvPr id="25" name="Text 22"/>
          <p:cNvSpPr/>
          <p:nvPr/>
        </p:nvSpPr>
        <p:spPr>
          <a:xfrm>
            <a:off x="6528816" y="1947672"/>
            <a:ext cx="2304288"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Rules</a:t>
            </a:r>
            <a:endParaRPr lang="en-US" sz="1150" dirty="0"/>
          </a:p>
        </p:txBody>
      </p:sp>
      <p:sp>
        <p:nvSpPr>
          <p:cNvPr id="26" name="Text 23"/>
          <p:cNvSpPr/>
          <p:nvPr/>
        </p:nvSpPr>
        <p:spPr>
          <a:xfrm>
            <a:off x="6528816" y="2221992"/>
            <a:ext cx="2304288" cy="1481328"/>
          </a:xfrm>
          <a:prstGeom prst="rect">
            <a:avLst/>
          </a:prstGeom>
          <a:noFill/>
          <a:ln/>
        </p:spPr>
        <p:txBody>
          <a:bodyPr wrap="square" lIns="254" tIns="254" rIns="254" bIns="254" rtlCol="0" anchor="t"/>
          <a:lstStyle/>
          <a:p>
            <a:pPr indent="0" marL="0">
              <a:buNone/>
            </a:pPr>
            <a:r>
              <a:rPr lang="en-US" sz="950" dirty="0">
                <a:solidFill>
                  <a:srgbClr val="51607B"/>
                </a:solidFill>
                <a:latin typeface="Aptos" pitchFamily="34" charset="0"/>
                <a:ea typeface="Aptos" pitchFamily="34" charset="-122"/>
                <a:cs typeface="Aptos" pitchFamily="34" charset="-120"/>
              </a:rPr>
              <a:t>How does the bot decide? Business logic, exception conditions, prioritization, and field validation.</a:t>
            </a:r>
            <a:endParaRPr lang="en-US" sz="950" dirty="0"/>
          </a:p>
        </p:txBody>
      </p:sp>
      <p:sp>
        <p:nvSpPr>
          <p:cNvPr id="27" name="Shape 24"/>
          <p:cNvSpPr/>
          <p:nvPr/>
        </p:nvSpPr>
        <p:spPr>
          <a:xfrm>
            <a:off x="9171432" y="1783080"/>
            <a:ext cx="2578608" cy="2011680"/>
          </a:xfrm>
          <a:prstGeom prst="roundRect">
            <a:avLst>
              <a:gd name="adj" fmla="val 2727"/>
            </a:avLst>
          </a:prstGeom>
          <a:solidFill>
            <a:srgbClr val="FFFFFF"/>
          </a:solidFill>
          <a:ln w="12700">
            <a:solidFill>
              <a:srgbClr val="C7D5EA"/>
            </a:solidFill>
            <a:prstDash val="solid"/>
          </a:ln>
        </p:spPr>
      </p:sp>
      <p:sp>
        <p:nvSpPr>
          <p:cNvPr id="28" name="Shape 25"/>
          <p:cNvSpPr/>
          <p:nvPr/>
        </p:nvSpPr>
        <p:spPr>
          <a:xfrm>
            <a:off x="9171432" y="1783080"/>
            <a:ext cx="2578608" cy="64008"/>
          </a:xfrm>
          <a:prstGeom prst="rect">
            <a:avLst/>
          </a:prstGeom>
          <a:solidFill>
            <a:srgbClr val="12B3A8"/>
          </a:solidFill>
          <a:ln w="12700">
            <a:solidFill>
              <a:srgbClr val="12B3A8">
                <a:alpha val="0"/>
              </a:srgbClr>
            </a:solidFill>
            <a:prstDash val="solid"/>
          </a:ln>
        </p:spPr>
      </p:sp>
      <p:sp>
        <p:nvSpPr>
          <p:cNvPr id="29" name="Text 26"/>
          <p:cNvSpPr/>
          <p:nvPr/>
        </p:nvSpPr>
        <p:spPr>
          <a:xfrm>
            <a:off x="9336024" y="1947672"/>
            <a:ext cx="2304288"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Outputs</a:t>
            </a:r>
            <a:endParaRPr lang="en-US" sz="1150" dirty="0"/>
          </a:p>
        </p:txBody>
      </p:sp>
      <p:sp>
        <p:nvSpPr>
          <p:cNvPr id="30" name="Text 27"/>
          <p:cNvSpPr/>
          <p:nvPr/>
        </p:nvSpPr>
        <p:spPr>
          <a:xfrm>
            <a:off x="9336024" y="2221992"/>
            <a:ext cx="2304288" cy="1481328"/>
          </a:xfrm>
          <a:prstGeom prst="rect">
            <a:avLst/>
          </a:prstGeom>
          <a:noFill/>
          <a:ln/>
        </p:spPr>
        <p:txBody>
          <a:bodyPr wrap="square" lIns="254" tIns="254" rIns="254" bIns="254" rtlCol="0" anchor="t"/>
          <a:lstStyle/>
          <a:p>
            <a:pPr indent="0" marL="0">
              <a:buNone/>
            </a:pPr>
            <a:r>
              <a:rPr lang="en-US" sz="950" dirty="0">
                <a:solidFill>
                  <a:srgbClr val="51607B"/>
                </a:solidFill>
                <a:latin typeface="Aptos" pitchFamily="34" charset="0"/>
                <a:ea typeface="Aptos" pitchFamily="34" charset="-122"/>
                <a:cs typeface="Aptos" pitchFamily="34" charset="-120"/>
              </a:rPr>
              <a:t>What must be produced? Updated systems, reports, logs, screenshots, status tags, and review lists.</a:t>
            </a:r>
            <a:endParaRPr lang="en-US" sz="950" dirty="0"/>
          </a:p>
        </p:txBody>
      </p:sp>
      <p:sp>
        <p:nvSpPr>
          <p:cNvPr id="31" name="Shape 28"/>
          <p:cNvSpPr/>
          <p:nvPr/>
        </p:nvSpPr>
        <p:spPr>
          <a:xfrm>
            <a:off x="749808" y="4160520"/>
            <a:ext cx="10698480" cy="1325880"/>
          </a:xfrm>
          <a:prstGeom prst="roundRect">
            <a:avLst>
              <a:gd name="adj" fmla="val 3448"/>
            </a:avLst>
          </a:prstGeom>
          <a:solidFill>
            <a:srgbClr val="FFFFFF"/>
          </a:solidFill>
          <a:ln w="12700">
            <a:solidFill>
              <a:srgbClr val="C7D5EA"/>
            </a:solidFill>
            <a:prstDash val="solid"/>
          </a:ln>
        </p:spPr>
      </p:sp>
      <p:sp>
        <p:nvSpPr>
          <p:cNvPr id="32" name="Shape 29"/>
          <p:cNvSpPr/>
          <p:nvPr/>
        </p:nvSpPr>
        <p:spPr>
          <a:xfrm>
            <a:off x="932688" y="4480560"/>
            <a:ext cx="100584" cy="100584"/>
          </a:xfrm>
          <a:prstGeom prst="ellipse">
            <a:avLst/>
          </a:prstGeom>
          <a:solidFill>
            <a:srgbClr val="1F6FFF"/>
          </a:solidFill>
          <a:ln w="12700">
            <a:solidFill>
              <a:srgbClr val="1F6FFF">
                <a:alpha val="0"/>
              </a:srgbClr>
            </a:solidFill>
            <a:prstDash val="solid"/>
          </a:ln>
        </p:spPr>
      </p:sp>
      <p:sp>
        <p:nvSpPr>
          <p:cNvPr id="33" name="Text 30"/>
          <p:cNvSpPr/>
          <p:nvPr/>
        </p:nvSpPr>
        <p:spPr>
          <a:xfrm>
            <a:off x="1097280" y="4407408"/>
            <a:ext cx="10012680" cy="301752"/>
          </a:xfrm>
          <a:prstGeom prst="rect">
            <a:avLst/>
          </a:prstGeom>
          <a:noFill/>
          <a:ln/>
        </p:spPr>
        <p:txBody>
          <a:bodyPr wrap="square" lIns="0" tIns="0" rIns="0" bIns="0" rtlCol="0" anchor="ctr"/>
          <a:lstStyle/>
          <a:p>
            <a:pPr indent="0" marL="0">
              <a:buNone/>
            </a:pPr>
            <a:r>
              <a:rPr lang="en-US" sz="1020" dirty="0">
                <a:solidFill>
                  <a:srgbClr val="102749"/>
                </a:solidFill>
                <a:latin typeface="Aptos" pitchFamily="34" charset="0"/>
                <a:ea typeface="Aptos" pitchFamily="34" charset="-122"/>
                <a:cs typeface="Aptos" pitchFamily="34" charset="-120"/>
              </a:rPr>
              <a:t>In the claims storyline, the schedule triggers the Dispatcher, the aging report becomes input, claim status logic acts as rules, and database updates plus summary reports become outputs</a:t>
            </a:r>
            <a:endParaRPr lang="en-US" sz="1020" dirty="0"/>
          </a:p>
        </p:txBody>
      </p:sp>
      <p:sp>
        <p:nvSpPr>
          <p:cNvPr id="34" name="Shape 31"/>
          <p:cNvSpPr/>
          <p:nvPr/>
        </p:nvSpPr>
        <p:spPr>
          <a:xfrm>
            <a:off x="932688" y="4901184"/>
            <a:ext cx="100584" cy="100584"/>
          </a:xfrm>
          <a:prstGeom prst="ellipse">
            <a:avLst/>
          </a:prstGeom>
          <a:solidFill>
            <a:srgbClr val="1F6FFF"/>
          </a:solidFill>
          <a:ln w="12700">
            <a:solidFill>
              <a:srgbClr val="1F6FFF">
                <a:alpha val="0"/>
              </a:srgbClr>
            </a:solidFill>
            <a:prstDash val="solid"/>
          </a:ln>
        </p:spPr>
      </p:sp>
      <p:sp>
        <p:nvSpPr>
          <p:cNvPr id="35" name="Text 32"/>
          <p:cNvSpPr/>
          <p:nvPr/>
        </p:nvSpPr>
        <p:spPr>
          <a:xfrm>
            <a:off x="1097280" y="4828032"/>
            <a:ext cx="10012680" cy="301752"/>
          </a:xfrm>
          <a:prstGeom prst="rect">
            <a:avLst/>
          </a:prstGeom>
          <a:noFill/>
          <a:ln/>
        </p:spPr>
        <p:txBody>
          <a:bodyPr wrap="square" lIns="0" tIns="0" rIns="0" bIns="0" rtlCol="0" anchor="ctr"/>
          <a:lstStyle/>
          <a:p>
            <a:pPr indent="0" marL="0">
              <a:buNone/>
            </a:pPr>
            <a:r>
              <a:rPr lang="en-US" sz="1020" dirty="0">
                <a:solidFill>
                  <a:srgbClr val="102749"/>
                </a:solidFill>
                <a:latin typeface="Aptos" pitchFamily="34" charset="0"/>
                <a:ea typeface="Aptos" pitchFamily="34" charset="-122"/>
                <a:cs typeface="Aptos" pitchFamily="34" charset="-120"/>
              </a:rPr>
              <a:t>Each pillar should be documented in business language before build decisions are made</a:t>
            </a:r>
            <a:endParaRPr lang="en-US" sz="1020" dirty="0"/>
          </a:p>
        </p:txBody>
      </p:sp>
      <p:sp>
        <p:nvSpPr>
          <p:cNvPr id="36" name="Shape 33"/>
          <p:cNvSpPr/>
          <p:nvPr/>
        </p:nvSpPr>
        <p:spPr>
          <a:xfrm>
            <a:off x="932688" y="5321808"/>
            <a:ext cx="100584" cy="100584"/>
          </a:xfrm>
          <a:prstGeom prst="ellipse">
            <a:avLst/>
          </a:prstGeom>
          <a:solidFill>
            <a:srgbClr val="1F6FFF"/>
          </a:solidFill>
          <a:ln w="12700">
            <a:solidFill>
              <a:srgbClr val="1F6FFF">
                <a:alpha val="0"/>
              </a:srgbClr>
            </a:solidFill>
            <a:prstDash val="solid"/>
          </a:ln>
        </p:spPr>
      </p:sp>
      <p:sp>
        <p:nvSpPr>
          <p:cNvPr id="37" name="Text 34"/>
          <p:cNvSpPr/>
          <p:nvPr/>
        </p:nvSpPr>
        <p:spPr>
          <a:xfrm>
            <a:off x="1097280" y="5248656"/>
            <a:ext cx="10012680" cy="301752"/>
          </a:xfrm>
          <a:prstGeom prst="rect">
            <a:avLst/>
          </a:prstGeom>
          <a:noFill/>
          <a:ln/>
        </p:spPr>
        <p:txBody>
          <a:bodyPr wrap="square" lIns="0" tIns="0" rIns="0" bIns="0" rtlCol="0" anchor="ctr"/>
          <a:lstStyle/>
          <a:p>
            <a:pPr indent="0" marL="0">
              <a:buNone/>
            </a:pPr>
            <a:r>
              <a:rPr lang="en-US" sz="1020" dirty="0">
                <a:solidFill>
                  <a:srgbClr val="102749"/>
                </a:solidFill>
                <a:latin typeface="Aptos" pitchFamily="34" charset="0"/>
                <a:ea typeface="Aptos" pitchFamily="34" charset="-122"/>
                <a:cs typeface="Aptos" pitchFamily="34" charset="-120"/>
              </a:rPr>
              <a:t>Controls such as logging, access, and exception routing sit around this model and make it operational</a:t>
            </a:r>
            <a:endParaRPr lang="en-US" sz="1020" dirty="0"/>
          </a:p>
        </p:txBody>
      </p:sp>
      <p:sp>
        <p:nvSpPr>
          <p:cNvPr id="38" name="Text 35"/>
          <p:cNvSpPr/>
          <p:nvPr/>
        </p:nvSpPr>
        <p:spPr>
          <a:xfrm>
            <a:off x="658368" y="6510528"/>
            <a:ext cx="2560320" cy="164592"/>
          </a:xfrm>
          <a:prstGeom prst="rect">
            <a:avLst/>
          </a:prstGeom>
          <a:noFill/>
          <a:ln/>
        </p:spPr>
        <p:txBody>
          <a:bodyPr wrap="square" lIns="0" tIns="0" rIns="0" bIns="0" rtlCol="0" anchor="ctr"/>
          <a:lstStyle/>
          <a:p>
            <a:pPr indent="0" marL="0">
              <a:buNone/>
            </a:pPr>
            <a:r>
              <a:rPr lang="en-US" sz="850" dirty="0">
                <a:solidFill>
                  <a:srgbClr val="51607B"/>
                </a:solidFill>
                <a:latin typeface="Aptos" pitchFamily="34" charset="0"/>
                <a:ea typeface="Aptos" pitchFamily="34" charset="-122"/>
                <a:cs typeface="Aptos" pitchFamily="34" charset="-120"/>
              </a:rPr>
              <a:t>Innobot  |  Internal workshop</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F4F7FB"/>
          </a:solidFill>
          <a:ln/>
        </p:spPr>
      </p:sp>
      <p:sp>
        <p:nvSpPr>
          <p:cNvPr id="4" name="Shape 1"/>
          <p:cNvSpPr/>
          <p:nvPr/>
        </p:nvSpPr>
        <p:spPr>
          <a:xfrm>
            <a:off x="0" y="0"/>
            <a:ext cx="12191695" cy="411480"/>
          </a:xfrm>
          <a:prstGeom prst="rect">
            <a:avLst/>
          </a:prstGeom>
          <a:solidFill>
            <a:srgbClr val="0A1830"/>
          </a:solidFill>
          <a:ln/>
        </p:spPr>
      </p:sp>
      <p:sp>
        <p:nvSpPr>
          <p:cNvPr id="5" name="Shape 2"/>
          <p:cNvSpPr/>
          <p:nvPr/>
        </p:nvSpPr>
        <p:spPr>
          <a:xfrm>
            <a:off x="9509760" y="-137160"/>
            <a:ext cx="3200400" cy="2194560"/>
          </a:xfrm>
          <a:prstGeom prst="ellipse">
            <a:avLst/>
          </a:prstGeom>
          <a:solidFill>
            <a:srgbClr val="8AB8FF">
              <a:alpha val="16000"/>
            </a:srgbClr>
          </a:solidFill>
          <a:ln w="12700">
            <a:solidFill>
              <a:srgbClr val="8AB8FF">
                <a:alpha val="0"/>
              </a:srgbClr>
            </a:solidFill>
            <a:prstDash val="solid"/>
          </a:ln>
        </p:spPr>
      </p:sp>
      <p:sp>
        <p:nvSpPr>
          <p:cNvPr id="6" name="Shape 3"/>
          <p:cNvSpPr/>
          <p:nvPr/>
        </p:nvSpPr>
        <p:spPr>
          <a:xfrm>
            <a:off x="-731520" y="5394960"/>
            <a:ext cx="2560320" cy="1645920"/>
          </a:xfrm>
          <a:prstGeom prst="ellipse">
            <a:avLst/>
          </a:prstGeom>
          <a:solidFill>
            <a:srgbClr val="12B3A8">
              <a:alpha val="10000"/>
            </a:srgbClr>
          </a:solidFill>
          <a:ln w="12700">
            <a:solidFill>
              <a:srgbClr val="12B3A8">
                <a:alpha val="0"/>
              </a:srgbClr>
            </a:solidFill>
            <a:prstDash val="solid"/>
          </a:ln>
        </p:spPr>
      </p:sp>
      <p:sp>
        <p:nvSpPr>
          <p:cNvPr id="7" name="Text 4"/>
          <p:cNvSpPr/>
          <p:nvPr/>
        </p:nvSpPr>
        <p:spPr>
          <a:xfrm>
            <a:off x="658368" y="182880"/>
            <a:ext cx="2651760" cy="146304"/>
          </a:xfrm>
          <a:prstGeom prst="rect">
            <a:avLst/>
          </a:prstGeom>
          <a:noFill/>
          <a:ln/>
        </p:spPr>
        <p:txBody>
          <a:bodyPr wrap="square" lIns="0" tIns="0" rIns="0" bIns="0" rtlCol="0" anchor="ctr"/>
          <a:lstStyle/>
          <a:p>
            <a:pPr indent="0" marL="0">
              <a:buNone/>
            </a:pPr>
            <a:r>
              <a:rPr lang="en-US" sz="850" b="1" dirty="0">
                <a:solidFill>
                  <a:srgbClr val="8AB8FF"/>
                </a:solidFill>
                <a:latin typeface="Aptos" pitchFamily="34" charset="0"/>
                <a:ea typeface="Aptos" pitchFamily="34" charset="-122"/>
                <a:cs typeface="Aptos" pitchFamily="34" charset="-120"/>
              </a:rPr>
              <a:t>OPERATING MODES</a:t>
            </a:r>
            <a:endParaRPr lang="en-US" sz="850" dirty="0"/>
          </a:p>
        </p:txBody>
      </p:sp>
      <p:sp>
        <p:nvSpPr>
          <p:cNvPr id="8" name="Text 5"/>
          <p:cNvSpPr/>
          <p:nvPr/>
        </p:nvSpPr>
        <p:spPr>
          <a:xfrm>
            <a:off x="658368" y="612648"/>
            <a:ext cx="7223760" cy="411480"/>
          </a:xfrm>
          <a:prstGeom prst="rect">
            <a:avLst/>
          </a:prstGeom>
          <a:noFill/>
          <a:ln/>
        </p:spPr>
        <p:txBody>
          <a:bodyPr wrap="square" lIns="0" tIns="0" rIns="0" bIns="0" rtlCol="0" anchor="ctr"/>
          <a:lstStyle/>
          <a:p>
            <a:pPr indent="0" marL="0">
              <a:buNone/>
            </a:pPr>
            <a:r>
              <a:rPr lang="en-US" sz="2400" b="1" dirty="0">
                <a:solidFill>
                  <a:srgbClr val="102749"/>
                </a:solidFill>
                <a:latin typeface="Aptos Display" pitchFamily="34" charset="0"/>
                <a:ea typeface="Aptos Display" pitchFamily="34" charset="-122"/>
                <a:cs typeface="Aptos Display" pitchFamily="34" charset="-120"/>
              </a:rPr>
              <a:t>Attended Bots</a:t>
            </a:r>
            <a:endParaRPr lang="en-US" sz="2400" dirty="0"/>
          </a:p>
        </p:txBody>
      </p:sp>
      <p:sp>
        <p:nvSpPr>
          <p:cNvPr id="9" name="Text 6"/>
          <p:cNvSpPr/>
          <p:nvPr/>
        </p:nvSpPr>
        <p:spPr>
          <a:xfrm>
            <a:off x="658368" y="1069848"/>
            <a:ext cx="7863840" cy="310896"/>
          </a:xfrm>
          <a:prstGeom prst="rect">
            <a:avLst/>
          </a:prstGeom>
          <a:noFill/>
          <a:ln/>
        </p:spPr>
        <p:txBody>
          <a:bodyPr wrap="square" lIns="0" tIns="0" rIns="0" bIns="0" rtlCol="0" anchor="ctr"/>
          <a:lstStyle/>
          <a:p>
            <a:pPr indent="0" marL="0">
              <a:buNone/>
            </a:pPr>
            <a:r>
              <a:rPr lang="en-US" sz="1100" dirty="0">
                <a:solidFill>
                  <a:srgbClr val="51607B"/>
                </a:solidFill>
                <a:latin typeface="Aptos" pitchFamily="34" charset="0"/>
                <a:ea typeface="Aptos" pitchFamily="34" charset="-122"/>
                <a:cs typeface="Aptos" pitchFamily="34" charset="-120"/>
              </a:rPr>
              <a:t>Attended automation helps a human complete work faster in the moment</a:t>
            </a:r>
            <a:endParaRPr lang="en-US" sz="1100" dirty="0"/>
          </a:p>
        </p:txBody>
      </p:sp>
      <p:sp>
        <p:nvSpPr>
          <p:cNvPr id="10" name="Text 7"/>
          <p:cNvSpPr/>
          <p:nvPr/>
        </p:nvSpPr>
        <p:spPr>
          <a:xfrm>
            <a:off x="11155680" y="530352"/>
            <a:ext cx="365760" cy="201168"/>
          </a:xfrm>
          <a:prstGeom prst="rect">
            <a:avLst/>
          </a:prstGeom>
          <a:noFill/>
          <a:ln/>
        </p:spPr>
        <p:txBody>
          <a:bodyPr wrap="square" lIns="0" tIns="0" rIns="0" bIns="0" rtlCol="0" anchor="ctr"/>
          <a:lstStyle/>
          <a:p>
            <a:pPr algn="r" indent="0" marL="0">
              <a:buNone/>
            </a:pPr>
            <a:r>
              <a:rPr lang="en-US" sz="950" dirty="0">
                <a:solidFill>
                  <a:srgbClr val="51607B"/>
                </a:solidFill>
                <a:latin typeface="Consolas" pitchFamily="34" charset="0"/>
                <a:ea typeface="Consolas" pitchFamily="34" charset="-122"/>
                <a:cs typeface="Consolas" pitchFamily="34" charset="-120"/>
              </a:rPr>
              <a:t>06</a:t>
            </a:r>
            <a:endParaRPr lang="en-US" sz="950" dirty="0"/>
          </a:p>
        </p:txBody>
      </p:sp>
      <p:sp>
        <p:nvSpPr>
          <p:cNvPr id="11" name="Shape 8"/>
          <p:cNvSpPr/>
          <p:nvPr/>
        </p:nvSpPr>
        <p:spPr>
          <a:xfrm>
            <a:off x="8366760" y="676656"/>
            <a:ext cx="3154680" cy="822960"/>
          </a:xfrm>
          <a:prstGeom prst="roundRect">
            <a:avLst>
              <a:gd name="adj" fmla="val 8889"/>
            </a:avLst>
          </a:prstGeom>
          <a:solidFill>
            <a:srgbClr val="FFFFFF"/>
          </a:solidFill>
          <a:ln w="12700">
            <a:solidFill>
              <a:srgbClr val="12B3A8">
                <a:alpha val="0"/>
              </a:srgbClr>
            </a:solidFill>
            <a:prstDash val="solid"/>
          </a:ln>
        </p:spPr>
      </p:sp>
      <p:sp>
        <p:nvSpPr>
          <p:cNvPr id="12" name="Shape 9"/>
          <p:cNvSpPr/>
          <p:nvPr/>
        </p:nvSpPr>
        <p:spPr>
          <a:xfrm>
            <a:off x="8366760" y="676656"/>
            <a:ext cx="73152" cy="822960"/>
          </a:xfrm>
          <a:prstGeom prst="rect">
            <a:avLst/>
          </a:prstGeom>
          <a:solidFill>
            <a:srgbClr val="12B3A8"/>
          </a:solidFill>
          <a:ln w="12700">
            <a:solidFill>
              <a:srgbClr val="12B3A8">
                <a:alpha val="0"/>
              </a:srgbClr>
            </a:solidFill>
            <a:prstDash val="solid"/>
          </a:ln>
        </p:spPr>
      </p:sp>
      <p:sp>
        <p:nvSpPr>
          <p:cNvPr id="13" name="Text 10"/>
          <p:cNvSpPr/>
          <p:nvPr/>
        </p:nvSpPr>
        <p:spPr>
          <a:xfrm>
            <a:off x="8531352" y="786384"/>
            <a:ext cx="1097280" cy="164592"/>
          </a:xfrm>
          <a:prstGeom prst="rect">
            <a:avLst/>
          </a:prstGeom>
          <a:noFill/>
          <a:ln/>
        </p:spPr>
        <p:txBody>
          <a:bodyPr wrap="square" lIns="0" tIns="0" rIns="0" bIns="0" rtlCol="0" anchor="ctr"/>
          <a:lstStyle/>
          <a:p>
            <a:pPr indent="0" marL="0">
              <a:buNone/>
            </a:pPr>
            <a:r>
              <a:rPr lang="en-US" sz="800" b="1" dirty="0">
                <a:solidFill>
                  <a:srgbClr val="12B3A8"/>
                </a:solidFill>
                <a:latin typeface="Aptos" pitchFamily="34" charset="0"/>
                <a:ea typeface="Aptos" pitchFamily="34" charset="-122"/>
                <a:cs typeface="Aptos" pitchFamily="34" charset="-120"/>
              </a:rPr>
              <a:t>Key takeaway</a:t>
            </a:r>
            <a:endParaRPr lang="en-US" sz="800" dirty="0"/>
          </a:p>
        </p:txBody>
      </p:sp>
      <p:sp>
        <p:nvSpPr>
          <p:cNvPr id="14" name="Text 11"/>
          <p:cNvSpPr/>
          <p:nvPr/>
        </p:nvSpPr>
        <p:spPr>
          <a:xfrm>
            <a:off x="8531352" y="932688"/>
            <a:ext cx="2880360" cy="521208"/>
          </a:xfrm>
          <a:prstGeom prst="rect">
            <a:avLst/>
          </a:prstGeom>
          <a:noFill/>
          <a:ln/>
        </p:spPr>
        <p:txBody>
          <a:bodyPr wrap="square" lIns="254" tIns="254" rIns="254" bIns="254" rtlCol="0" anchor="ctr"/>
          <a:lstStyle/>
          <a:p>
            <a:pPr indent="0" marL="0">
              <a:buNone/>
            </a:pPr>
            <a:r>
              <a:rPr lang="en-US" sz="920" dirty="0">
                <a:solidFill>
                  <a:srgbClr val="102749"/>
                </a:solidFill>
                <a:latin typeface="Aptos" pitchFamily="34" charset="0"/>
                <a:ea typeface="Aptos" pitchFamily="34" charset="-122"/>
                <a:cs typeface="Aptos" pitchFamily="34" charset="-120"/>
              </a:rPr>
              <a:t>Attended bots are designed for front-line support, user-triggered assistance, and guided process acceleration when a person remains in the loop.</a:t>
            </a:r>
            <a:endParaRPr lang="en-US" sz="920" dirty="0"/>
          </a:p>
        </p:txBody>
      </p:sp>
      <p:sp>
        <p:nvSpPr>
          <p:cNvPr id="15" name="Shape 12"/>
          <p:cNvSpPr/>
          <p:nvPr/>
        </p:nvSpPr>
        <p:spPr>
          <a:xfrm>
            <a:off x="749808" y="1755648"/>
            <a:ext cx="6656832" cy="3794760"/>
          </a:xfrm>
          <a:prstGeom prst="roundRect">
            <a:avLst>
              <a:gd name="adj" fmla="val 1205"/>
            </a:avLst>
          </a:prstGeom>
          <a:solidFill>
            <a:srgbClr val="FFFFFF"/>
          </a:solidFill>
          <a:ln w="12700">
            <a:solidFill>
              <a:srgbClr val="C7D5EA"/>
            </a:solidFill>
            <a:prstDash val="solid"/>
          </a:ln>
        </p:spPr>
      </p:sp>
      <p:sp>
        <p:nvSpPr>
          <p:cNvPr id="16" name="Shape 13"/>
          <p:cNvSpPr/>
          <p:nvPr/>
        </p:nvSpPr>
        <p:spPr>
          <a:xfrm>
            <a:off x="896112" y="1965960"/>
            <a:ext cx="1005840" cy="640080"/>
          </a:xfrm>
          <a:prstGeom prst="flowChartManualInput">
            <a:avLst/>
          </a:prstGeom>
          <a:solidFill>
            <a:srgbClr val="EEF4FB"/>
          </a:solidFill>
          <a:ln w="12700">
            <a:solidFill>
              <a:srgbClr val="1F6FFF"/>
            </a:solidFill>
            <a:prstDash val="solid"/>
          </a:ln>
        </p:spPr>
      </p:sp>
      <p:sp>
        <p:nvSpPr>
          <p:cNvPr id="17" name="Text 14"/>
          <p:cNvSpPr/>
          <p:nvPr/>
        </p:nvSpPr>
        <p:spPr>
          <a:xfrm>
            <a:off x="1024128" y="2176272"/>
            <a:ext cx="731520" cy="164592"/>
          </a:xfrm>
          <a:prstGeom prst="rect">
            <a:avLst/>
          </a:prstGeom>
          <a:noFill/>
          <a:ln/>
        </p:spPr>
        <p:txBody>
          <a:bodyPr wrap="square" lIns="0" tIns="0" rIns="0" bIns="0" rtlCol="0" anchor="ctr"/>
          <a:lstStyle/>
          <a:p>
            <a:pPr algn="ctr" indent="0" marL="0">
              <a:buNone/>
            </a:pPr>
            <a:r>
              <a:rPr lang="en-US" sz="960" b="1" dirty="0">
                <a:solidFill>
                  <a:srgbClr val="102749"/>
                </a:solidFill>
                <a:latin typeface="Aptos" pitchFamily="34" charset="0"/>
                <a:ea typeface="Aptos" pitchFamily="34" charset="-122"/>
                <a:cs typeface="Aptos" pitchFamily="34" charset="-120"/>
              </a:rPr>
              <a:t>Attended</a:t>
            </a:r>
            <a:endParaRPr lang="en-US" sz="960" dirty="0"/>
          </a:p>
        </p:txBody>
      </p:sp>
      <p:sp>
        <p:nvSpPr>
          <p:cNvPr id="18" name="Shape 15"/>
          <p:cNvSpPr/>
          <p:nvPr/>
        </p:nvSpPr>
        <p:spPr>
          <a:xfrm>
            <a:off x="1024128" y="2816352"/>
            <a:ext cx="100584" cy="100584"/>
          </a:xfrm>
          <a:prstGeom prst="ellipse">
            <a:avLst/>
          </a:prstGeom>
          <a:solidFill>
            <a:srgbClr val="1F6FFF"/>
          </a:solidFill>
          <a:ln w="12700">
            <a:solidFill>
              <a:srgbClr val="1F6FFF">
                <a:alpha val="0"/>
              </a:srgbClr>
            </a:solidFill>
            <a:prstDash val="solid"/>
          </a:ln>
        </p:spPr>
      </p:sp>
      <p:sp>
        <p:nvSpPr>
          <p:cNvPr id="19" name="Text 16"/>
          <p:cNvSpPr/>
          <p:nvPr/>
        </p:nvSpPr>
        <p:spPr>
          <a:xfrm>
            <a:off x="1188720" y="2743200"/>
            <a:ext cx="5897880" cy="301752"/>
          </a:xfrm>
          <a:prstGeom prst="rect">
            <a:avLst/>
          </a:prstGeom>
          <a:noFill/>
          <a:ln/>
        </p:spPr>
        <p:txBody>
          <a:bodyPr wrap="square" lIns="0" tIns="0" rIns="0" bIns="0" rtlCol="0" anchor="ctr"/>
          <a:lstStyle/>
          <a:p>
            <a:pPr indent="0" marL="0">
              <a:buNone/>
            </a:pPr>
            <a:r>
              <a:rPr lang="en-US" sz="1065" dirty="0">
                <a:solidFill>
                  <a:srgbClr val="102749"/>
                </a:solidFill>
                <a:latin typeface="Aptos" pitchFamily="34" charset="0"/>
                <a:ea typeface="Aptos" pitchFamily="34" charset="-122"/>
                <a:cs typeface="Aptos" pitchFamily="34" charset="-120"/>
              </a:rPr>
              <a:t>A user is present and typically triggers the automation from their workstation or within their workflow</a:t>
            </a:r>
            <a:endParaRPr lang="en-US" sz="1065" dirty="0"/>
          </a:p>
        </p:txBody>
      </p:sp>
      <p:sp>
        <p:nvSpPr>
          <p:cNvPr id="20" name="Shape 17"/>
          <p:cNvSpPr/>
          <p:nvPr/>
        </p:nvSpPr>
        <p:spPr>
          <a:xfrm>
            <a:off x="1024128" y="3346704"/>
            <a:ext cx="100584" cy="100584"/>
          </a:xfrm>
          <a:prstGeom prst="ellipse">
            <a:avLst/>
          </a:prstGeom>
          <a:solidFill>
            <a:srgbClr val="1F6FFF"/>
          </a:solidFill>
          <a:ln w="12700">
            <a:solidFill>
              <a:srgbClr val="1F6FFF">
                <a:alpha val="0"/>
              </a:srgbClr>
            </a:solidFill>
            <a:prstDash val="solid"/>
          </a:ln>
        </p:spPr>
      </p:sp>
      <p:sp>
        <p:nvSpPr>
          <p:cNvPr id="21" name="Text 18"/>
          <p:cNvSpPr/>
          <p:nvPr/>
        </p:nvSpPr>
        <p:spPr>
          <a:xfrm>
            <a:off x="1188720" y="3273552"/>
            <a:ext cx="5897880" cy="301752"/>
          </a:xfrm>
          <a:prstGeom prst="rect">
            <a:avLst/>
          </a:prstGeom>
          <a:noFill/>
          <a:ln/>
        </p:spPr>
        <p:txBody>
          <a:bodyPr wrap="square" lIns="0" tIns="0" rIns="0" bIns="0" rtlCol="0" anchor="ctr"/>
          <a:lstStyle/>
          <a:p>
            <a:pPr indent="0" marL="0">
              <a:buNone/>
            </a:pPr>
            <a:r>
              <a:rPr lang="en-US" sz="1065" dirty="0">
                <a:solidFill>
                  <a:srgbClr val="102749"/>
                </a:solidFill>
                <a:latin typeface="Aptos" pitchFamily="34" charset="0"/>
                <a:ea typeface="Aptos" pitchFamily="34" charset="-122"/>
                <a:cs typeface="Aptos" pitchFamily="34" charset="-120"/>
              </a:rPr>
              <a:t>The bot assists with a portion of the task such as pre-filling data, searching systems, or copying structured results</a:t>
            </a:r>
            <a:endParaRPr lang="en-US" sz="1065" dirty="0"/>
          </a:p>
        </p:txBody>
      </p:sp>
      <p:sp>
        <p:nvSpPr>
          <p:cNvPr id="22" name="Shape 19"/>
          <p:cNvSpPr/>
          <p:nvPr/>
        </p:nvSpPr>
        <p:spPr>
          <a:xfrm>
            <a:off x="1024128" y="3877056"/>
            <a:ext cx="100584" cy="100584"/>
          </a:xfrm>
          <a:prstGeom prst="ellipse">
            <a:avLst/>
          </a:prstGeom>
          <a:solidFill>
            <a:srgbClr val="1F6FFF"/>
          </a:solidFill>
          <a:ln w="12700">
            <a:solidFill>
              <a:srgbClr val="1F6FFF">
                <a:alpha val="0"/>
              </a:srgbClr>
            </a:solidFill>
            <a:prstDash val="solid"/>
          </a:ln>
        </p:spPr>
      </p:sp>
      <p:sp>
        <p:nvSpPr>
          <p:cNvPr id="23" name="Text 20"/>
          <p:cNvSpPr/>
          <p:nvPr/>
        </p:nvSpPr>
        <p:spPr>
          <a:xfrm>
            <a:off x="1188720" y="3803904"/>
            <a:ext cx="5897880" cy="301752"/>
          </a:xfrm>
          <a:prstGeom prst="rect">
            <a:avLst/>
          </a:prstGeom>
          <a:noFill/>
          <a:ln/>
        </p:spPr>
        <p:txBody>
          <a:bodyPr wrap="square" lIns="0" tIns="0" rIns="0" bIns="0" rtlCol="0" anchor="ctr"/>
          <a:lstStyle/>
          <a:p>
            <a:pPr indent="0" marL="0">
              <a:buNone/>
            </a:pPr>
            <a:r>
              <a:rPr lang="en-US" sz="1065" dirty="0">
                <a:solidFill>
                  <a:srgbClr val="102749"/>
                </a:solidFill>
                <a:latin typeface="Aptos" pitchFamily="34" charset="0"/>
                <a:ea typeface="Aptos" pitchFamily="34" charset="-122"/>
                <a:cs typeface="Aptos" pitchFamily="34" charset="-120"/>
              </a:rPr>
              <a:t>Control remains close to the user, which helps in judgment-heavy scenarios or processes with frequent handoffs</a:t>
            </a:r>
            <a:endParaRPr lang="en-US" sz="1065" dirty="0"/>
          </a:p>
        </p:txBody>
      </p:sp>
      <p:sp>
        <p:nvSpPr>
          <p:cNvPr id="24" name="Shape 21"/>
          <p:cNvSpPr/>
          <p:nvPr/>
        </p:nvSpPr>
        <p:spPr>
          <a:xfrm>
            <a:off x="1024128" y="4407408"/>
            <a:ext cx="100584" cy="100584"/>
          </a:xfrm>
          <a:prstGeom prst="ellipse">
            <a:avLst/>
          </a:prstGeom>
          <a:solidFill>
            <a:srgbClr val="1F6FFF"/>
          </a:solidFill>
          <a:ln w="12700">
            <a:solidFill>
              <a:srgbClr val="1F6FFF">
                <a:alpha val="0"/>
              </a:srgbClr>
            </a:solidFill>
            <a:prstDash val="solid"/>
          </a:ln>
        </p:spPr>
      </p:sp>
      <p:sp>
        <p:nvSpPr>
          <p:cNvPr id="25" name="Text 22"/>
          <p:cNvSpPr/>
          <p:nvPr/>
        </p:nvSpPr>
        <p:spPr>
          <a:xfrm>
            <a:off x="1188720" y="4334256"/>
            <a:ext cx="5897880" cy="301752"/>
          </a:xfrm>
          <a:prstGeom prst="rect">
            <a:avLst/>
          </a:prstGeom>
          <a:noFill/>
          <a:ln/>
        </p:spPr>
        <p:txBody>
          <a:bodyPr wrap="square" lIns="0" tIns="0" rIns="0" bIns="0" rtlCol="0" anchor="ctr"/>
          <a:lstStyle/>
          <a:p>
            <a:pPr indent="0" marL="0">
              <a:buNone/>
            </a:pPr>
            <a:r>
              <a:rPr lang="en-US" sz="1065" dirty="0">
                <a:solidFill>
                  <a:srgbClr val="102749"/>
                </a:solidFill>
                <a:latin typeface="Aptos" pitchFamily="34" charset="0"/>
                <a:ea typeface="Aptos" pitchFamily="34" charset="-122"/>
                <a:cs typeface="Aptos" pitchFamily="34" charset="-120"/>
              </a:rPr>
              <a:t>Benefits often include reduced handling time, fewer manual rekey steps, and more consistent task execution</a:t>
            </a:r>
            <a:endParaRPr lang="en-US" sz="1065" dirty="0"/>
          </a:p>
        </p:txBody>
      </p:sp>
      <p:sp>
        <p:nvSpPr>
          <p:cNvPr id="26" name="Shape 23"/>
          <p:cNvSpPr/>
          <p:nvPr/>
        </p:nvSpPr>
        <p:spPr>
          <a:xfrm>
            <a:off x="1024128" y="4937760"/>
            <a:ext cx="100584" cy="100584"/>
          </a:xfrm>
          <a:prstGeom prst="ellipse">
            <a:avLst/>
          </a:prstGeom>
          <a:solidFill>
            <a:srgbClr val="1F6FFF"/>
          </a:solidFill>
          <a:ln w="12700">
            <a:solidFill>
              <a:srgbClr val="1F6FFF">
                <a:alpha val="0"/>
              </a:srgbClr>
            </a:solidFill>
            <a:prstDash val="solid"/>
          </a:ln>
        </p:spPr>
      </p:sp>
      <p:sp>
        <p:nvSpPr>
          <p:cNvPr id="27" name="Text 24"/>
          <p:cNvSpPr/>
          <p:nvPr/>
        </p:nvSpPr>
        <p:spPr>
          <a:xfrm>
            <a:off x="1188720" y="4864608"/>
            <a:ext cx="5897880" cy="301752"/>
          </a:xfrm>
          <a:prstGeom prst="rect">
            <a:avLst/>
          </a:prstGeom>
          <a:noFill/>
          <a:ln/>
        </p:spPr>
        <p:txBody>
          <a:bodyPr wrap="square" lIns="0" tIns="0" rIns="0" bIns="0" rtlCol="0" anchor="ctr"/>
          <a:lstStyle/>
          <a:p>
            <a:pPr indent="0" marL="0">
              <a:buNone/>
            </a:pPr>
            <a:r>
              <a:rPr lang="en-US" sz="1065" dirty="0">
                <a:solidFill>
                  <a:srgbClr val="102749"/>
                </a:solidFill>
                <a:latin typeface="Aptos" pitchFamily="34" charset="0"/>
                <a:ea typeface="Aptos" pitchFamily="34" charset="-122"/>
                <a:cs typeface="Aptos" pitchFamily="34" charset="-120"/>
              </a:rPr>
              <a:t>BAs should identify exactly where the user starts, reviews, corrects, or confirms the automated step</a:t>
            </a:r>
            <a:endParaRPr lang="en-US" sz="1065" dirty="0"/>
          </a:p>
        </p:txBody>
      </p:sp>
      <p:sp>
        <p:nvSpPr>
          <p:cNvPr id="28" name="Shape 25"/>
          <p:cNvSpPr/>
          <p:nvPr/>
        </p:nvSpPr>
        <p:spPr>
          <a:xfrm>
            <a:off x="7818120" y="1828800"/>
            <a:ext cx="3584448" cy="987552"/>
          </a:xfrm>
          <a:prstGeom prst="roundRect">
            <a:avLst>
              <a:gd name="adj" fmla="val 5556"/>
            </a:avLst>
          </a:prstGeom>
          <a:solidFill>
            <a:srgbClr val="FFFFFF"/>
          </a:solidFill>
          <a:ln w="12700">
            <a:solidFill>
              <a:srgbClr val="C7D5EA"/>
            </a:solidFill>
            <a:prstDash val="solid"/>
          </a:ln>
        </p:spPr>
      </p:sp>
      <p:sp>
        <p:nvSpPr>
          <p:cNvPr id="29" name="Shape 26"/>
          <p:cNvSpPr/>
          <p:nvPr/>
        </p:nvSpPr>
        <p:spPr>
          <a:xfrm>
            <a:off x="7818120" y="1828800"/>
            <a:ext cx="3584448" cy="64008"/>
          </a:xfrm>
          <a:prstGeom prst="rect">
            <a:avLst/>
          </a:prstGeom>
          <a:solidFill>
            <a:srgbClr val="1F6FFF"/>
          </a:solidFill>
          <a:ln w="12700">
            <a:solidFill>
              <a:srgbClr val="1F6FFF">
                <a:alpha val="0"/>
              </a:srgbClr>
            </a:solidFill>
            <a:prstDash val="solid"/>
          </a:ln>
        </p:spPr>
      </p:sp>
      <p:sp>
        <p:nvSpPr>
          <p:cNvPr id="30" name="Text 27"/>
          <p:cNvSpPr/>
          <p:nvPr/>
        </p:nvSpPr>
        <p:spPr>
          <a:xfrm>
            <a:off x="7982712" y="1993392"/>
            <a:ext cx="3310128"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Best Fit</a:t>
            </a:r>
            <a:endParaRPr lang="en-US" sz="1150" dirty="0"/>
          </a:p>
        </p:txBody>
      </p:sp>
      <p:sp>
        <p:nvSpPr>
          <p:cNvPr id="31" name="Text 28"/>
          <p:cNvSpPr/>
          <p:nvPr/>
        </p:nvSpPr>
        <p:spPr>
          <a:xfrm>
            <a:off x="7982712" y="2267712"/>
            <a:ext cx="3310128" cy="457200"/>
          </a:xfrm>
          <a:prstGeom prst="rect">
            <a:avLst/>
          </a:prstGeom>
          <a:noFill/>
          <a:ln/>
        </p:spPr>
        <p:txBody>
          <a:bodyPr wrap="square" lIns="254" tIns="254" rIns="254" bIns="254" rtlCol="0" anchor="t"/>
          <a:lstStyle/>
          <a:p>
            <a:pPr indent="0" marL="0">
              <a:buNone/>
            </a:pPr>
            <a:r>
              <a:rPr lang="en-US" sz="890" dirty="0">
                <a:solidFill>
                  <a:srgbClr val="51607B"/>
                </a:solidFill>
                <a:latin typeface="Aptos" pitchFamily="34" charset="0"/>
                <a:ea typeface="Aptos" pitchFamily="34" charset="-122"/>
                <a:cs typeface="Aptos" pitchFamily="34" charset="-120"/>
              </a:rPr>
              <a:t>Desktop assistance, contact center support, guided data entry, and user-led lookups.</a:t>
            </a:r>
            <a:endParaRPr lang="en-US" sz="890" dirty="0"/>
          </a:p>
        </p:txBody>
      </p:sp>
      <p:sp>
        <p:nvSpPr>
          <p:cNvPr id="32" name="Shape 29"/>
          <p:cNvSpPr/>
          <p:nvPr/>
        </p:nvSpPr>
        <p:spPr>
          <a:xfrm>
            <a:off x="7818120" y="3108960"/>
            <a:ext cx="3584448" cy="987552"/>
          </a:xfrm>
          <a:prstGeom prst="roundRect">
            <a:avLst>
              <a:gd name="adj" fmla="val 5556"/>
            </a:avLst>
          </a:prstGeom>
          <a:solidFill>
            <a:srgbClr val="FFFFFF"/>
          </a:solidFill>
          <a:ln w="12700">
            <a:solidFill>
              <a:srgbClr val="C7D5EA"/>
            </a:solidFill>
            <a:prstDash val="solid"/>
          </a:ln>
        </p:spPr>
      </p:sp>
      <p:sp>
        <p:nvSpPr>
          <p:cNvPr id="33" name="Shape 30"/>
          <p:cNvSpPr/>
          <p:nvPr/>
        </p:nvSpPr>
        <p:spPr>
          <a:xfrm>
            <a:off x="7818120" y="3108960"/>
            <a:ext cx="3584448" cy="64008"/>
          </a:xfrm>
          <a:prstGeom prst="rect">
            <a:avLst/>
          </a:prstGeom>
          <a:solidFill>
            <a:srgbClr val="12B3A8"/>
          </a:solidFill>
          <a:ln w="12700">
            <a:solidFill>
              <a:srgbClr val="12B3A8">
                <a:alpha val="0"/>
              </a:srgbClr>
            </a:solidFill>
            <a:prstDash val="solid"/>
          </a:ln>
        </p:spPr>
      </p:sp>
      <p:sp>
        <p:nvSpPr>
          <p:cNvPr id="34" name="Text 31"/>
          <p:cNvSpPr/>
          <p:nvPr/>
        </p:nvSpPr>
        <p:spPr>
          <a:xfrm>
            <a:off x="7982712" y="3273552"/>
            <a:ext cx="3310128"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Watchouts</a:t>
            </a:r>
            <a:endParaRPr lang="en-US" sz="1150" dirty="0"/>
          </a:p>
        </p:txBody>
      </p:sp>
      <p:sp>
        <p:nvSpPr>
          <p:cNvPr id="35" name="Text 32"/>
          <p:cNvSpPr/>
          <p:nvPr/>
        </p:nvSpPr>
        <p:spPr>
          <a:xfrm>
            <a:off x="7982712" y="3547872"/>
            <a:ext cx="3310128" cy="457200"/>
          </a:xfrm>
          <a:prstGeom prst="rect">
            <a:avLst/>
          </a:prstGeom>
          <a:noFill/>
          <a:ln/>
        </p:spPr>
        <p:txBody>
          <a:bodyPr wrap="square" lIns="254" tIns="254" rIns="254" bIns="254" rtlCol="0" anchor="t"/>
          <a:lstStyle/>
          <a:p>
            <a:pPr indent="0" marL="0">
              <a:buNone/>
            </a:pPr>
            <a:r>
              <a:rPr lang="en-US" sz="890" dirty="0">
                <a:solidFill>
                  <a:srgbClr val="51607B"/>
                </a:solidFill>
                <a:latin typeface="Aptos" pitchFamily="34" charset="0"/>
                <a:ea typeface="Aptos" pitchFamily="34" charset="-122"/>
                <a:cs typeface="Aptos" pitchFamily="34" charset="-120"/>
              </a:rPr>
              <a:t>More dependency on user behavior, desktop conditions, and clear handoff between person and bot.</a:t>
            </a:r>
            <a:endParaRPr lang="en-US" sz="890" dirty="0"/>
          </a:p>
        </p:txBody>
      </p:sp>
      <p:sp>
        <p:nvSpPr>
          <p:cNvPr id="36" name="Shape 33"/>
          <p:cNvSpPr/>
          <p:nvPr/>
        </p:nvSpPr>
        <p:spPr>
          <a:xfrm>
            <a:off x="7818120" y="4389120"/>
            <a:ext cx="3584448" cy="987552"/>
          </a:xfrm>
          <a:prstGeom prst="roundRect">
            <a:avLst>
              <a:gd name="adj" fmla="val 5556"/>
            </a:avLst>
          </a:prstGeom>
          <a:solidFill>
            <a:srgbClr val="FFFFFF"/>
          </a:solidFill>
          <a:ln w="12700">
            <a:solidFill>
              <a:srgbClr val="C7D5EA"/>
            </a:solidFill>
            <a:prstDash val="solid"/>
          </a:ln>
        </p:spPr>
      </p:sp>
      <p:sp>
        <p:nvSpPr>
          <p:cNvPr id="37" name="Shape 34"/>
          <p:cNvSpPr/>
          <p:nvPr/>
        </p:nvSpPr>
        <p:spPr>
          <a:xfrm>
            <a:off x="7818120" y="4389120"/>
            <a:ext cx="3584448" cy="64008"/>
          </a:xfrm>
          <a:prstGeom prst="rect">
            <a:avLst/>
          </a:prstGeom>
          <a:solidFill>
            <a:srgbClr val="1F6FFF"/>
          </a:solidFill>
          <a:ln w="12700">
            <a:solidFill>
              <a:srgbClr val="1F6FFF">
                <a:alpha val="0"/>
              </a:srgbClr>
            </a:solidFill>
            <a:prstDash val="solid"/>
          </a:ln>
        </p:spPr>
      </p:sp>
      <p:sp>
        <p:nvSpPr>
          <p:cNvPr id="38" name="Text 35"/>
          <p:cNvSpPr/>
          <p:nvPr/>
        </p:nvSpPr>
        <p:spPr>
          <a:xfrm>
            <a:off x="7982712" y="4553712"/>
            <a:ext cx="3310128"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BA Focus</a:t>
            </a:r>
            <a:endParaRPr lang="en-US" sz="1150" dirty="0"/>
          </a:p>
        </p:txBody>
      </p:sp>
      <p:sp>
        <p:nvSpPr>
          <p:cNvPr id="39" name="Text 36"/>
          <p:cNvSpPr/>
          <p:nvPr/>
        </p:nvSpPr>
        <p:spPr>
          <a:xfrm>
            <a:off x="7982712" y="4828032"/>
            <a:ext cx="3310128" cy="457200"/>
          </a:xfrm>
          <a:prstGeom prst="rect">
            <a:avLst/>
          </a:prstGeom>
          <a:noFill/>
          <a:ln/>
        </p:spPr>
        <p:txBody>
          <a:bodyPr wrap="square" lIns="254" tIns="254" rIns="254" bIns="254" rtlCol="0" anchor="t"/>
          <a:lstStyle/>
          <a:p>
            <a:pPr indent="0" marL="0">
              <a:buNone/>
            </a:pPr>
            <a:r>
              <a:rPr lang="en-US" sz="890" dirty="0">
                <a:solidFill>
                  <a:srgbClr val="51607B"/>
                </a:solidFill>
                <a:latin typeface="Aptos" pitchFamily="34" charset="0"/>
                <a:ea typeface="Aptos" pitchFamily="34" charset="-122"/>
                <a:cs typeface="Aptos" pitchFamily="34" charset="-120"/>
              </a:rPr>
              <a:t>Map the human decision points, approval moments, and experience impact.</a:t>
            </a:r>
            <a:endParaRPr lang="en-US" sz="890" dirty="0"/>
          </a:p>
        </p:txBody>
      </p:sp>
      <p:sp>
        <p:nvSpPr>
          <p:cNvPr id="40" name="Text 37"/>
          <p:cNvSpPr/>
          <p:nvPr/>
        </p:nvSpPr>
        <p:spPr>
          <a:xfrm>
            <a:off x="658368" y="6510528"/>
            <a:ext cx="2560320" cy="164592"/>
          </a:xfrm>
          <a:prstGeom prst="rect">
            <a:avLst/>
          </a:prstGeom>
          <a:noFill/>
          <a:ln/>
        </p:spPr>
        <p:txBody>
          <a:bodyPr wrap="square" lIns="0" tIns="0" rIns="0" bIns="0" rtlCol="0" anchor="ctr"/>
          <a:lstStyle/>
          <a:p>
            <a:pPr indent="0" marL="0">
              <a:buNone/>
            </a:pPr>
            <a:r>
              <a:rPr lang="en-US" sz="850" dirty="0">
                <a:solidFill>
                  <a:srgbClr val="51607B"/>
                </a:solidFill>
                <a:latin typeface="Aptos" pitchFamily="34" charset="0"/>
                <a:ea typeface="Aptos" pitchFamily="34" charset="-122"/>
                <a:cs typeface="Aptos" pitchFamily="34" charset="-120"/>
              </a:rPr>
              <a:t>Innobot  |  Internal workshop</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F4F7FB"/>
          </a:solidFill>
          <a:ln/>
        </p:spPr>
      </p:sp>
      <p:sp>
        <p:nvSpPr>
          <p:cNvPr id="4" name="Shape 1"/>
          <p:cNvSpPr/>
          <p:nvPr/>
        </p:nvSpPr>
        <p:spPr>
          <a:xfrm>
            <a:off x="0" y="0"/>
            <a:ext cx="12191695" cy="411480"/>
          </a:xfrm>
          <a:prstGeom prst="rect">
            <a:avLst/>
          </a:prstGeom>
          <a:solidFill>
            <a:srgbClr val="0A1830"/>
          </a:solidFill>
          <a:ln/>
        </p:spPr>
      </p:sp>
      <p:sp>
        <p:nvSpPr>
          <p:cNvPr id="5" name="Shape 2"/>
          <p:cNvSpPr/>
          <p:nvPr/>
        </p:nvSpPr>
        <p:spPr>
          <a:xfrm>
            <a:off x="9509760" y="-137160"/>
            <a:ext cx="3200400" cy="2194560"/>
          </a:xfrm>
          <a:prstGeom prst="ellipse">
            <a:avLst/>
          </a:prstGeom>
          <a:solidFill>
            <a:srgbClr val="8AB8FF">
              <a:alpha val="16000"/>
            </a:srgbClr>
          </a:solidFill>
          <a:ln w="12700">
            <a:solidFill>
              <a:srgbClr val="8AB8FF">
                <a:alpha val="0"/>
              </a:srgbClr>
            </a:solidFill>
            <a:prstDash val="solid"/>
          </a:ln>
        </p:spPr>
      </p:sp>
      <p:sp>
        <p:nvSpPr>
          <p:cNvPr id="6" name="Shape 3"/>
          <p:cNvSpPr/>
          <p:nvPr/>
        </p:nvSpPr>
        <p:spPr>
          <a:xfrm>
            <a:off x="-731520" y="5394960"/>
            <a:ext cx="2560320" cy="1645920"/>
          </a:xfrm>
          <a:prstGeom prst="ellipse">
            <a:avLst/>
          </a:prstGeom>
          <a:solidFill>
            <a:srgbClr val="12B3A8">
              <a:alpha val="10000"/>
            </a:srgbClr>
          </a:solidFill>
          <a:ln w="12700">
            <a:solidFill>
              <a:srgbClr val="12B3A8">
                <a:alpha val="0"/>
              </a:srgbClr>
            </a:solidFill>
            <a:prstDash val="solid"/>
          </a:ln>
        </p:spPr>
      </p:sp>
      <p:sp>
        <p:nvSpPr>
          <p:cNvPr id="7" name="Text 4"/>
          <p:cNvSpPr/>
          <p:nvPr/>
        </p:nvSpPr>
        <p:spPr>
          <a:xfrm>
            <a:off x="658368" y="182880"/>
            <a:ext cx="2651760" cy="146304"/>
          </a:xfrm>
          <a:prstGeom prst="rect">
            <a:avLst/>
          </a:prstGeom>
          <a:noFill/>
          <a:ln/>
        </p:spPr>
        <p:txBody>
          <a:bodyPr wrap="square" lIns="0" tIns="0" rIns="0" bIns="0" rtlCol="0" anchor="ctr"/>
          <a:lstStyle/>
          <a:p>
            <a:pPr indent="0" marL="0">
              <a:buNone/>
            </a:pPr>
            <a:r>
              <a:rPr lang="en-US" sz="850" b="1" dirty="0">
                <a:solidFill>
                  <a:srgbClr val="8AB8FF"/>
                </a:solidFill>
                <a:latin typeface="Aptos" pitchFamily="34" charset="0"/>
                <a:ea typeface="Aptos" pitchFamily="34" charset="-122"/>
                <a:cs typeface="Aptos" pitchFamily="34" charset="-120"/>
              </a:rPr>
              <a:t>OPERATING MODES</a:t>
            </a:r>
            <a:endParaRPr lang="en-US" sz="850" dirty="0"/>
          </a:p>
        </p:txBody>
      </p:sp>
      <p:sp>
        <p:nvSpPr>
          <p:cNvPr id="8" name="Text 5"/>
          <p:cNvSpPr/>
          <p:nvPr/>
        </p:nvSpPr>
        <p:spPr>
          <a:xfrm>
            <a:off x="658368" y="612648"/>
            <a:ext cx="7223760" cy="411480"/>
          </a:xfrm>
          <a:prstGeom prst="rect">
            <a:avLst/>
          </a:prstGeom>
          <a:noFill/>
          <a:ln/>
        </p:spPr>
        <p:txBody>
          <a:bodyPr wrap="square" lIns="0" tIns="0" rIns="0" bIns="0" rtlCol="0" anchor="ctr"/>
          <a:lstStyle/>
          <a:p>
            <a:pPr indent="0" marL="0">
              <a:buNone/>
            </a:pPr>
            <a:r>
              <a:rPr lang="en-US" sz="2400" b="1" dirty="0">
                <a:solidFill>
                  <a:srgbClr val="102749"/>
                </a:solidFill>
                <a:latin typeface="Aptos Display" pitchFamily="34" charset="0"/>
                <a:ea typeface="Aptos Display" pitchFamily="34" charset="-122"/>
                <a:cs typeface="Aptos Display" pitchFamily="34" charset="-120"/>
              </a:rPr>
              <a:t>Unattended Bots</a:t>
            </a:r>
            <a:endParaRPr lang="en-US" sz="2400" dirty="0"/>
          </a:p>
        </p:txBody>
      </p:sp>
      <p:sp>
        <p:nvSpPr>
          <p:cNvPr id="9" name="Text 6"/>
          <p:cNvSpPr/>
          <p:nvPr/>
        </p:nvSpPr>
        <p:spPr>
          <a:xfrm>
            <a:off x="658368" y="1069848"/>
            <a:ext cx="7863840" cy="310896"/>
          </a:xfrm>
          <a:prstGeom prst="rect">
            <a:avLst/>
          </a:prstGeom>
          <a:noFill/>
          <a:ln/>
        </p:spPr>
        <p:txBody>
          <a:bodyPr wrap="square" lIns="0" tIns="0" rIns="0" bIns="0" rtlCol="0" anchor="ctr"/>
          <a:lstStyle/>
          <a:p>
            <a:pPr indent="0" marL="0">
              <a:buNone/>
            </a:pPr>
            <a:r>
              <a:rPr lang="en-US" sz="1100" dirty="0">
                <a:solidFill>
                  <a:srgbClr val="51607B"/>
                </a:solidFill>
                <a:latin typeface="Aptos" pitchFamily="34" charset="0"/>
                <a:ea typeface="Aptos" pitchFamily="34" charset="-122"/>
                <a:cs typeface="Aptos" pitchFamily="34" charset="-120"/>
              </a:rPr>
              <a:t>Unattended automation runs in the background under controlled orchestration</a:t>
            </a:r>
            <a:endParaRPr lang="en-US" sz="1100" dirty="0"/>
          </a:p>
        </p:txBody>
      </p:sp>
      <p:sp>
        <p:nvSpPr>
          <p:cNvPr id="10" name="Text 7"/>
          <p:cNvSpPr/>
          <p:nvPr/>
        </p:nvSpPr>
        <p:spPr>
          <a:xfrm>
            <a:off x="11155680" y="530352"/>
            <a:ext cx="365760" cy="201168"/>
          </a:xfrm>
          <a:prstGeom prst="rect">
            <a:avLst/>
          </a:prstGeom>
          <a:noFill/>
          <a:ln/>
        </p:spPr>
        <p:txBody>
          <a:bodyPr wrap="square" lIns="0" tIns="0" rIns="0" bIns="0" rtlCol="0" anchor="ctr"/>
          <a:lstStyle/>
          <a:p>
            <a:pPr algn="r" indent="0" marL="0">
              <a:buNone/>
            </a:pPr>
            <a:r>
              <a:rPr lang="en-US" sz="950" dirty="0">
                <a:solidFill>
                  <a:srgbClr val="51607B"/>
                </a:solidFill>
                <a:latin typeface="Consolas" pitchFamily="34" charset="0"/>
                <a:ea typeface="Consolas" pitchFamily="34" charset="-122"/>
                <a:cs typeface="Consolas" pitchFamily="34" charset="-120"/>
              </a:rPr>
              <a:t>07</a:t>
            </a:r>
            <a:endParaRPr lang="en-US" sz="950" dirty="0"/>
          </a:p>
        </p:txBody>
      </p:sp>
      <p:sp>
        <p:nvSpPr>
          <p:cNvPr id="11" name="Shape 8"/>
          <p:cNvSpPr/>
          <p:nvPr/>
        </p:nvSpPr>
        <p:spPr>
          <a:xfrm>
            <a:off x="8366760" y="676656"/>
            <a:ext cx="3154680" cy="822960"/>
          </a:xfrm>
          <a:prstGeom prst="roundRect">
            <a:avLst>
              <a:gd name="adj" fmla="val 8889"/>
            </a:avLst>
          </a:prstGeom>
          <a:solidFill>
            <a:srgbClr val="FFFFFF"/>
          </a:solidFill>
          <a:ln w="12700">
            <a:solidFill>
              <a:srgbClr val="1F6FFF">
                <a:alpha val="0"/>
              </a:srgbClr>
            </a:solidFill>
            <a:prstDash val="solid"/>
          </a:ln>
        </p:spPr>
      </p:sp>
      <p:sp>
        <p:nvSpPr>
          <p:cNvPr id="12" name="Shape 9"/>
          <p:cNvSpPr/>
          <p:nvPr/>
        </p:nvSpPr>
        <p:spPr>
          <a:xfrm>
            <a:off x="8366760" y="676656"/>
            <a:ext cx="73152" cy="822960"/>
          </a:xfrm>
          <a:prstGeom prst="rect">
            <a:avLst/>
          </a:prstGeom>
          <a:solidFill>
            <a:srgbClr val="1F6FFF"/>
          </a:solidFill>
          <a:ln w="12700">
            <a:solidFill>
              <a:srgbClr val="1F6FFF">
                <a:alpha val="0"/>
              </a:srgbClr>
            </a:solidFill>
            <a:prstDash val="solid"/>
          </a:ln>
        </p:spPr>
      </p:sp>
      <p:sp>
        <p:nvSpPr>
          <p:cNvPr id="13" name="Text 10"/>
          <p:cNvSpPr/>
          <p:nvPr/>
        </p:nvSpPr>
        <p:spPr>
          <a:xfrm>
            <a:off x="8531352" y="786384"/>
            <a:ext cx="1097280" cy="164592"/>
          </a:xfrm>
          <a:prstGeom prst="rect">
            <a:avLst/>
          </a:prstGeom>
          <a:noFill/>
          <a:ln/>
        </p:spPr>
        <p:txBody>
          <a:bodyPr wrap="square" lIns="0" tIns="0" rIns="0" bIns="0" rtlCol="0" anchor="ctr"/>
          <a:lstStyle/>
          <a:p>
            <a:pPr indent="0" marL="0">
              <a:buNone/>
            </a:pPr>
            <a:r>
              <a:rPr lang="en-US" sz="800" b="1" dirty="0">
                <a:solidFill>
                  <a:srgbClr val="1F6FFF"/>
                </a:solidFill>
                <a:latin typeface="Aptos" pitchFamily="34" charset="0"/>
                <a:ea typeface="Aptos" pitchFamily="34" charset="-122"/>
                <a:cs typeface="Aptos" pitchFamily="34" charset="-120"/>
              </a:rPr>
              <a:t>Key takeaway</a:t>
            </a:r>
            <a:endParaRPr lang="en-US" sz="800" dirty="0"/>
          </a:p>
        </p:txBody>
      </p:sp>
      <p:sp>
        <p:nvSpPr>
          <p:cNvPr id="14" name="Text 11"/>
          <p:cNvSpPr/>
          <p:nvPr/>
        </p:nvSpPr>
        <p:spPr>
          <a:xfrm>
            <a:off x="8531352" y="932688"/>
            <a:ext cx="2880360" cy="521208"/>
          </a:xfrm>
          <a:prstGeom prst="rect">
            <a:avLst/>
          </a:prstGeom>
          <a:noFill/>
          <a:ln/>
        </p:spPr>
        <p:txBody>
          <a:bodyPr wrap="square" lIns="254" tIns="254" rIns="254" bIns="254" rtlCol="0" anchor="ctr"/>
          <a:lstStyle/>
          <a:p>
            <a:pPr indent="0" marL="0">
              <a:buNone/>
            </a:pPr>
            <a:r>
              <a:rPr lang="en-US" sz="920" dirty="0">
                <a:solidFill>
                  <a:srgbClr val="102749"/>
                </a:solidFill>
                <a:latin typeface="Aptos" pitchFamily="34" charset="0"/>
                <a:ea typeface="Aptos" pitchFamily="34" charset="-122"/>
                <a:cs typeface="Aptos" pitchFamily="34" charset="-120"/>
              </a:rPr>
              <a:t>Unattended bots behave like a managed service: they start through schedules or events, process workload at scale, and report results without requiring a user to sit with them.</a:t>
            </a:r>
            <a:endParaRPr lang="en-US" sz="920" dirty="0"/>
          </a:p>
        </p:txBody>
      </p:sp>
      <p:sp>
        <p:nvSpPr>
          <p:cNvPr id="15" name="Shape 12"/>
          <p:cNvSpPr/>
          <p:nvPr/>
        </p:nvSpPr>
        <p:spPr>
          <a:xfrm>
            <a:off x="749808" y="1755648"/>
            <a:ext cx="6656832" cy="3794760"/>
          </a:xfrm>
          <a:prstGeom prst="roundRect">
            <a:avLst>
              <a:gd name="adj" fmla="val 1205"/>
            </a:avLst>
          </a:prstGeom>
          <a:solidFill>
            <a:srgbClr val="FFFFFF"/>
          </a:solidFill>
          <a:ln w="12700">
            <a:solidFill>
              <a:srgbClr val="C7D5EA"/>
            </a:solidFill>
            <a:prstDash val="solid"/>
          </a:ln>
        </p:spPr>
      </p:sp>
      <p:sp>
        <p:nvSpPr>
          <p:cNvPr id="16" name="Shape 13"/>
          <p:cNvSpPr/>
          <p:nvPr/>
        </p:nvSpPr>
        <p:spPr>
          <a:xfrm>
            <a:off x="896112" y="1965960"/>
            <a:ext cx="1005840" cy="640080"/>
          </a:xfrm>
          <a:prstGeom prst="flowChartTerminator">
            <a:avLst/>
          </a:prstGeom>
          <a:solidFill>
            <a:srgbClr val="EEF4FB"/>
          </a:solidFill>
          <a:ln w="12700">
            <a:solidFill>
              <a:srgbClr val="1F6FFF"/>
            </a:solidFill>
            <a:prstDash val="solid"/>
          </a:ln>
        </p:spPr>
      </p:sp>
      <p:sp>
        <p:nvSpPr>
          <p:cNvPr id="17" name="Text 14"/>
          <p:cNvSpPr/>
          <p:nvPr/>
        </p:nvSpPr>
        <p:spPr>
          <a:xfrm>
            <a:off x="1024128" y="2176272"/>
            <a:ext cx="731520" cy="164592"/>
          </a:xfrm>
          <a:prstGeom prst="rect">
            <a:avLst/>
          </a:prstGeom>
          <a:noFill/>
          <a:ln/>
        </p:spPr>
        <p:txBody>
          <a:bodyPr wrap="square" lIns="0" tIns="0" rIns="0" bIns="0" rtlCol="0" anchor="ctr"/>
          <a:lstStyle/>
          <a:p>
            <a:pPr algn="ctr" indent="0" marL="0">
              <a:buNone/>
            </a:pPr>
            <a:r>
              <a:rPr lang="en-US" sz="960" b="1" dirty="0">
                <a:solidFill>
                  <a:srgbClr val="102749"/>
                </a:solidFill>
                <a:latin typeface="Aptos" pitchFamily="34" charset="0"/>
                <a:ea typeface="Aptos" pitchFamily="34" charset="-122"/>
                <a:cs typeface="Aptos" pitchFamily="34" charset="-120"/>
              </a:rPr>
              <a:t>Unattended</a:t>
            </a:r>
            <a:endParaRPr lang="en-US" sz="960" dirty="0"/>
          </a:p>
        </p:txBody>
      </p:sp>
      <p:sp>
        <p:nvSpPr>
          <p:cNvPr id="18" name="Shape 15"/>
          <p:cNvSpPr/>
          <p:nvPr/>
        </p:nvSpPr>
        <p:spPr>
          <a:xfrm>
            <a:off x="1024128" y="2816352"/>
            <a:ext cx="100584" cy="100584"/>
          </a:xfrm>
          <a:prstGeom prst="ellipse">
            <a:avLst/>
          </a:prstGeom>
          <a:solidFill>
            <a:srgbClr val="1F6FFF"/>
          </a:solidFill>
          <a:ln w="12700">
            <a:solidFill>
              <a:srgbClr val="1F6FFF">
                <a:alpha val="0"/>
              </a:srgbClr>
            </a:solidFill>
            <a:prstDash val="solid"/>
          </a:ln>
        </p:spPr>
      </p:sp>
      <p:sp>
        <p:nvSpPr>
          <p:cNvPr id="19" name="Text 16"/>
          <p:cNvSpPr/>
          <p:nvPr/>
        </p:nvSpPr>
        <p:spPr>
          <a:xfrm>
            <a:off x="1188720" y="2743200"/>
            <a:ext cx="5897880" cy="301752"/>
          </a:xfrm>
          <a:prstGeom prst="rect">
            <a:avLst/>
          </a:prstGeom>
          <a:noFill/>
          <a:ln/>
        </p:spPr>
        <p:txBody>
          <a:bodyPr wrap="square" lIns="0" tIns="0" rIns="0" bIns="0" rtlCol="0" anchor="ctr"/>
          <a:lstStyle/>
          <a:p>
            <a:pPr indent="0" marL="0">
              <a:buNone/>
            </a:pPr>
            <a:r>
              <a:rPr lang="en-US" sz="1065" dirty="0">
                <a:solidFill>
                  <a:srgbClr val="102749"/>
                </a:solidFill>
                <a:latin typeface="Aptos" pitchFamily="34" charset="0"/>
                <a:ea typeface="Aptos" pitchFamily="34" charset="-122"/>
                <a:cs typeface="Aptos" pitchFamily="34" charset="-120"/>
              </a:rPr>
              <a:t>The run is usually started by an orchestrator, schedule, queue event, or upstream workflow rather than a desktop user</a:t>
            </a:r>
            <a:endParaRPr lang="en-US" sz="1065" dirty="0"/>
          </a:p>
        </p:txBody>
      </p:sp>
      <p:sp>
        <p:nvSpPr>
          <p:cNvPr id="20" name="Shape 17"/>
          <p:cNvSpPr/>
          <p:nvPr/>
        </p:nvSpPr>
        <p:spPr>
          <a:xfrm>
            <a:off x="1024128" y="3346704"/>
            <a:ext cx="100584" cy="100584"/>
          </a:xfrm>
          <a:prstGeom prst="ellipse">
            <a:avLst/>
          </a:prstGeom>
          <a:solidFill>
            <a:srgbClr val="1F6FFF"/>
          </a:solidFill>
          <a:ln w="12700">
            <a:solidFill>
              <a:srgbClr val="1F6FFF">
                <a:alpha val="0"/>
              </a:srgbClr>
            </a:solidFill>
            <a:prstDash val="solid"/>
          </a:ln>
        </p:spPr>
      </p:sp>
      <p:sp>
        <p:nvSpPr>
          <p:cNvPr id="21" name="Text 18"/>
          <p:cNvSpPr/>
          <p:nvPr/>
        </p:nvSpPr>
        <p:spPr>
          <a:xfrm>
            <a:off x="1188720" y="3273552"/>
            <a:ext cx="5897880" cy="301752"/>
          </a:xfrm>
          <a:prstGeom prst="rect">
            <a:avLst/>
          </a:prstGeom>
          <a:noFill/>
          <a:ln/>
        </p:spPr>
        <p:txBody>
          <a:bodyPr wrap="square" lIns="0" tIns="0" rIns="0" bIns="0" rtlCol="0" anchor="ctr"/>
          <a:lstStyle/>
          <a:p>
            <a:pPr indent="0" marL="0">
              <a:buNone/>
            </a:pPr>
            <a:r>
              <a:rPr lang="en-US" sz="1065" dirty="0">
                <a:solidFill>
                  <a:srgbClr val="102749"/>
                </a:solidFill>
                <a:latin typeface="Aptos" pitchFamily="34" charset="0"/>
                <a:ea typeface="Aptos" pitchFamily="34" charset="-122"/>
                <a:cs typeface="Aptos" pitchFamily="34" charset="-120"/>
              </a:rPr>
              <a:t>Unattended design is suited to repetitive high-volume work where transactions can be processed consistently and monitored centrally</a:t>
            </a:r>
            <a:endParaRPr lang="en-US" sz="1065" dirty="0"/>
          </a:p>
        </p:txBody>
      </p:sp>
      <p:sp>
        <p:nvSpPr>
          <p:cNvPr id="22" name="Shape 19"/>
          <p:cNvSpPr/>
          <p:nvPr/>
        </p:nvSpPr>
        <p:spPr>
          <a:xfrm>
            <a:off x="1024128" y="3877056"/>
            <a:ext cx="100584" cy="100584"/>
          </a:xfrm>
          <a:prstGeom prst="ellipse">
            <a:avLst/>
          </a:prstGeom>
          <a:solidFill>
            <a:srgbClr val="1F6FFF"/>
          </a:solidFill>
          <a:ln w="12700">
            <a:solidFill>
              <a:srgbClr val="1F6FFF">
                <a:alpha val="0"/>
              </a:srgbClr>
            </a:solidFill>
            <a:prstDash val="solid"/>
          </a:ln>
        </p:spPr>
      </p:sp>
      <p:sp>
        <p:nvSpPr>
          <p:cNvPr id="23" name="Text 20"/>
          <p:cNvSpPr/>
          <p:nvPr/>
        </p:nvSpPr>
        <p:spPr>
          <a:xfrm>
            <a:off x="1188720" y="3803904"/>
            <a:ext cx="5897880" cy="301752"/>
          </a:xfrm>
          <a:prstGeom prst="rect">
            <a:avLst/>
          </a:prstGeom>
          <a:noFill/>
          <a:ln/>
        </p:spPr>
        <p:txBody>
          <a:bodyPr wrap="square" lIns="0" tIns="0" rIns="0" bIns="0" rtlCol="0" anchor="ctr"/>
          <a:lstStyle/>
          <a:p>
            <a:pPr indent="0" marL="0">
              <a:buNone/>
            </a:pPr>
            <a:r>
              <a:rPr lang="en-US" sz="1065" dirty="0">
                <a:solidFill>
                  <a:srgbClr val="102749"/>
                </a:solidFill>
                <a:latin typeface="Aptos" pitchFamily="34" charset="0"/>
                <a:ea typeface="Aptos" pitchFamily="34" charset="-122"/>
                <a:cs typeface="Aptos" pitchFamily="34" charset="-120"/>
              </a:rPr>
              <a:t>The control model becomes critical: credentials, logging, queue state, retries, alerts, and reporting all need to be explicit</a:t>
            </a:r>
            <a:endParaRPr lang="en-US" sz="1065" dirty="0"/>
          </a:p>
        </p:txBody>
      </p:sp>
      <p:sp>
        <p:nvSpPr>
          <p:cNvPr id="24" name="Shape 21"/>
          <p:cNvSpPr/>
          <p:nvPr/>
        </p:nvSpPr>
        <p:spPr>
          <a:xfrm>
            <a:off x="1024128" y="4407408"/>
            <a:ext cx="100584" cy="100584"/>
          </a:xfrm>
          <a:prstGeom prst="ellipse">
            <a:avLst/>
          </a:prstGeom>
          <a:solidFill>
            <a:srgbClr val="1F6FFF"/>
          </a:solidFill>
          <a:ln w="12700">
            <a:solidFill>
              <a:srgbClr val="1F6FFF">
                <a:alpha val="0"/>
              </a:srgbClr>
            </a:solidFill>
            <a:prstDash val="solid"/>
          </a:ln>
        </p:spPr>
      </p:sp>
      <p:sp>
        <p:nvSpPr>
          <p:cNvPr id="25" name="Text 22"/>
          <p:cNvSpPr/>
          <p:nvPr/>
        </p:nvSpPr>
        <p:spPr>
          <a:xfrm>
            <a:off x="1188720" y="4334256"/>
            <a:ext cx="5897880" cy="301752"/>
          </a:xfrm>
          <a:prstGeom prst="rect">
            <a:avLst/>
          </a:prstGeom>
          <a:noFill/>
          <a:ln/>
        </p:spPr>
        <p:txBody>
          <a:bodyPr wrap="square" lIns="0" tIns="0" rIns="0" bIns="0" rtlCol="0" anchor="ctr"/>
          <a:lstStyle/>
          <a:p>
            <a:pPr indent="0" marL="0">
              <a:buNone/>
            </a:pPr>
            <a:r>
              <a:rPr lang="en-US" sz="1065" dirty="0">
                <a:solidFill>
                  <a:srgbClr val="102749"/>
                </a:solidFill>
                <a:latin typeface="Aptos" pitchFamily="34" charset="0"/>
                <a:ea typeface="Aptos" pitchFamily="34" charset="-122"/>
                <a:cs typeface="Aptos" pitchFamily="34" charset="-120"/>
              </a:rPr>
              <a:t>Our Dispatcher, Availity Performer, and ECW Performer storyline is primarily an unattended pattern</a:t>
            </a:r>
            <a:endParaRPr lang="en-US" sz="1065" dirty="0"/>
          </a:p>
        </p:txBody>
      </p:sp>
      <p:sp>
        <p:nvSpPr>
          <p:cNvPr id="26" name="Shape 23"/>
          <p:cNvSpPr/>
          <p:nvPr/>
        </p:nvSpPr>
        <p:spPr>
          <a:xfrm>
            <a:off x="1024128" y="4937760"/>
            <a:ext cx="100584" cy="100584"/>
          </a:xfrm>
          <a:prstGeom prst="ellipse">
            <a:avLst/>
          </a:prstGeom>
          <a:solidFill>
            <a:srgbClr val="1F6FFF"/>
          </a:solidFill>
          <a:ln w="12700">
            <a:solidFill>
              <a:srgbClr val="1F6FFF">
                <a:alpha val="0"/>
              </a:srgbClr>
            </a:solidFill>
            <a:prstDash val="solid"/>
          </a:ln>
        </p:spPr>
      </p:sp>
      <p:sp>
        <p:nvSpPr>
          <p:cNvPr id="27" name="Text 24"/>
          <p:cNvSpPr/>
          <p:nvPr/>
        </p:nvSpPr>
        <p:spPr>
          <a:xfrm>
            <a:off x="1188720" y="4864608"/>
            <a:ext cx="5897880" cy="301752"/>
          </a:xfrm>
          <a:prstGeom prst="rect">
            <a:avLst/>
          </a:prstGeom>
          <a:noFill/>
          <a:ln/>
        </p:spPr>
        <p:txBody>
          <a:bodyPr wrap="square" lIns="0" tIns="0" rIns="0" bIns="0" rtlCol="0" anchor="ctr"/>
          <a:lstStyle/>
          <a:p>
            <a:pPr indent="0" marL="0">
              <a:buNone/>
            </a:pPr>
            <a:r>
              <a:rPr lang="en-US" sz="1065" dirty="0">
                <a:solidFill>
                  <a:srgbClr val="102749"/>
                </a:solidFill>
                <a:latin typeface="Aptos" pitchFamily="34" charset="0"/>
                <a:ea typeface="Aptos" pitchFamily="34" charset="-122"/>
                <a:cs typeface="Aptos" pitchFamily="34" charset="-120"/>
              </a:rPr>
              <a:t>BAs should focus on work intake, business rules, failure routing, and measurable outputs instead of user experience alone</a:t>
            </a:r>
            <a:endParaRPr lang="en-US" sz="1065" dirty="0"/>
          </a:p>
        </p:txBody>
      </p:sp>
      <p:sp>
        <p:nvSpPr>
          <p:cNvPr id="28" name="Shape 25"/>
          <p:cNvSpPr/>
          <p:nvPr/>
        </p:nvSpPr>
        <p:spPr>
          <a:xfrm>
            <a:off x="7818120" y="1828800"/>
            <a:ext cx="3584448" cy="987552"/>
          </a:xfrm>
          <a:prstGeom prst="roundRect">
            <a:avLst>
              <a:gd name="adj" fmla="val 5556"/>
            </a:avLst>
          </a:prstGeom>
          <a:solidFill>
            <a:srgbClr val="FFFFFF"/>
          </a:solidFill>
          <a:ln w="12700">
            <a:solidFill>
              <a:srgbClr val="C7D5EA"/>
            </a:solidFill>
            <a:prstDash val="solid"/>
          </a:ln>
        </p:spPr>
      </p:sp>
      <p:sp>
        <p:nvSpPr>
          <p:cNvPr id="29" name="Shape 26"/>
          <p:cNvSpPr/>
          <p:nvPr/>
        </p:nvSpPr>
        <p:spPr>
          <a:xfrm>
            <a:off x="7818120" y="1828800"/>
            <a:ext cx="3584448" cy="64008"/>
          </a:xfrm>
          <a:prstGeom prst="rect">
            <a:avLst/>
          </a:prstGeom>
          <a:solidFill>
            <a:srgbClr val="1F6FFF"/>
          </a:solidFill>
          <a:ln w="12700">
            <a:solidFill>
              <a:srgbClr val="1F6FFF">
                <a:alpha val="0"/>
              </a:srgbClr>
            </a:solidFill>
            <a:prstDash val="solid"/>
          </a:ln>
        </p:spPr>
      </p:sp>
      <p:sp>
        <p:nvSpPr>
          <p:cNvPr id="30" name="Text 27"/>
          <p:cNvSpPr/>
          <p:nvPr/>
        </p:nvSpPr>
        <p:spPr>
          <a:xfrm>
            <a:off x="7982712" y="1993392"/>
            <a:ext cx="3310128"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Best Fit</a:t>
            </a:r>
            <a:endParaRPr lang="en-US" sz="1150" dirty="0"/>
          </a:p>
        </p:txBody>
      </p:sp>
      <p:sp>
        <p:nvSpPr>
          <p:cNvPr id="31" name="Text 28"/>
          <p:cNvSpPr/>
          <p:nvPr/>
        </p:nvSpPr>
        <p:spPr>
          <a:xfrm>
            <a:off x="7982712" y="2267712"/>
            <a:ext cx="3310128" cy="457200"/>
          </a:xfrm>
          <a:prstGeom prst="rect">
            <a:avLst/>
          </a:prstGeom>
          <a:noFill/>
          <a:ln/>
        </p:spPr>
        <p:txBody>
          <a:bodyPr wrap="square" lIns="254" tIns="254" rIns="254" bIns="254" rtlCol="0" anchor="t"/>
          <a:lstStyle/>
          <a:p>
            <a:pPr indent="0" marL="0">
              <a:buNone/>
            </a:pPr>
            <a:r>
              <a:rPr lang="en-US" sz="890" dirty="0">
                <a:solidFill>
                  <a:srgbClr val="51607B"/>
                </a:solidFill>
                <a:latin typeface="Aptos" pitchFamily="34" charset="0"/>
                <a:ea typeface="Aptos" pitchFamily="34" charset="-122"/>
                <a:cs typeface="Aptos" pitchFamily="34" charset="-120"/>
              </a:rPr>
              <a:t>Batch work, back-office case handling, queue processing, and scheduled data movement.</a:t>
            </a:r>
            <a:endParaRPr lang="en-US" sz="890" dirty="0"/>
          </a:p>
        </p:txBody>
      </p:sp>
      <p:sp>
        <p:nvSpPr>
          <p:cNvPr id="32" name="Shape 29"/>
          <p:cNvSpPr/>
          <p:nvPr/>
        </p:nvSpPr>
        <p:spPr>
          <a:xfrm>
            <a:off x="7818120" y="3108960"/>
            <a:ext cx="3584448" cy="987552"/>
          </a:xfrm>
          <a:prstGeom prst="roundRect">
            <a:avLst>
              <a:gd name="adj" fmla="val 5556"/>
            </a:avLst>
          </a:prstGeom>
          <a:solidFill>
            <a:srgbClr val="FFFFFF"/>
          </a:solidFill>
          <a:ln w="12700">
            <a:solidFill>
              <a:srgbClr val="C7D5EA"/>
            </a:solidFill>
            <a:prstDash val="solid"/>
          </a:ln>
        </p:spPr>
      </p:sp>
      <p:sp>
        <p:nvSpPr>
          <p:cNvPr id="33" name="Shape 30"/>
          <p:cNvSpPr/>
          <p:nvPr/>
        </p:nvSpPr>
        <p:spPr>
          <a:xfrm>
            <a:off x="7818120" y="3108960"/>
            <a:ext cx="3584448" cy="64008"/>
          </a:xfrm>
          <a:prstGeom prst="rect">
            <a:avLst/>
          </a:prstGeom>
          <a:solidFill>
            <a:srgbClr val="12B3A8"/>
          </a:solidFill>
          <a:ln w="12700">
            <a:solidFill>
              <a:srgbClr val="12B3A8">
                <a:alpha val="0"/>
              </a:srgbClr>
            </a:solidFill>
            <a:prstDash val="solid"/>
          </a:ln>
        </p:spPr>
      </p:sp>
      <p:sp>
        <p:nvSpPr>
          <p:cNvPr id="34" name="Text 31"/>
          <p:cNvSpPr/>
          <p:nvPr/>
        </p:nvSpPr>
        <p:spPr>
          <a:xfrm>
            <a:off x="7982712" y="3273552"/>
            <a:ext cx="3310128"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Strength</a:t>
            </a:r>
            <a:endParaRPr lang="en-US" sz="1150" dirty="0"/>
          </a:p>
        </p:txBody>
      </p:sp>
      <p:sp>
        <p:nvSpPr>
          <p:cNvPr id="35" name="Text 32"/>
          <p:cNvSpPr/>
          <p:nvPr/>
        </p:nvSpPr>
        <p:spPr>
          <a:xfrm>
            <a:off x="7982712" y="3547872"/>
            <a:ext cx="3310128" cy="457200"/>
          </a:xfrm>
          <a:prstGeom prst="rect">
            <a:avLst/>
          </a:prstGeom>
          <a:noFill/>
          <a:ln/>
        </p:spPr>
        <p:txBody>
          <a:bodyPr wrap="square" lIns="254" tIns="254" rIns="254" bIns="254" rtlCol="0" anchor="t"/>
          <a:lstStyle/>
          <a:p>
            <a:pPr indent="0" marL="0">
              <a:buNone/>
            </a:pPr>
            <a:r>
              <a:rPr lang="en-US" sz="890" dirty="0">
                <a:solidFill>
                  <a:srgbClr val="51607B"/>
                </a:solidFill>
                <a:latin typeface="Aptos" pitchFamily="34" charset="0"/>
                <a:ea typeface="Aptos" pitchFamily="34" charset="-122"/>
                <a:cs typeface="Aptos" pitchFamily="34" charset="-120"/>
              </a:rPr>
              <a:t>Higher throughput, central visibility, consistent execution, and better support for transaction tracking.</a:t>
            </a:r>
            <a:endParaRPr lang="en-US" sz="890" dirty="0"/>
          </a:p>
        </p:txBody>
      </p:sp>
      <p:sp>
        <p:nvSpPr>
          <p:cNvPr id="36" name="Shape 33"/>
          <p:cNvSpPr/>
          <p:nvPr/>
        </p:nvSpPr>
        <p:spPr>
          <a:xfrm>
            <a:off x="7818120" y="4389120"/>
            <a:ext cx="3584448" cy="987552"/>
          </a:xfrm>
          <a:prstGeom prst="roundRect">
            <a:avLst>
              <a:gd name="adj" fmla="val 5556"/>
            </a:avLst>
          </a:prstGeom>
          <a:solidFill>
            <a:srgbClr val="FFFFFF"/>
          </a:solidFill>
          <a:ln w="12700">
            <a:solidFill>
              <a:srgbClr val="C7D5EA"/>
            </a:solidFill>
            <a:prstDash val="solid"/>
          </a:ln>
        </p:spPr>
      </p:sp>
      <p:sp>
        <p:nvSpPr>
          <p:cNvPr id="37" name="Shape 34"/>
          <p:cNvSpPr/>
          <p:nvPr/>
        </p:nvSpPr>
        <p:spPr>
          <a:xfrm>
            <a:off x="7818120" y="4389120"/>
            <a:ext cx="3584448" cy="64008"/>
          </a:xfrm>
          <a:prstGeom prst="rect">
            <a:avLst/>
          </a:prstGeom>
          <a:solidFill>
            <a:srgbClr val="1F6FFF"/>
          </a:solidFill>
          <a:ln w="12700">
            <a:solidFill>
              <a:srgbClr val="1F6FFF">
                <a:alpha val="0"/>
              </a:srgbClr>
            </a:solidFill>
            <a:prstDash val="solid"/>
          </a:ln>
        </p:spPr>
      </p:sp>
      <p:sp>
        <p:nvSpPr>
          <p:cNvPr id="38" name="Text 35"/>
          <p:cNvSpPr/>
          <p:nvPr/>
        </p:nvSpPr>
        <p:spPr>
          <a:xfrm>
            <a:off x="7982712" y="4553712"/>
            <a:ext cx="3310128"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BA Focus</a:t>
            </a:r>
            <a:endParaRPr lang="en-US" sz="1150" dirty="0"/>
          </a:p>
        </p:txBody>
      </p:sp>
      <p:sp>
        <p:nvSpPr>
          <p:cNvPr id="39" name="Text 36"/>
          <p:cNvSpPr/>
          <p:nvPr/>
        </p:nvSpPr>
        <p:spPr>
          <a:xfrm>
            <a:off x="7982712" y="4828032"/>
            <a:ext cx="3310128" cy="457200"/>
          </a:xfrm>
          <a:prstGeom prst="rect">
            <a:avLst/>
          </a:prstGeom>
          <a:noFill/>
          <a:ln/>
        </p:spPr>
        <p:txBody>
          <a:bodyPr wrap="square" lIns="254" tIns="254" rIns="254" bIns="254" rtlCol="0" anchor="t"/>
          <a:lstStyle/>
          <a:p>
            <a:pPr indent="0" marL="0">
              <a:buNone/>
            </a:pPr>
            <a:r>
              <a:rPr lang="en-US" sz="890" dirty="0">
                <a:solidFill>
                  <a:srgbClr val="51607B"/>
                </a:solidFill>
                <a:latin typeface="Aptos" pitchFamily="34" charset="0"/>
                <a:ea typeface="Aptos" pitchFamily="34" charset="-122"/>
                <a:cs typeface="Aptos" pitchFamily="34" charset="-120"/>
              </a:rPr>
              <a:t>Clarify inputs, transaction boundaries, expected outputs, and exception recovery paths.</a:t>
            </a:r>
            <a:endParaRPr lang="en-US" sz="890" dirty="0"/>
          </a:p>
        </p:txBody>
      </p:sp>
      <p:sp>
        <p:nvSpPr>
          <p:cNvPr id="40" name="Text 37"/>
          <p:cNvSpPr/>
          <p:nvPr/>
        </p:nvSpPr>
        <p:spPr>
          <a:xfrm>
            <a:off x="658368" y="6510528"/>
            <a:ext cx="2560320" cy="164592"/>
          </a:xfrm>
          <a:prstGeom prst="rect">
            <a:avLst/>
          </a:prstGeom>
          <a:noFill/>
          <a:ln/>
        </p:spPr>
        <p:txBody>
          <a:bodyPr wrap="square" lIns="0" tIns="0" rIns="0" bIns="0" rtlCol="0" anchor="ctr"/>
          <a:lstStyle/>
          <a:p>
            <a:pPr indent="0" marL="0">
              <a:buNone/>
            </a:pPr>
            <a:r>
              <a:rPr lang="en-US" sz="850" dirty="0">
                <a:solidFill>
                  <a:srgbClr val="51607B"/>
                </a:solidFill>
                <a:latin typeface="Aptos" pitchFamily="34" charset="0"/>
                <a:ea typeface="Aptos" pitchFamily="34" charset="-122"/>
                <a:cs typeface="Aptos" pitchFamily="34" charset="-120"/>
              </a:rPr>
              <a:t>Innobot  |  Internal workshop</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F4F7FB"/>
          </a:solidFill>
          <a:ln/>
        </p:spPr>
      </p:sp>
      <p:sp>
        <p:nvSpPr>
          <p:cNvPr id="4" name="Shape 1"/>
          <p:cNvSpPr/>
          <p:nvPr/>
        </p:nvSpPr>
        <p:spPr>
          <a:xfrm>
            <a:off x="0" y="0"/>
            <a:ext cx="12191695" cy="411480"/>
          </a:xfrm>
          <a:prstGeom prst="rect">
            <a:avLst/>
          </a:prstGeom>
          <a:solidFill>
            <a:srgbClr val="0A1830"/>
          </a:solidFill>
          <a:ln/>
        </p:spPr>
      </p:sp>
      <p:sp>
        <p:nvSpPr>
          <p:cNvPr id="5" name="Shape 2"/>
          <p:cNvSpPr/>
          <p:nvPr/>
        </p:nvSpPr>
        <p:spPr>
          <a:xfrm>
            <a:off x="9509760" y="-137160"/>
            <a:ext cx="3200400" cy="2194560"/>
          </a:xfrm>
          <a:prstGeom prst="ellipse">
            <a:avLst/>
          </a:prstGeom>
          <a:solidFill>
            <a:srgbClr val="8AB8FF">
              <a:alpha val="16000"/>
            </a:srgbClr>
          </a:solidFill>
          <a:ln w="12700">
            <a:solidFill>
              <a:srgbClr val="8AB8FF">
                <a:alpha val="0"/>
              </a:srgbClr>
            </a:solidFill>
            <a:prstDash val="solid"/>
          </a:ln>
        </p:spPr>
      </p:sp>
      <p:sp>
        <p:nvSpPr>
          <p:cNvPr id="6" name="Shape 3"/>
          <p:cNvSpPr/>
          <p:nvPr/>
        </p:nvSpPr>
        <p:spPr>
          <a:xfrm>
            <a:off x="-731520" y="5394960"/>
            <a:ext cx="2560320" cy="1645920"/>
          </a:xfrm>
          <a:prstGeom prst="ellipse">
            <a:avLst/>
          </a:prstGeom>
          <a:solidFill>
            <a:srgbClr val="12B3A8">
              <a:alpha val="10000"/>
            </a:srgbClr>
          </a:solidFill>
          <a:ln w="12700">
            <a:solidFill>
              <a:srgbClr val="12B3A8">
                <a:alpha val="0"/>
              </a:srgbClr>
            </a:solidFill>
            <a:prstDash val="solid"/>
          </a:ln>
        </p:spPr>
      </p:sp>
      <p:sp>
        <p:nvSpPr>
          <p:cNvPr id="7" name="Text 4"/>
          <p:cNvSpPr/>
          <p:nvPr/>
        </p:nvSpPr>
        <p:spPr>
          <a:xfrm>
            <a:off x="658368" y="182880"/>
            <a:ext cx="2651760" cy="146304"/>
          </a:xfrm>
          <a:prstGeom prst="rect">
            <a:avLst/>
          </a:prstGeom>
          <a:noFill/>
          <a:ln/>
        </p:spPr>
        <p:txBody>
          <a:bodyPr wrap="square" lIns="0" tIns="0" rIns="0" bIns="0" rtlCol="0" anchor="ctr"/>
          <a:lstStyle/>
          <a:p>
            <a:pPr indent="0" marL="0">
              <a:buNone/>
            </a:pPr>
            <a:r>
              <a:rPr lang="en-US" sz="850" b="1" dirty="0">
                <a:solidFill>
                  <a:srgbClr val="8AB8FF"/>
                </a:solidFill>
                <a:latin typeface="Aptos" pitchFamily="34" charset="0"/>
                <a:ea typeface="Aptos" pitchFamily="34" charset="-122"/>
                <a:cs typeface="Aptos" pitchFamily="34" charset="-120"/>
              </a:rPr>
              <a:t>OPERATING MODES</a:t>
            </a:r>
            <a:endParaRPr lang="en-US" sz="850" dirty="0"/>
          </a:p>
        </p:txBody>
      </p:sp>
      <p:sp>
        <p:nvSpPr>
          <p:cNvPr id="8" name="Text 5"/>
          <p:cNvSpPr/>
          <p:nvPr/>
        </p:nvSpPr>
        <p:spPr>
          <a:xfrm>
            <a:off x="658368" y="612648"/>
            <a:ext cx="7223760" cy="411480"/>
          </a:xfrm>
          <a:prstGeom prst="rect">
            <a:avLst/>
          </a:prstGeom>
          <a:noFill/>
          <a:ln/>
        </p:spPr>
        <p:txBody>
          <a:bodyPr wrap="square" lIns="0" tIns="0" rIns="0" bIns="0" rtlCol="0" anchor="ctr"/>
          <a:lstStyle/>
          <a:p>
            <a:pPr indent="0" marL="0">
              <a:buNone/>
            </a:pPr>
            <a:r>
              <a:rPr lang="en-US" sz="2400" b="1" dirty="0">
                <a:solidFill>
                  <a:srgbClr val="102749"/>
                </a:solidFill>
                <a:latin typeface="Aptos Display" pitchFamily="34" charset="0"/>
                <a:ea typeface="Aptos Display" pitchFamily="34" charset="-122"/>
                <a:cs typeface="Aptos Display" pitchFamily="34" charset="-120"/>
              </a:rPr>
              <a:t>Attended vs Unattended Comparison</a:t>
            </a:r>
            <a:endParaRPr lang="en-US" sz="2400" dirty="0"/>
          </a:p>
        </p:txBody>
      </p:sp>
      <p:sp>
        <p:nvSpPr>
          <p:cNvPr id="9" name="Text 6"/>
          <p:cNvSpPr/>
          <p:nvPr/>
        </p:nvSpPr>
        <p:spPr>
          <a:xfrm>
            <a:off x="658368" y="1069848"/>
            <a:ext cx="7863840" cy="310896"/>
          </a:xfrm>
          <a:prstGeom prst="rect">
            <a:avLst/>
          </a:prstGeom>
          <a:noFill/>
          <a:ln/>
        </p:spPr>
        <p:txBody>
          <a:bodyPr wrap="square" lIns="0" tIns="0" rIns="0" bIns="0" rtlCol="0" anchor="ctr"/>
          <a:lstStyle/>
          <a:p>
            <a:pPr indent="0" marL="0">
              <a:buNone/>
            </a:pPr>
            <a:r>
              <a:rPr lang="en-US" sz="1100" dirty="0">
                <a:solidFill>
                  <a:srgbClr val="51607B"/>
                </a:solidFill>
                <a:latin typeface="Aptos" pitchFamily="34" charset="0"/>
                <a:ea typeface="Aptos" pitchFamily="34" charset="-122"/>
                <a:cs typeface="Aptos" pitchFamily="34" charset="-120"/>
              </a:rPr>
              <a:t>The right choice depends on the business operating model, not just the tool</a:t>
            </a:r>
            <a:endParaRPr lang="en-US" sz="1100" dirty="0"/>
          </a:p>
        </p:txBody>
      </p:sp>
      <p:sp>
        <p:nvSpPr>
          <p:cNvPr id="10" name="Text 7"/>
          <p:cNvSpPr/>
          <p:nvPr/>
        </p:nvSpPr>
        <p:spPr>
          <a:xfrm>
            <a:off x="11155680" y="530352"/>
            <a:ext cx="365760" cy="201168"/>
          </a:xfrm>
          <a:prstGeom prst="rect">
            <a:avLst/>
          </a:prstGeom>
          <a:noFill/>
          <a:ln/>
        </p:spPr>
        <p:txBody>
          <a:bodyPr wrap="square" lIns="0" tIns="0" rIns="0" bIns="0" rtlCol="0" anchor="ctr"/>
          <a:lstStyle/>
          <a:p>
            <a:pPr algn="r" indent="0" marL="0">
              <a:buNone/>
            </a:pPr>
            <a:r>
              <a:rPr lang="en-US" sz="950" dirty="0">
                <a:solidFill>
                  <a:srgbClr val="51607B"/>
                </a:solidFill>
                <a:latin typeface="Consolas" pitchFamily="34" charset="0"/>
                <a:ea typeface="Consolas" pitchFamily="34" charset="-122"/>
                <a:cs typeface="Consolas" pitchFamily="34" charset="-120"/>
              </a:rPr>
              <a:t>08</a:t>
            </a:r>
            <a:endParaRPr lang="en-US" sz="950" dirty="0"/>
          </a:p>
        </p:txBody>
      </p:sp>
      <p:sp>
        <p:nvSpPr>
          <p:cNvPr id="11" name="Shape 8"/>
          <p:cNvSpPr/>
          <p:nvPr/>
        </p:nvSpPr>
        <p:spPr>
          <a:xfrm>
            <a:off x="8366760" y="676656"/>
            <a:ext cx="3154680" cy="822960"/>
          </a:xfrm>
          <a:prstGeom prst="roundRect">
            <a:avLst>
              <a:gd name="adj" fmla="val 8889"/>
            </a:avLst>
          </a:prstGeom>
          <a:solidFill>
            <a:srgbClr val="FFFFFF"/>
          </a:solidFill>
          <a:ln w="12700">
            <a:solidFill>
              <a:srgbClr val="1F6FFF">
                <a:alpha val="0"/>
              </a:srgbClr>
            </a:solidFill>
            <a:prstDash val="solid"/>
          </a:ln>
        </p:spPr>
      </p:sp>
      <p:sp>
        <p:nvSpPr>
          <p:cNvPr id="12" name="Shape 9"/>
          <p:cNvSpPr/>
          <p:nvPr/>
        </p:nvSpPr>
        <p:spPr>
          <a:xfrm>
            <a:off x="8366760" y="676656"/>
            <a:ext cx="73152" cy="822960"/>
          </a:xfrm>
          <a:prstGeom prst="rect">
            <a:avLst/>
          </a:prstGeom>
          <a:solidFill>
            <a:srgbClr val="1F6FFF"/>
          </a:solidFill>
          <a:ln w="12700">
            <a:solidFill>
              <a:srgbClr val="1F6FFF">
                <a:alpha val="0"/>
              </a:srgbClr>
            </a:solidFill>
            <a:prstDash val="solid"/>
          </a:ln>
        </p:spPr>
      </p:sp>
      <p:sp>
        <p:nvSpPr>
          <p:cNvPr id="13" name="Text 10"/>
          <p:cNvSpPr/>
          <p:nvPr/>
        </p:nvSpPr>
        <p:spPr>
          <a:xfrm>
            <a:off x="8531352" y="786384"/>
            <a:ext cx="1097280" cy="164592"/>
          </a:xfrm>
          <a:prstGeom prst="rect">
            <a:avLst/>
          </a:prstGeom>
          <a:noFill/>
          <a:ln/>
        </p:spPr>
        <p:txBody>
          <a:bodyPr wrap="square" lIns="0" tIns="0" rIns="0" bIns="0" rtlCol="0" anchor="ctr"/>
          <a:lstStyle/>
          <a:p>
            <a:pPr indent="0" marL="0">
              <a:buNone/>
            </a:pPr>
            <a:r>
              <a:rPr lang="en-US" sz="800" b="1" dirty="0">
                <a:solidFill>
                  <a:srgbClr val="1F6FFF"/>
                </a:solidFill>
                <a:latin typeface="Aptos" pitchFamily="34" charset="0"/>
                <a:ea typeface="Aptos" pitchFamily="34" charset="-122"/>
                <a:cs typeface="Aptos" pitchFamily="34" charset="-120"/>
              </a:rPr>
              <a:t>Key takeaway</a:t>
            </a:r>
            <a:endParaRPr lang="en-US" sz="800" dirty="0"/>
          </a:p>
        </p:txBody>
      </p:sp>
      <p:sp>
        <p:nvSpPr>
          <p:cNvPr id="14" name="Text 11"/>
          <p:cNvSpPr/>
          <p:nvPr/>
        </p:nvSpPr>
        <p:spPr>
          <a:xfrm>
            <a:off x="8531352" y="932688"/>
            <a:ext cx="2880360" cy="521208"/>
          </a:xfrm>
          <a:prstGeom prst="rect">
            <a:avLst/>
          </a:prstGeom>
          <a:noFill/>
          <a:ln/>
        </p:spPr>
        <p:txBody>
          <a:bodyPr wrap="square" lIns="254" tIns="254" rIns="254" bIns="254" rtlCol="0" anchor="ctr"/>
          <a:lstStyle/>
          <a:p>
            <a:pPr indent="0" marL="0">
              <a:buNone/>
            </a:pPr>
            <a:r>
              <a:rPr lang="en-US" sz="920" dirty="0">
                <a:solidFill>
                  <a:srgbClr val="102749"/>
                </a:solidFill>
                <a:latin typeface="Aptos" pitchFamily="34" charset="0"/>
                <a:ea typeface="Aptos" pitchFamily="34" charset="-122"/>
                <a:cs typeface="Aptos" pitchFamily="34" charset="-120"/>
              </a:rPr>
              <a:t>Choosing the wrong mode creates expectation problems. The decision should reflect how work starts, who owns control, and how outcomes are monitored.</a:t>
            </a:r>
            <a:endParaRPr lang="en-US" sz="920" dirty="0"/>
          </a:p>
        </p:txBody>
      </p:sp>
      <p:sp>
        <p:nvSpPr>
          <p:cNvPr id="15" name="Shape 12"/>
          <p:cNvSpPr/>
          <p:nvPr/>
        </p:nvSpPr>
        <p:spPr>
          <a:xfrm>
            <a:off x="749808" y="1755648"/>
            <a:ext cx="2423160" cy="566928"/>
          </a:xfrm>
          <a:prstGeom prst="rect">
            <a:avLst/>
          </a:prstGeom>
          <a:solidFill>
            <a:srgbClr val="102749"/>
          </a:solidFill>
          <a:ln w="12700">
            <a:solidFill>
              <a:srgbClr val="0A1830"/>
            </a:solidFill>
            <a:prstDash val="solid"/>
          </a:ln>
        </p:spPr>
      </p:sp>
      <p:sp>
        <p:nvSpPr>
          <p:cNvPr id="16" name="Text 13"/>
          <p:cNvSpPr/>
          <p:nvPr/>
        </p:nvSpPr>
        <p:spPr>
          <a:xfrm>
            <a:off x="859536" y="1920240"/>
            <a:ext cx="2240280" cy="164592"/>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Decision Area</a:t>
            </a:r>
            <a:endParaRPr lang="en-US" sz="1000" dirty="0"/>
          </a:p>
        </p:txBody>
      </p:sp>
      <p:sp>
        <p:nvSpPr>
          <p:cNvPr id="17" name="Shape 14"/>
          <p:cNvSpPr/>
          <p:nvPr/>
        </p:nvSpPr>
        <p:spPr>
          <a:xfrm>
            <a:off x="3172968" y="1755648"/>
            <a:ext cx="3822192" cy="566928"/>
          </a:xfrm>
          <a:prstGeom prst="rect">
            <a:avLst/>
          </a:prstGeom>
          <a:solidFill>
            <a:srgbClr val="0A1830"/>
          </a:solidFill>
          <a:ln w="12700">
            <a:solidFill>
              <a:srgbClr val="0A1830"/>
            </a:solidFill>
            <a:prstDash val="solid"/>
          </a:ln>
        </p:spPr>
      </p:sp>
      <p:sp>
        <p:nvSpPr>
          <p:cNvPr id="18" name="Text 15"/>
          <p:cNvSpPr/>
          <p:nvPr/>
        </p:nvSpPr>
        <p:spPr>
          <a:xfrm>
            <a:off x="3282696" y="1920240"/>
            <a:ext cx="3639312" cy="164592"/>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Attended</a:t>
            </a:r>
            <a:endParaRPr lang="en-US" sz="1000" dirty="0"/>
          </a:p>
        </p:txBody>
      </p:sp>
      <p:sp>
        <p:nvSpPr>
          <p:cNvPr id="19" name="Shape 16"/>
          <p:cNvSpPr/>
          <p:nvPr/>
        </p:nvSpPr>
        <p:spPr>
          <a:xfrm>
            <a:off x="6995160" y="1755648"/>
            <a:ext cx="3977640" cy="566928"/>
          </a:xfrm>
          <a:prstGeom prst="rect">
            <a:avLst/>
          </a:prstGeom>
          <a:solidFill>
            <a:srgbClr val="0A1830"/>
          </a:solidFill>
          <a:ln w="12700">
            <a:solidFill>
              <a:srgbClr val="0A1830"/>
            </a:solidFill>
            <a:prstDash val="solid"/>
          </a:ln>
        </p:spPr>
      </p:sp>
      <p:sp>
        <p:nvSpPr>
          <p:cNvPr id="20" name="Text 17"/>
          <p:cNvSpPr/>
          <p:nvPr/>
        </p:nvSpPr>
        <p:spPr>
          <a:xfrm>
            <a:off x="7104888" y="1920240"/>
            <a:ext cx="3794760" cy="164592"/>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Unattended</a:t>
            </a:r>
            <a:endParaRPr lang="en-US" sz="1000" dirty="0"/>
          </a:p>
        </p:txBody>
      </p:sp>
      <p:sp>
        <p:nvSpPr>
          <p:cNvPr id="21" name="Shape 18"/>
          <p:cNvSpPr/>
          <p:nvPr/>
        </p:nvSpPr>
        <p:spPr>
          <a:xfrm>
            <a:off x="749808" y="2322576"/>
            <a:ext cx="2423160" cy="566928"/>
          </a:xfrm>
          <a:prstGeom prst="rect">
            <a:avLst/>
          </a:prstGeom>
          <a:solidFill>
            <a:srgbClr val="FFFFFF"/>
          </a:solidFill>
          <a:ln w="12700">
            <a:solidFill>
              <a:srgbClr val="C7D5EA"/>
            </a:solidFill>
            <a:prstDash val="solid"/>
          </a:ln>
        </p:spPr>
      </p:sp>
      <p:sp>
        <p:nvSpPr>
          <p:cNvPr id="22" name="Text 19"/>
          <p:cNvSpPr/>
          <p:nvPr/>
        </p:nvSpPr>
        <p:spPr>
          <a:xfrm>
            <a:off x="841248" y="2441448"/>
            <a:ext cx="2276856" cy="274320"/>
          </a:xfrm>
          <a:prstGeom prst="rect">
            <a:avLst/>
          </a:prstGeom>
          <a:noFill/>
          <a:ln/>
        </p:spPr>
        <p:txBody>
          <a:bodyPr wrap="square" lIns="0" tIns="0" rIns="0" bIns="0" rtlCol="0" anchor="ctr"/>
          <a:lstStyle/>
          <a:p>
            <a:pPr indent="0" marL="0">
              <a:buNone/>
            </a:pPr>
            <a:r>
              <a:rPr lang="en-US" sz="910" b="1" dirty="0">
                <a:solidFill>
                  <a:srgbClr val="102749"/>
                </a:solidFill>
                <a:latin typeface="Aptos" pitchFamily="34" charset="0"/>
                <a:ea typeface="Aptos" pitchFamily="34" charset="-122"/>
                <a:cs typeface="Aptos" pitchFamily="34" charset="-120"/>
              </a:rPr>
              <a:t>Typical trigger</a:t>
            </a:r>
            <a:endParaRPr lang="en-US" sz="910" dirty="0"/>
          </a:p>
        </p:txBody>
      </p:sp>
      <p:sp>
        <p:nvSpPr>
          <p:cNvPr id="23" name="Shape 20"/>
          <p:cNvSpPr/>
          <p:nvPr/>
        </p:nvSpPr>
        <p:spPr>
          <a:xfrm>
            <a:off x="3172968" y="2322576"/>
            <a:ext cx="3822192" cy="566928"/>
          </a:xfrm>
          <a:prstGeom prst="rect">
            <a:avLst/>
          </a:prstGeom>
          <a:solidFill>
            <a:srgbClr val="FFFFFF"/>
          </a:solidFill>
          <a:ln w="12700">
            <a:solidFill>
              <a:srgbClr val="C7D5EA"/>
            </a:solidFill>
            <a:prstDash val="solid"/>
          </a:ln>
        </p:spPr>
      </p:sp>
      <p:sp>
        <p:nvSpPr>
          <p:cNvPr id="24" name="Text 21"/>
          <p:cNvSpPr/>
          <p:nvPr/>
        </p:nvSpPr>
        <p:spPr>
          <a:xfrm>
            <a:off x="3264408" y="2441448"/>
            <a:ext cx="3675888" cy="274320"/>
          </a:xfrm>
          <a:prstGeom prst="rect">
            <a:avLst/>
          </a:prstGeom>
          <a:noFill/>
          <a:ln/>
        </p:spPr>
        <p:txBody>
          <a:bodyPr wrap="square" lIns="0" tIns="0" rIns="0" bIns="0" rtlCol="0" anchor="ctr"/>
          <a:lstStyle/>
          <a:p>
            <a:pPr indent="0" marL="0">
              <a:buNone/>
            </a:pPr>
            <a:r>
              <a:rPr lang="en-US" sz="910" dirty="0">
                <a:solidFill>
                  <a:srgbClr val="51607B"/>
                </a:solidFill>
                <a:latin typeface="Aptos" pitchFamily="34" charset="0"/>
                <a:ea typeface="Aptos" pitchFamily="34" charset="-122"/>
                <a:cs typeface="Aptos" pitchFamily="34" charset="-120"/>
              </a:rPr>
              <a:t>User action on the desktop</a:t>
            </a:r>
            <a:endParaRPr lang="en-US" sz="910" dirty="0"/>
          </a:p>
        </p:txBody>
      </p:sp>
      <p:sp>
        <p:nvSpPr>
          <p:cNvPr id="25" name="Shape 22"/>
          <p:cNvSpPr/>
          <p:nvPr/>
        </p:nvSpPr>
        <p:spPr>
          <a:xfrm>
            <a:off x="6995160" y="2322576"/>
            <a:ext cx="3977640" cy="566928"/>
          </a:xfrm>
          <a:prstGeom prst="rect">
            <a:avLst/>
          </a:prstGeom>
          <a:solidFill>
            <a:srgbClr val="FFFFFF"/>
          </a:solidFill>
          <a:ln w="12700">
            <a:solidFill>
              <a:srgbClr val="C7D5EA"/>
            </a:solidFill>
            <a:prstDash val="solid"/>
          </a:ln>
        </p:spPr>
      </p:sp>
      <p:sp>
        <p:nvSpPr>
          <p:cNvPr id="26" name="Text 23"/>
          <p:cNvSpPr/>
          <p:nvPr/>
        </p:nvSpPr>
        <p:spPr>
          <a:xfrm>
            <a:off x="7086600" y="2441448"/>
            <a:ext cx="3831336" cy="274320"/>
          </a:xfrm>
          <a:prstGeom prst="rect">
            <a:avLst/>
          </a:prstGeom>
          <a:noFill/>
          <a:ln/>
        </p:spPr>
        <p:txBody>
          <a:bodyPr wrap="square" lIns="0" tIns="0" rIns="0" bIns="0" rtlCol="0" anchor="ctr"/>
          <a:lstStyle/>
          <a:p>
            <a:pPr indent="0" marL="0">
              <a:buNone/>
            </a:pPr>
            <a:r>
              <a:rPr lang="en-US" sz="910" dirty="0">
                <a:solidFill>
                  <a:srgbClr val="51607B"/>
                </a:solidFill>
                <a:latin typeface="Aptos" pitchFamily="34" charset="0"/>
                <a:ea typeface="Aptos" pitchFamily="34" charset="-122"/>
                <a:cs typeface="Aptos" pitchFamily="34" charset="-120"/>
              </a:rPr>
              <a:t>Schedule, event, queue, or orchestrator command</a:t>
            </a:r>
            <a:endParaRPr lang="en-US" sz="910" dirty="0"/>
          </a:p>
        </p:txBody>
      </p:sp>
      <p:sp>
        <p:nvSpPr>
          <p:cNvPr id="27" name="Shape 24"/>
          <p:cNvSpPr/>
          <p:nvPr/>
        </p:nvSpPr>
        <p:spPr>
          <a:xfrm>
            <a:off x="749808" y="2889504"/>
            <a:ext cx="2423160" cy="566928"/>
          </a:xfrm>
          <a:prstGeom prst="rect">
            <a:avLst/>
          </a:prstGeom>
          <a:solidFill>
            <a:srgbClr val="EEF4FB"/>
          </a:solidFill>
          <a:ln w="12700">
            <a:solidFill>
              <a:srgbClr val="C7D5EA"/>
            </a:solidFill>
            <a:prstDash val="solid"/>
          </a:ln>
        </p:spPr>
      </p:sp>
      <p:sp>
        <p:nvSpPr>
          <p:cNvPr id="28" name="Text 25"/>
          <p:cNvSpPr/>
          <p:nvPr/>
        </p:nvSpPr>
        <p:spPr>
          <a:xfrm>
            <a:off x="841248" y="3008376"/>
            <a:ext cx="2276856" cy="274320"/>
          </a:xfrm>
          <a:prstGeom prst="rect">
            <a:avLst/>
          </a:prstGeom>
          <a:noFill/>
          <a:ln/>
        </p:spPr>
        <p:txBody>
          <a:bodyPr wrap="square" lIns="0" tIns="0" rIns="0" bIns="0" rtlCol="0" anchor="ctr"/>
          <a:lstStyle/>
          <a:p>
            <a:pPr indent="0" marL="0">
              <a:buNone/>
            </a:pPr>
            <a:r>
              <a:rPr lang="en-US" sz="910" b="1" dirty="0">
                <a:solidFill>
                  <a:srgbClr val="102749"/>
                </a:solidFill>
                <a:latin typeface="Aptos" pitchFamily="34" charset="0"/>
                <a:ea typeface="Aptos" pitchFamily="34" charset="-122"/>
                <a:cs typeface="Aptos" pitchFamily="34" charset="-120"/>
              </a:rPr>
              <a:t>User presence</a:t>
            </a:r>
            <a:endParaRPr lang="en-US" sz="910" dirty="0"/>
          </a:p>
        </p:txBody>
      </p:sp>
      <p:sp>
        <p:nvSpPr>
          <p:cNvPr id="29" name="Shape 26"/>
          <p:cNvSpPr/>
          <p:nvPr/>
        </p:nvSpPr>
        <p:spPr>
          <a:xfrm>
            <a:off x="3172968" y="2889504"/>
            <a:ext cx="3822192" cy="566928"/>
          </a:xfrm>
          <a:prstGeom prst="rect">
            <a:avLst/>
          </a:prstGeom>
          <a:solidFill>
            <a:srgbClr val="EEF4FB"/>
          </a:solidFill>
          <a:ln w="12700">
            <a:solidFill>
              <a:srgbClr val="C7D5EA"/>
            </a:solidFill>
            <a:prstDash val="solid"/>
          </a:ln>
        </p:spPr>
      </p:sp>
      <p:sp>
        <p:nvSpPr>
          <p:cNvPr id="30" name="Text 27"/>
          <p:cNvSpPr/>
          <p:nvPr/>
        </p:nvSpPr>
        <p:spPr>
          <a:xfrm>
            <a:off x="3264408" y="3008376"/>
            <a:ext cx="3675888" cy="274320"/>
          </a:xfrm>
          <a:prstGeom prst="rect">
            <a:avLst/>
          </a:prstGeom>
          <a:noFill/>
          <a:ln/>
        </p:spPr>
        <p:txBody>
          <a:bodyPr wrap="square" lIns="0" tIns="0" rIns="0" bIns="0" rtlCol="0" anchor="ctr"/>
          <a:lstStyle/>
          <a:p>
            <a:pPr indent="0" marL="0">
              <a:buNone/>
            </a:pPr>
            <a:r>
              <a:rPr lang="en-US" sz="910" dirty="0">
                <a:solidFill>
                  <a:srgbClr val="51607B"/>
                </a:solidFill>
                <a:latin typeface="Aptos" pitchFamily="34" charset="0"/>
                <a:ea typeface="Aptos" pitchFamily="34" charset="-122"/>
                <a:cs typeface="Aptos" pitchFamily="34" charset="-120"/>
              </a:rPr>
              <a:t>A user stays involved during execution</a:t>
            </a:r>
            <a:endParaRPr lang="en-US" sz="910" dirty="0"/>
          </a:p>
        </p:txBody>
      </p:sp>
      <p:sp>
        <p:nvSpPr>
          <p:cNvPr id="31" name="Shape 28"/>
          <p:cNvSpPr/>
          <p:nvPr/>
        </p:nvSpPr>
        <p:spPr>
          <a:xfrm>
            <a:off x="6995160" y="2889504"/>
            <a:ext cx="3977640" cy="566928"/>
          </a:xfrm>
          <a:prstGeom prst="rect">
            <a:avLst/>
          </a:prstGeom>
          <a:solidFill>
            <a:srgbClr val="EEF4FB"/>
          </a:solidFill>
          <a:ln w="12700">
            <a:solidFill>
              <a:srgbClr val="C7D5EA"/>
            </a:solidFill>
            <a:prstDash val="solid"/>
          </a:ln>
        </p:spPr>
      </p:sp>
      <p:sp>
        <p:nvSpPr>
          <p:cNvPr id="32" name="Text 29"/>
          <p:cNvSpPr/>
          <p:nvPr/>
        </p:nvSpPr>
        <p:spPr>
          <a:xfrm>
            <a:off x="7086600" y="3008376"/>
            <a:ext cx="3831336" cy="274320"/>
          </a:xfrm>
          <a:prstGeom prst="rect">
            <a:avLst/>
          </a:prstGeom>
          <a:noFill/>
          <a:ln/>
        </p:spPr>
        <p:txBody>
          <a:bodyPr wrap="square" lIns="0" tIns="0" rIns="0" bIns="0" rtlCol="0" anchor="ctr"/>
          <a:lstStyle/>
          <a:p>
            <a:pPr indent="0" marL="0">
              <a:buNone/>
            </a:pPr>
            <a:r>
              <a:rPr lang="en-US" sz="910" dirty="0">
                <a:solidFill>
                  <a:srgbClr val="51607B"/>
                </a:solidFill>
                <a:latin typeface="Aptos" pitchFamily="34" charset="0"/>
                <a:ea typeface="Aptos" pitchFamily="34" charset="-122"/>
                <a:cs typeface="Aptos" pitchFamily="34" charset="-120"/>
              </a:rPr>
              <a:t>No constant user presence required</a:t>
            </a:r>
            <a:endParaRPr lang="en-US" sz="910" dirty="0"/>
          </a:p>
        </p:txBody>
      </p:sp>
      <p:sp>
        <p:nvSpPr>
          <p:cNvPr id="33" name="Shape 30"/>
          <p:cNvSpPr/>
          <p:nvPr/>
        </p:nvSpPr>
        <p:spPr>
          <a:xfrm>
            <a:off x="749808" y="3456432"/>
            <a:ext cx="2423160" cy="566928"/>
          </a:xfrm>
          <a:prstGeom prst="rect">
            <a:avLst/>
          </a:prstGeom>
          <a:solidFill>
            <a:srgbClr val="FFFFFF"/>
          </a:solidFill>
          <a:ln w="12700">
            <a:solidFill>
              <a:srgbClr val="C7D5EA"/>
            </a:solidFill>
            <a:prstDash val="solid"/>
          </a:ln>
        </p:spPr>
      </p:sp>
      <p:sp>
        <p:nvSpPr>
          <p:cNvPr id="34" name="Text 31"/>
          <p:cNvSpPr/>
          <p:nvPr/>
        </p:nvSpPr>
        <p:spPr>
          <a:xfrm>
            <a:off x="841248" y="3575304"/>
            <a:ext cx="2276856" cy="274320"/>
          </a:xfrm>
          <a:prstGeom prst="rect">
            <a:avLst/>
          </a:prstGeom>
          <a:noFill/>
          <a:ln/>
        </p:spPr>
        <p:txBody>
          <a:bodyPr wrap="square" lIns="0" tIns="0" rIns="0" bIns="0" rtlCol="0" anchor="ctr"/>
          <a:lstStyle/>
          <a:p>
            <a:pPr indent="0" marL="0">
              <a:buNone/>
            </a:pPr>
            <a:r>
              <a:rPr lang="en-US" sz="910" b="1" dirty="0">
                <a:solidFill>
                  <a:srgbClr val="102749"/>
                </a:solidFill>
                <a:latin typeface="Aptos" pitchFamily="34" charset="0"/>
                <a:ea typeface="Aptos" pitchFamily="34" charset="-122"/>
                <a:cs typeface="Aptos" pitchFamily="34" charset="-120"/>
              </a:rPr>
              <a:t>Best for</a:t>
            </a:r>
            <a:endParaRPr lang="en-US" sz="910" dirty="0"/>
          </a:p>
        </p:txBody>
      </p:sp>
      <p:sp>
        <p:nvSpPr>
          <p:cNvPr id="35" name="Shape 32"/>
          <p:cNvSpPr/>
          <p:nvPr/>
        </p:nvSpPr>
        <p:spPr>
          <a:xfrm>
            <a:off x="3172968" y="3456432"/>
            <a:ext cx="3822192" cy="566928"/>
          </a:xfrm>
          <a:prstGeom prst="rect">
            <a:avLst/>
          </a:prstGeom>
          <a:solidFill>
            <a:srgbClr val="FFFFFF"/>
          </a:solidFill>
          <a:ln w="12700">
            <a:solidFill>
              <a:srgbClr val="C7D5EA"/>
            </a:solidFill>
            <a:prstDash val="solid"/>
          </a:ln>
        </p:spPr>
      </p:sp>
      <p:sp>
        <p:nvSpPr>
          <p:cNvPr id="36" name="Text 33"/>
          <p:cNvSpPr/>
          <p:nvPr/>
        </p:nvSpPr>
        <p:spPr>
          <a:xfrm>
            <a:off x="3264408" y="3575304"/>
            <a:ext cx="3675888" cy="274320"/>
          </a:xfrm>
          <a:prstGeom prst="rect">
            <a:avLst/>
          </a:prstGeom>
          <a:noFill/>
          <a:ln/>
        </p:spPr>
        <p:txBody>
          <a:bodyPr wrap="square" lIns="0" tIns="0" rIns="0" bIns="0" rtlCol="0" anchor="ctr"/>
          <a:lstStyle/>
          <a:p>
            <a:pPr indent="0" marL="0">
              <a:buNone/>
            </a:pPr>
            <a:r>
              <a:rPr lang="en-US" sz="910" dirty="0">
                <a:solidFill>
                  <a:srgbClr val="51607B"/>
                </a:solidFill>
                <a:latin typeface="Aptos" pitchFamily="34" charset="0"/>
                <a:ea typeface="Aptos" pitchFamily="34" charset="-122"/>
                <a:cs typeface="Aptos" pitchFamily="34" charset="-120"/>
              </a:rPr>
              <a:t>Guided assistance and judgment-heavy support</a:t>
            </a:r>
            <a:endParaRPr lang="en-US" sz="910" dirty="0"/>
          </a:p>
        </p:txBody>
      </p:sp>
      <p:sp>
        <p:nvSpPr>
          <p:cNvPr id="37" name="Shape 34"/>
          <p:cNvSpPr/>
          <p:nvPr/>
        </p:nvSpPr>
        <p:spPr>
          <a:xfrm>
            <a:off x="6995160" y="3456432"/>
            <a:ext cx="3977640" cy="566928"/>
          </a:xfrm>
          <a:prstGeom prst="rect">
            <a:avLst/>
          </a:prstGeom>
          <a:solidFill>
            <a:srgbClr val="FFFFFF"/>
          </a:solidFill>
          <a:ln w="12700">
            <a:solidFill>
              <a:srgbClr val="C7D5EA"/>
            </a:solidFill>
            <a:prstDash val="solid"/>
          </a:ln>
        </p:spPr>
      </p:sp>
      <p:sp>
        <p:nvSpPr>
          <p:cNvPr id="38" name="Text 35"/>
          <p:cNvSpPr/>
          <p:nvPr/>
        </p:nvSpPr>
        <p:spPr>
          <a:xfrm>
            <a:off x="7086600" y="3575304"/>
            <a:ext cx="3831336" cy="274320"/>
          </a:xfrm>
          <a:prstGeom prst="rect">
            <a:avLst/>
          </a:prstGeom>
          <a:noFill/>
          <a:ln/>
        </p:spPr>
        <p:txBody>
          <a:bodyPr wrap="square" lIns="0" tIns="0" rIns="0" bIns="0" rtlCol="0" anchor="ctr"/>
          <a:lstStyle/>
          <a:p>
            <a:pPr indent="0" marL="0">
              <a:buNone/>
            </a:pPr>
            <a:r>
              <a:rPr lang="en-US" sz="910" dirty="0">
                <a:solidFill>
                  <a:srgbClr val="51607B"/>
                </a:solidFill>
                <a:latin typeface="Aptos" pitchFamily="34" charset="0"/>
                <a:ea typeface="Aptos" pitchFamily="34" charset="-122"/>
                <a:cs typeface="Aptos" pitchFamily="34" charset="-120"/>
              </a:rPr>
              <a:t>High-volume repetitive processing</a:t>
            </a:r>
            <a:endParaRPr lang="en-US" sz="910" dirty="0"/>
          </a:p>
        </p:txBody>
      </p:sp>
      <p:sp>
        <p:nvSpPr>
          <p:cNvPr id="39" name="Shape 36"/>
          <p:cNvSpPr/>
          <p:nvPr/>
        </p:nvSpPr>
        <p:spPr>
          <a:xfrm>
            <a:off x="749808" y="4023360"/>
            <a:ext cx="2423160" cy="566928"/>
          </a:xfrm>
          <a:prstGeom prst="rect">
            <a:avLst/>
          </a:prstGeom>
          <a:solidFill>
            <a:srgbClr val="EEF4FB"/>
          </a:solidFill>
          <a:ln w="12700">
            <a:solidFill>
              <a:srgbClr val="C7D5EA"/>
            </a:solidFill>
            <a:prstDash val="solid"/>
          </a:ln>
        </p:spPr>
      </p:sp>
      <p:sp>
        <p:nvSpPr>
          <p:cNvPr id="40" name="Text 37"/>
          <p:cNvSpPr/>
          <p:nvPr/>
        </p:nvSpPr>
        <p:spPr>
          <a:xfrm>
            <a:off x="841248" y="4142232"/>
            <a:ext cx="2276856" cy="274320"/>
          </a:xfrm>
          <a:prstGeom prst="rect">
            <a:avLst/>
          </a:prstGeom>
          <a:noFill/>
          <a:ln/>
        </p:spPr>
        <p:txBody>
          <a:bodyPr wrap="square" lIns="0" tIns="0" rIns="0" bIns="0" rtlCol="0" anchor="ctr"/>
          <a:lstStyle/>
          <a:p>
            <a:pPr indent="0" marL="0">
              <a:buNone/>
            </a:pPr>
            <a:r>
              <a:rPr lang="en-US" sz="910" b="1" dirty="0">
                <a:solidFill>
                  <a:srgbClr val="102749"/>
                </a:solidFill>
                <a:latin typeface="Aptos" pitchFamily="34" charset="0"/>
                <a:ea typeface="Aptos" pitchFamily="34" charset="-122"/>
                <a:cs typeface="Aptos" pitchFamily="34" charset="-120"/>
              </a:rPr>
              <a:t>Control style</a:t>
            </a:r>
            <a:endParaRPr lang="en-US" sz="910" dirty="0"/>
          </a:p>
        </p:txBody>
      </p:sp>
      <p:sp>
        <p:nvSpPr>
          <p:cNvPr id="41" name="Shape 38"/>
          <p:cNvSpPr/>
          <p:nvPr/>
        </p:nvSpPr>
        <p:spPr>
          <a:xfrm>
            <a:off x="3172968" y="4023360"/>
            <a:ext cx="3822192" cy="566928"/>
          </a:xfrm>
          <a:prstGeom prst="rect">
            <a:avLst/>
          </a:prstGeom>
          <a:solidFill>
            <a:srgbClr val="EEF4FB"/>
          </a:solidFill>
          <a:ln w="12700">
            <a:solidFill>
              <a:srgbClr val="C7D5EA"/>
            </a:solidFill>
            <a:prstDash val="solid"/>
          </a:ln>
        </p:spPr>
      </p:sp>
      <p:sp>
        <p:nvSpPr>
          <p:cNvPr id="42" name="Text 39"/>
          <p:cNvSpPr/>
          <p:nvPr/>
        </p:nvSpPr>
        <p:spPr>
          <a:xfrm>
            <a:off x="3264408" y="4142232"/>
            <a:ext cx="3675888" cy="274320"/>
          </a:xfrm>
          <a:prstGeom prst="rect">
            <a:avLst/>
          </a:prstGeom>
          <a:noFill/>
          <a:ln/>
        </p:spPr>
        <p:txBody>
          <a:bodyPr wrap="square" lIns="0" tIns="0" rIns="0" bIns="0" rtlCol="0" anchor="ctr"/>
          <a:lstStyle/>
          <a:p>
            <a:pPr indent="0" marL="0">
              <a:buNone/>
            </a:pPr>
            <a:r>
              <a:rPr lang="en-US" sz="910" dirty="0">
                <a:solidFill>
                  <a:srgbClr val="51607B"/>
                </a:solidFill>
                <a:latin typeface="Aptos" pitchFamily="34" charset="0"/>
                <a:ea typeface="Aptos" pitchFamily="34" charset="-122"/>
                <a:cs typeface="Aptos" pitchFamily="34" charset="-120"/>
              </a:rPr>
              <a:t>Local and user-proximate</a:t>
            </a:r>
            <a:endParaRPr lang="en-US" sz="910" dirty="0"/>
          </a:p>
        </p:txBody>
      </p:sp>
      <p:sp>
        <p:nvSpPr>
          <p:cNvPr id="43" name="Shape 40"/>
          <p:cNvSpPr/>
          <p:nvPr/>
        </p:nvSpPr>
        <p:spPr>
          <a:xfrm>
            <a:off x="6995160" y="4023360"/>
            <a:ext cx="3977640" cy="566928"/>
          </a:xfrm>
          <a:prstGeom prst="rect">
            <a:avLst/>
          </a:prstGeom>
          <a:solidFill>
            <a:srgbClr val="EEF4FB"/>
          </a:solidFill>
          <a:ln w="12700">
            <a:solidFill>
              <a:srgbClr val="C7D5EA"/>
            </a:solidFill>
            <a:prstDash val="solid"/>
          </a:ln>
        </p:spPr>
      </p:sp>
      <p:sp>
        <p:nvSpPr>
          <p:cNvPr id="44" name="Text 41"/>
          <p:cNvSpPr/>
          <p:nvPr/>
        </p:nvSpPr>
        <p:spPr>
          <a:xfrm>
            <a:off x="7086600" y="4142232"/>
            <a:ext cx="3831336" cy="274320"/>
          </a:xfrm>
          <a:prstGeom prst="rect">
            <a:avLst/>
          </a:prstGeom>
          <a:noFill/>
          <a:ln/>
        </p:spPr>
        <p:txBody>
          <a:bodyPr wrap="square" lIns="0" tIns="0" rIns="0" bIns="0" rtlCol="0" anchor="ctr"/>
          <a:lstStyle/>
          <a:p>
            <a:pPr indent="0" marL="0">
              <a:buNone/>
            </a:pPr>
            <a:r>
              <a:rPr lang="en-US" sz="910" dirty="0">
                <a:solidFill>
                  <a:srgbClr val="51607B"/>
                </a:solidFill>
                <a:latin typeface="Aptos" pitchFamily="34" charset="0"/>
                <a:ea typeface="Aptos" pitchFamily="34" charset="-122"/>
                <a:cs typeface="Aptos" pitchFamily="34" charset="-120"/>
              </a:rPr>
              <a:t>Centralized with orchestration and monitoring</a:t>
            </a:r>
            <a:endParaRPr lang="en-US" sz="910" dirty="0"/>
          </a:p>
        </p:txBody>
      </p:sp>
      <p:sp>
        <p:nvSpPr>
          <p:cNvPr id="45" name="Shape 42"/>
          <p:cNvSpPr/>
          <p:nvPr/>
        </p:nvSpPr>
        <p:spPr>
          <a:xfrm>
            <a:off x="749808" y="4590288"/>
            <a:ext cx="2423160" cy="566928"/>
          </a:xfrm>
          <a:prstGeom prst="rect">
            <a:avLst/>
          </a:prstGeom>
          <a:solidFill>
            <a:srgbClr val="FFFFFF"/>
          </a:solidFill>
          <a:ln w="12700">
            <a:solidFill>
              <a:srgbClr val="C7D5EA"/>
            </a:solidFill>
            <a:prstDash val="solid"/>
          </a:ln>
        </p:spPr>
      </p:sp>
      <p:sp>
        <p:nvSpPr>
          <p:cNvPr id="46" name="Text 43"/>
          <p:cNvSpPr/>
          <p:nvPr/>
        </p:nvSpPr>
        <p:spPr>
          <a:xfrm>
            <a:off x="841248" y="4709160"/>
            <a:ext cx="2276856" cy="274320"/>
          </a:xfrm>
          <a:prstGeom prst="rect">
            <a:avLst/>
          </a:prstGeom>
          <a:noFill/>
          <a:ln/>
        </p:spPr>
        <p:txBody>
          <a:bodyPr wrap="square" lIns="0" tIns="0" rIns="0" bIns="0" rtlCol="0" anchor="ctr"/>
          <a:lstStyle/>
          <a:p>
            <a:pPr indent="0" marL="0">
              <a:buNone/>
            </a:pPr>
            <a:r>
              <a:rPr lang="en-US" sz="910" b="1" dirty="0">
                <a:solidFill>
                  <a:srgbClr val="102749"/>
                </a:solidFill>
                <a:latin typeface="Aptos" pitchFamily="34" charset="0"/>
                <a:ea typeface="Aptos" pitchFamily="34" charset="-122"/>
                <a:cs typeface="Aptos" pitchFamily="34" charset="-120"/>
              </a:rPr>
              <a:t>Exception route</a:t>
            </a:r>
            <a:endParaRPr lang="en-US" sz="910" dirty="0"/>
          </a:p>
        </p:txBody>
      </p:sp>
      <p:sp>
        <p:nvSpPr>
          <p:cNvPr id="47" name="Shape 44"/>
          <p:cNvSpPr/>
          <p:nvPr/>
        </p:nvSpPr>
        <p:spPr>
          <a:xfrm>
            <a:off x="3172968" y="4590288"/>
            <a:ext cx="3822192" cy="566928"/>
          </a:xfrm>
          <a:prstGeom prst="rect">
            <a:avLst/>
          </a:prstGeom>
          <a:solidFill>
            <a:srgbClr val="FFFFFF"/>
          </a:solidFill>
          <a:ln w="12700">
            <a:solidFill>
              <a:srgbClr val="C7D5EA"/>
            </a:solidFill>
            <a:prstDash val="solid"/>
          </a:ln>
        </p:spPr>
      </p:sp>
      <p:sp>
        <p:nvSpPr>
          <p:cNvPr id="48" name="Text 45"/>
          <p:cNvSpPr/>
          <p:nvPr/>
        </p:nvSpPr>
        <p:spPr>
          <a:xfrm>
            <a:off x="3264408" y="4709160"/>
            <a:ext cx="3675888" cy="274320"/>
          </a:xfrm>
          <a:prstGeom prst="rect">
            <a:avLst/>
          </a:prstGeom>
          <a:noFill/>
          <a:ln/>
        </p:spPr>
        <p:txBody>
          <a:bodyPr wrap="square" lIns="0" tIns="0" rIns="0" bIns="0" rtlCol="0" anchor="ctr"/>
          <a:lstStyle/>
          <a:p>
            <a:pPr indent="0" marL="0">
              <a:buNone/>
            </a:pPr>
            <a:r>
              <a:rPr lang="en-US" sz="910" dirty="0">
                <a:solidFill>
                  <a:srgbClr val="51607B"/>
                </a:solidFill>
                <a:latin typeface="Aptos" pitchFamily="34" charset="0"/>
                <a:ea typeface="Aptos" pitchFamily="34" charset="-122"/>
                <a:cs typeface="Aptos" pitchFamily="34" charset="-120"/>
              </a:rPr>
              <a:t>Often surfaced immediately to the user</a:t>
            </a:r>
            <a:endParaRPr lang="en-US" sz="910" dirty="0"/>
          </a:p>
        </p:txBody>
      </p:sp>
      <p:sp>
        <p:nvSpPr>
          <p:cNvPr id="49" name="Shape 46"/>
          <p:cNvSpPr/>
          <p:nvPr/>
        </p:nvSpPr>
        <p:spPr>
          <a:xfrm>
            <a:off x="6995160" y="4590288"/>
            <a:ext cx="3977640" cy="566928"/>
          </a:xfrm>
          <a:prstGeom prst="rect">
            <a:avLst/>
          </a:prstGeom>
          <a:solidFill>
            <a:srgbClr val="FFFFFF"/>
          </a:solidFill>
          <a:ln w="12700">
            <a:solidFill>
              <a:srgbClr val="C7D5EA"/>
            </a:solidFill>
            <a:prstDash val="solid"/>
          </a:ln>
        </p:spPr>
      </p:sp>
      <p:sp>
        <p:nvSpPr>
          <p:cNvPr id="50" name="Text 47"/>
          <p:cNvSpPr/>
          <p:nvPr/>
        </p:nvSpPr>
        <p:spPr>
          <a:xfrm>
            <a:off x="7086600" y="4709160"/>
            <a:ext cx="3831336" cy="274320"/>
          </a:xfrm>
          <a:prstGeom prst="rect">
            <a:avLst/>
          </a:prstGeom>
          <a:noFill/>
          <a:ln/>
        </p:spPr>
        <p:txBody>
          <a:bodyPr wrap="square" lIns="0" tIns="0" rIns="0" bIns="0" rtlCol="0" anchor="ctr"/>
          <a:lstStyle/>
          <a:p>
            <a:pPr indent="0" marL="0">
              <a:buNone/>
            </a:pPr>
            <a:r>
              <a:rPr lang="en-US" sz="910" dirty="0">
                <a:solidFill>
                  <a:srgbClr val="51607B"/>
                </a:solidFill>
                <a:latin typeface="Aptos" pitchFamily="34" charset="0"/>
                <a:ea typeface="Aptos" pitchFamily="34" charset="-122"/>
                <a:cs typeface="Aptos" pitchFamily="34" charset="-120"/>
              </a:rPr>
              <a:t>Routed through logs, queues, alerts, or review worklists</a:t>
            </a:r>
            <a:endParaRPr lang="en-US" sz="910" dirty="0"/>
          </a:p>
        </p:txBody>
      </p:sp>
      <p:sp>
        <p:nvSpPr>
          <p:cNvPr id="51" name="Shape 48"/>
          <p:cNvSpPr/>
          <p:nvPr/>
        </p:nvSpPr>
        <p:spPr>
          <a:xfrm>
            <a:off x="749808" y="5157216"/>
            <a:ext cx="2423160" cy="566928"/>
          </a:xfrm>
          <a:prstGeom prst="rect">
            <a:avLst/>
          </a:prstGeom>
          <a:solidFill>
            <a:srgbClr val="EEF4FB"/>
          </a:solidFill>
          <a:ln w="12700">
            <a:solidFill>
              <a:srgbClr val="C7D5EA"/>
            </a:solidFill>
            <a:prstDash val="solid"/>
          </a:ln>
        </p:spPr>
      </p:sp>
      <p:sp>
        <p:nvSpPr>
          <p:cNvPr id="52" name="Text 49"/>
          <p:cNvSpPr/>
          <p:nvPr/>
        </p:nvSpPr>
        <p:spPr>
          <a:xfrm>
            <a:off x="841248" y="5276088"/>
            <a:ext cx="2276856" cy="274320"/>
          </a:xfrm>
          <a:prstGeom prst="rect">
            <a:avLst/>
          </a:prstGeom>
          <a:noFill/>
          <a:ln/>
        </p:spPr>
        <p:txBody>
          <a:bodyPr wrap="square" lIns="0" tIns="0" rIns="0" bIns="0" rtlCol="0" anchor="ctr"/>
          <a:lstStyle/>
          <a:p>
            <a:pPr indent="0" marL="0">
              <a:buNone/>
            </a:pPr>
            <a:r>
              <a:rPr lang="en-US" sz="910" b="1" dirty="0">
                <a:solidFill>
                  <a:srgbClr val="102749"/>
                </a:solidFill>
                <a:latin typeface="Aptos" pitchFamily="34" charset="0"/>
                <a:ea typeface="Aptos" pitchFamily="34" charset="-122"/>
                <a:cs typeface="Aptos" pitchFamily="34" charset="-120"/>
              </a:rPr>
              <a:t>Key BA question</a:t>
            </a:r>
            <a:endParaRPr lang="en-US" sz="910" dirty="0"/>
          </a:p>
        </p:txBody>
      </p:sp>
      <p:sp>
        <p:nvSpPr>
          <p:cNvPr id="53" name="Shape 50"/>
          <p:cNvSpPr/>
          <p:nvPr/>
        </p:nvSpPr>
        <p:spPr>
          <a:xfrm>
            <a:off x="3172968" y="5157216"/>
            <a:ext cx="3822192" cy="566928"/>
          </a:xfrm>
          <a:prstGeom prst="rect">
            <a:avLst/>
          </a:prstGeom>
          <a:solidFill>
            <a:srgbClr val="EEF4FB"/>
          </a:solidFill>
          <a:ln w="12700">
            <a:solidFill>
              <a:srgbClr val="C7D5EA"/>
            </a:solidFill>
            <a:prstDash val="solid"/>
          </a:ln>
        </p:spPr>
      </p:sp>
      <p:sp>
        <p:nvSpPr>
          <p:cNvPr id="54" name="Text 51"/>
          <p:cNvSpPr/>
          <p:nvPr/>
        </p:nvSpPr>
        <p:spPr>
          <a:xfrm>
            <a:off x="3264408" y="5276088"/>
            <a:ext cx="3675888" cy="274320"/>
          </a:xfrm>
          <a:prstGeom prst="rect">
            <a:avLst/>
          </a:prstGeom>
          <a:noFill/>
          <a:ln/>
        </p:spPr>
        <p:txBody>
          <a:bodyPr wrap="square" lIns="0" tIns="0" rIns="0" bIns="0" rtlCol="0" anchor="ctr"/>
          <a:lstStyle/>
          <a:p>
            <a:pPr indent="0" marL="0">
              <a:buNone/>
            </a:pPr>
            <a:r>
              <a:rPr lang="en-US" sz="910" dirty="0">
                <a:solidFill>
                  <a:srgbClr val="51607B"/>
                </a:solidFill>
                <a:latin typeface="Aptos" pitchFamily="34" charset="0"/>
                <a:ea typeface="Aptos" pitchFamily="34" charset="-122"/>
                <a:cs typeface="Aptos" pitchFamily="34" charset="-120"/>
              </a:rPr>
              <a:t>Where does the user interact or decide?</a:t>
            </a:r>
            <a:endParaRPr lang="en-US" sz="910" dirty="0"/>
          </a:p>
        </p:txBody>
      </p:sp>
      <p:sp>
        <p:nvSpPr>
          <p:cNvPr id="55" name="Shape 52"/>
          <p:cNvSpPr/>
          <p:nvPr/>
        </p:nvSpPr>
        <p:spPr>
          <a:xfrm>
            <a:off x="6995160" y="5157216"/>
            <a:ext cx="3977640" cy="566928"/>
          </a:xfrm>
          <a:prstGeom prst="rect">
            <a:avLst/>
          </a:prstGeom>
          <a:solidFill>
            <a:srgbClr val="EEF4FB"/>
          </a:solidFill>
          <a:ln w="12700">
            <a:solidFill>
              <a:srgbClr val="C7D5EA"/>
            </a:solidFill>
            <a:prstDash val="solid"/>
          </a:ln>
        </p:spPr>
      </p:sp>
      <p:sp>
        <p:nvSpPr>
          <p:cNvPr id="56" name="Text 53"/>
          <p:cNvSpPr/>
          <p:nvPr/>
        </p:nvSpPr>
        <p:spPr>
          <a:xfrm>
            <a:off x="7086600" y="5276088"/>
            <a:ext cx="3831336" cy="274320"/>
          </a:xfrm>
          <a:prstGeom prst="rect">
            <a:avLst/>
          </a:prstGeom>
          <a:noFill/>
          <a:ln/>
        </p:spPr>
        <p:txBody>
          <a:bodyPr wrap="square" lIns="0" tIns="0" rIns="0" bIns="0" rtlCol="0" anchor="ctr"/>
          <a:lstStyle/>
          <a:p>
            <a:pPr indent="0" marL="0">
              <a:buNone/>
            </a:pPr>
            <a:r>
              <a:rPr lang="en-US" sz="910" dirty="0">
                <a:solidFill>
                  <a:srgbClr val="51607B"/>
                </a:solidFill>
                <a:latin typeface="Aptos" pitchFamily="34" charset="0"/>
                <a:ea typeface="Aptos" pitchFamily="34" charset="-122"/>
                <a:cs typeface="Aptos" pitchFamily="34" charset="-120"/>
              </a:rPr>
              <a:t>What starts work and how is each transaction controlled?</a:t>
            </a:r>
            <a:endParaRPr lang="en-US" sz="910" dirty="0"/>
          </a:p>
        </p:txBody>
      </p:sp>
      <p:sp>
        <p:nvSpPr>
          <p:cNvPr id="57" name="Shape 54"/>
          <p:cNvSpPr/>
          <p:nvPr/>
        </p:nvSpPr>
        <p:spPr>
          <a:xfrm>
            <a:off x="749808" y="5925312"/>
            <a:ext cx="10716768" cy="658368"/>
          </a:xfrm>
          <a:prstGeom prst="roundRect">
            <a:avLst>
              <a:gd name="adj" fmla="val 6944"/>
            </a:avLst>
          </a:prstGeom>
          <a:solidFill>
            <a:srgbClr val="FFF9EE"/>
          </a:solidFill>
          <a:ln w="12700">
            <a:solidFill>
              <a:srgbClr val="12B3A8"/>
            </a:solidFill>
            <a:prstDash val="solid"/>
          </a:ln>
        </p:spPr>
      </p:sp>
      <p:sp>
        <p:nvSpPr>
          <p:cNvPr id="58" name="Text 55"/>
          <p:cNvSpPr/>
          <p:nvPr/>
        </p:nvSpPr>
        <p:spPr>
          <a:xfrm>
            <a:off x="914400" y="6053328"/>
            <a:ext cx="10442448" cy="164592"/>
          </a:xfrm>
          <a:prstGeom prst="rect">
            <a:avLst/>
          </a:prstGeom>
          <a:noFill/>
          <a:ln/>
        </p:spPr>
        <p:txBody>
          <a:bodyPr wrap="square" lIns="0" tIns="0" rIns="0" bIns="0" rtlCol="0" anchor="ctr"/>
          <a:lstStyle/>
          <a:p>
            <a:pPr indent="0" marL="0">
              <a:buNone/>
            </a:pPr>
            <a:r>
              <a:rPr lang="en-US" sz="850" b="1" dirty="0">
                <a:solidFill>
                  <a:srgbClr val="12B3A8"/>
                </a:solidFill>
                <a:latin typeface="Aptos" pitchFamily="34" charset="0"/>
                <a:ea typeface="Aptos" pitchFamily="34" charset="-122"/>
                <a:cs typeface="Aptos" pitchFamily="34" charset="-120"/>
              </a:rPr>
              <a:t>Decision Lens</a:t>
            </a:r>
            <a:endParaRPr lang="en-US" sz="850" dirty="0"/>
          </a:p>
        </p:txBody>
      </p:sp>
      <p:sp>
        <p:nvSpPr>
          <p:cNvPr id="59" name="Text 56"/>
          <p:cNvSpPr/>
          <p:nvPr/>
        </p:nvSpPr>
        <p:spPr>
          <a:xfrm>
            <a:off x="914400" y="6227064"/>
            <a:ext cx="10442448" cy="310896"/>
          </a:xfrm>
          <a:prstGeom prst="rect">
            <a:avLst/>
          </a:prstGeom>
          <a:noFill/>
          <a:ln/>
        </p:spPr>
        <p:txBody>
          <a:bodyPr wrap="square" lIns="254" tIns="254" rIns="254" bIns="254" rtlCol="0" anchor="ctr"/>
          <a:lstStyle/>
          <a:p>
            <a:pPr indent="0" marL="0">
              <a:buNone/>
            </a:pPr>
            <a:r>
              <a:rPr lang="en-US" sz="940" dirty="0">
                <a:solidFill>
                  <a:srgbClr val="102749"/>
                </a:solidFill>
                <a:latin typeface="Aptos" pitchFamily="34" charset="0"/>
                <a:ea typeface="Aptos" pitchFamily="34" charset="-122"/>
                <a:cs typeface="Aptos" pitchFamily="34" charset="-120"/>
              </a:rPr>
              <a:t>This is an operating-model choice before it is a technical choice.</a:t>
            </a:r>
            <a:endParaRPr lang="en-US" sz="940" dirty="0"/>
          </a:p>
        </p:txBody>
      </p:sp>
      <p:sp>
        <p:nvSpPr>
          <p:cNvPr id="60" name="Text 57"/>
          <p:cNvSpPr/>
          <p:nvPr/>
        </p:nvSpPr>
        <p:spPr>
          <a:xfrm>
            <a:off x="658368" y="6510528"/>
            <a:ext cx="2560320" cy="164592"/>
          </a:xfrm>
          <a:prstGeom prst="rect">
            <a:avLst/>
          </a:prstGeom>
          <a:noFill/>
          <a:ln/>
        </p:spPr>
        <p:txBody>
          <a:bodyPr wrap="square" lIns="0" tIns="0" rIns="0" bIns="0" rtlCol="0" anchor="ctr"/>
          <a:lstStyle/>
          <a:p>
            <a:pPr indent="0" marL="0">
              <a:buNone/>
            </a:pPr>
            <a:r>
              <a:rPr lang="en-US" sz="850" dirty="0">
                <a:solidFill>
                  <a:srgbClr val="51607B"/>
                </a:solidFill>
                <a:latin typeface="Aptos" pitchFamily="34" charset="0"/>
                <a:ea typeface="Aptos" pitchFamily="34" charset="-122"/>
                <a:cs typeface="Aptos" pitchFamily="34" charset="-120"/>
              </a:rPr>
              <a:t>Innobot  |  Internal workshop</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F4F7FB"/>
          </a:solidFill>
          <a:ln/>
        </p:spPr>
      </p:sp>
      <p:sp>
        <p:nvSpPr>
          <p:cNvPr id="4" name="Shape 1"/>
          <p:cNvSpPr/>
          <p:nvPr/>
        </p:nvSpPr>
        <p:spPr>
          <a:xfrm>
            <a:off x="0" y="0"/>
            <a:ext cx="12191695" cy="411480"/>
          </a:xfrm>
          <a:prstGeom prst="rect">
            <a:avLst/>
          </a:prstGeom>
          <a:solidFill>
            <a:srgbClr val="0A1830"/>
          </a:solidFill>
          <a:ln/>
        </p:spPr>
      </p:sp>
      <p:sp>
        <p:nvSpPr>
          <p:cNvPr id="5" name="Shape 2"/>
          <p:cNvSpPr/>
          <p:nvPr/>
        </p:nvSpPr>
        <p:spPr>
          <a:xfrm>
            <a:off x="9509760" y="-137160"/>
            <a:ext cx="3200400" cy="2194560"/>
          </a:xfrm>
          <a:prstGeom prst="ellipse">
            <a:avLst/>
          </a:prstGeom>
          <a:solidFill>
            <a:srgbClr val="8AB8FF">
              <a:alpha val="16000"/>
            </a:srgbClr>
          </a:solidFill>
          <a:ln w="12700">
            <a:solidFill>
              <a:srgbClr val="8AB8FF">
                <a:alpha val="0"/>
              </a:srgbClr>
            </a:solidFill>
            <a:prstDash val="solid"/>
          </a:ln>
        </p:spPr>
      </p:sp>
      <p:sp>
        <p:nvSpPr>
          <p:cNvPr id="6" name="Shape 3"/>
          <p:cNvSpPr/>
          <p:nvPr/>
        </p:nvSpPr>
        <p:spPr>
          <a:xfrm>
            <a:off x="-731520" y="5394960"/>
            <a:ext cx="2560320" cy="1645920"/>
          </a:xfrm>
          <a:prstGeom prst="ellipse">
            <a:avLst/>
          </a:prstGeom>
          <a:solidFill>
            <a:srgbClr val="12B3A8">
              <a:alpha val="10000"/>
            </a:srgbClr>
          </a:solidFill>
          <a:ln w="12700">
            <a:solidFill>
              <a:srgbClr val="12B3A8">
                <a:alpha val="0"/>
              </a:srgbClr>
            </a:solidFill>
            <a:prstDash val="solid"/>
          </a:ln>
        </p:spPr>
      </p:sp>
      <p:sp>
        <p:nvSpPr>
          <p:cNvPr id="7" name="Text 4"/>
          <p:cNvSpPr/>
          <p:nvPr/>
        </p:nvSpPr>
        <p:spPr>
          <a:xfrm>
            <a:off x="658368" y="182880"/>
            <a:ext cx="2651760" cy="146304"/>
          </a:xfrm>
          <a:prstGeom prst="rect">
            <a:avLst/>
          </a:prstGeom>
          <a:noFill/>
          <a:ln/>
        </p:spPr>
        <p:txBody>
          <a:bodyPr wrap="square" lIns="0" tIns="0" rIns="0" bIns="0" rtlCol="0" anchor="ctr"/>
          <a:lstStyle/>
          <a:p>
            <a:pPr indent="0" marL="0">
              <a:buNone/>
            </a:pPr>
            <a:r>
              <a:rPr lang="en-US" sz="850" b="1" dirty="0">
                <a:solidFill>
                  <a:srgbClr val="8AB8FF"/>
                </a:solidFill>
                <a:latin typeface="Aptos" pitchFamily="34" charset="0"/>
                <a:ea typeface="Aptos" pitchFamily="34" charset="-122"/>
                <a:cs typeface="Aptos" pitchFamily="34" charset="-120"/>
              </a:rPr>
              <a:t>CONTROL LAYER</a:t>
            </a:r>
            <a:endParaRPr lang="en-US" sz="850" dirty="0"/>
          </a:p>
        </p:txBody>
      </p:sp>
      <p:sp>
        <p:nvSpPr>
          <p:cNvPr id="8" name="Text 5"/>
          <p:cNvSpPr/>
          <p:nvPr/>
        </p:nvSpPr>
        <p:spPr>
          <a:xfrm>
            <a:off x="658368" y="612648"/>
            <a:ext cx="7223760" cy="411480"/>
          </a:xfrm>
          <a:prstGeom prst="rect">
            <a:avLst/>
          </a:prstGeom>
          <a:noFill/>
          <a:ln/>
        </p:spPr>
        <p:txBody>
          <a:bodyPr wrap="square" lIns="0" tIns="0" rIns="0" bIns="0" rtlCol="0" anchor="ctr"/>
          <a:lstStyle/>
          <a:p>
            <a:pPr indent="0" marL="0">
              <a:buNone/>
            </a:pPr>
            <a:r>
              <a:rPr lang="en-US" sz="2400" b="1" dirty="0">
                <a:solidFill>
                  <a:srgbClr val="102749"/>
                </a:solidFill>
                <a:latin typeface="Aptos Display" pitchFamily="34" charset="0"/>
                <a:ea typeface="Aptos Display" pitchFamily="34" charset="-122"/>
                <a:cs typeface="Aptos Display" pitchFamily="34" charset="-120"/>
              </a:rPr>
              <a:t>What Orchestration Means</a:t>
            </a:r>
            <a:endParaRPr lang="en-US" sz="2400" dirty="0"/>
          </a:p>
        </p:txBody>
      </p:sp>
      <p:sp>
        <p:nvSpPr>
          <p:cNvPr id="9" name="Text 6"/>
          <p:cNvSpPr/>
          <p:nvPr/>
        </p:nvSpPr>
        <p:spPr>
          <a:xfrm>
            <a:off x="658368" y="1069848"/>
            <a:ext cx="7863840" cy="310896"/>
          </a:xfrm>
          <a:prstGeom prst="rect">
            <a:avLst/>
          </a:prstGeom>
          <a:noFill/>
          <a:ln/>
        </p:spPr>
        <p:txBody>
          <a:bodyPr wrap="square" lIns="0" tIns="0" rIns="0" bIns="0" rtlCol="0" anchor="ctr"/>
          <a:lstStyle/>
          <a:p>
            <a:pPr indent="0" marL="0">
              <a:buNone/>
            </a:pPr>
            <a:r>
              <a:rPr lang="en-US" sz="1100" dirty="0">
                <a:solidFill>
                  <a:srgbClr val="51607B"/>
                </a:solidFill>
                <a:latin typeface="Aptos" pitchFamily="34" charset="0"/>
                <a:ea typeface="Aptos" pitchFamily="34" charset="-122"/>
                <a:cs typeface="Aptos" pitchFamily="34" charset="-120"/>
              </a:rPr>
              <a:t>Orchestration is the control layer that turns separate bots into a reliable service</a:t>
            </a:r>
            <a:endParaRPr lang="en-US" sz="1100" dirty="0"/>
          </a:p>
        </p:txBody>
      </p:sp>
      <p:sp>
        <p:nvSpPr>
          <p:cNvPr id="10" name="Text 7"/>
          <p:cNvSpPr/>
          <p:nvPr/>
        </p:nvSpPr>
        <p:spPr>
          <a:xfrm>
            <a:off x="11155680" y="530352"/>
            <a:ext cx="365760" cy="201168"/>
          </a:xfrm>
          <a:prstGeom prst="rect">
            <a:avLst/>
          </a:prstGeom>
          <a:noFill/>
          <a:ln/>
        </p:spPr>
        <p:txBody>
          <a:bodyPr wrap="square" lIns="0" tIns="0" rIns="0" bIns="0" rtlCol="0" anchor="ctr"/>
          <a:lstStyle/>
          <a:p>
            <a:pPr algn="r" indent="0" marL="0">
              <a:buNone/>
            </a:pPr>
            <a:r>
              <a:rPr lang="en-US" sz="950" dirty="0">
                <a:solidFill>
                  <a:srgbClr val="51607B"/>
                </a:solidFill>
                <a:latin typeface="Consolas" pitchFamily="34" charset="0"/>
                <a:ea typeface="Consolas" pitchFamily="34" charset="-122"/>
                <a:cs typeface="Consolas" pitchFamily="34" charset="-120"/>
              </a:rPr>
              <a:t>09</a:t>
            </a:r>
            <a:endParaRPr lang="en-US" sz="950" dirty="0"/>
          </a:p>
        </p:txBody>
      </p:sp>
      <p:sp>
        <p:nvSpPr>
          <p:cNvPr id="11" name="Shape 8"/>
          <p:cNvSpPr/>
          <p:nvPr/>
        </p:nvSpPr>
        <p:spPr>
          <a:xfrm>
            <a:off x="8366760" y="676656"/>
            <a:ext cx="3154680" cy="822960"/>
          </a:xfrm>
          <a:prstGeom prst="roundRect">
            <a:avLst>
              <a:gd name="adj" fmla="val 8889"/>
            </a:avLst>
          </a:prstGeom>
          <a:solidFill>
            <a:srgbClr val="FFFFFF"/>
          </a:solidFill>
          <a:ln w="12700">
            <a:solidFill>
              <a:srgbClr val="12B3A8">
                <a:alpha val="0"/>
              </a:srgbClr>
            </a:solidFill>
            <a:prstDash val="solid"/>
          </a:ln>
        </p:spPr>
      </p:sp>
      <p:sp>
        <p:nvSpPr>
          <p:cNvPr id="12" name="Shape 9"/>
          <p:cNvSpPr/>
          <p:nvPr/>
        </p:nvSpPr>
        <p:spPr>
          <a:xfrm>
            <a:off x="8366760" y="676656"/>
            <a:ext cx="73152" cy="822960"/>
          </a:xfrm>
          <a:prstGeom prst="rect">
            <a:avLst/>
          </a:prstGeom>
          <a:solidFill>
            <a:srgbClr val="12B3A8"/>
          </a:solidFill>
          <a:ln w="12700">
            <a:solidFill>
              <a:srgbClr val="12B3A8">
                <a:alpha val="0"/>
              </a:srgbClr>
            </a:solidFill>
            <a:prstDash val="solid"/>
          </a:ln>
        </p:spPr>
      </p:sp>
      <p:sp>
        <p:nvSpPr>
          <p:cNvPr id="13" name="Text 10"/>
          <p:cNvSpPr/>
          <p:nvPr/>
        </p:nvSpPr>
        <p:spPr>
          <a:xfrm>
            <a:off x="8531352" y="786384"/>
            <a:ext cx="1097280" cy="164592"/>
          </a:xfrm>
          <a:prstGeom prst="rect">
            <a:avLst/>
          </a:prstGeom>
          <a:noFill/>
          <a:ln/>
        </p:spPr>
        <p:txBody>
          <a:bodyPr wrap="square" lIns="0" tIns="0" rIns="0" bIns="0" rtlCol="0" anchor="ctr"/>
          <a:lstStyle/>
          <a:p>
            <a:pPr indent="0" marL="0">
              <a:buNone/>
            </a:pPr>
            <a:r>
              <a:rPr lang="en-US" sz="800" b="1" dirty="0">
                <a:solidFill>
                  <a:srgbClr val="12B3A8"/>
                </a:solidFill>
                <a:latin typeface="Aptos" pitchFamily="34" charset="0"/>
                <a:ea typeface="Aptos" pitchFamily="34" charset="-122"/>
                <a:cs typeface="Aptos" pitchFamily="34" charset="-120"/>
              </a:rPr>
              <a:t>Key takeaway</a:t>
            </a:r>
            <a:endParaRPr lang="en-US" sz="800" dirty="0"/>
          </a:p>
        </p:txBody>
      </p:sp>
      <p:sp>
        <p:nvSpPr>
          <p:cNvPr id="14" name="Text 11"/>
          <p:cNvSpPr/>
          <p:nvPr/>
        </p:nvSpPr>
        <p:spPr>
          <a:xfrm>
            <a:off x="8531352" y="932688"/>
            <a:ext cx="2880360" cy="521208"/>
          </a:xfrm>
          <a:prstGeom prst="rect">
            <a:avLst/>
          </a:prstGeom>
          <a:noFill/>
          <a:ln/>
        </p:spPr>
        <p:txBody>
          <a:bodyPr wrap="square" lIns="254" tIns="254" rIns="254" bIns="254" rtlCol="0" anchor="ctr"/>
          <a:lstStyle/>
          <a:p>
            <a:pPr indent="0" marL="0">
              <a:buNone/>
            </a:pPr>
            <a:r>
              <a:rPr lang="en-US" sz="920" dirty="0">
                <a:solidFill>
                  <a:srgbClr val="102749"/>
                </a:solidFill>
                <a:latin typeface="Aptos" pitchFamily="34" charset="0"/>
                <a:ea typeface="Aptos" pitchFamily="34" charset="-122"/>
                <a:cs typeface="Aptos" pitchFamily="34" charset="-120"/>
              </a:rPr>
              <a:t>Orchestration is about control, coordination, scheduling, workload handling, visibility, and recovery across the automation landscape.</a:t>
            </a:r>
            <a:endParaRPr lang="en-US" sz="920" dirty="0"/>
          </a:p>
        </p:txBody>
      </p:sp>
      <p:sp>
        <p:nvSpPr>
          <p:cNvPr id="15" name="Shape 12"/>
          <p:cNvSpPr/>
          <p:nvPr/>
        </p:nvSpPr>
        <p:spPr>
          <a:xfrm>
            <a:off x="4434840" y="1920240"/>
            <a:ext cx="3246120" cy="1051560"/>
          </a:xfrm>
          <a:prstGeom prst="roundRect">
            <a:avLst>
              <a:gd name="adj" fmla="val 5217"/>
            </a:avLst>
          </a:prstGeom>
          <a:solidFill>
            <a:srgbClr val="FFFFFF"/>
          </a:solidFill>
          <a:ln w="12700">
            <a:solidFill>
              <a:srgbClr val="C7D5EA"/>
            </a:solidFill>
            <a:prstDash val="solid"/>
          </a:ln>
        </p:spPr>
      </p:sp>
      <p:sp>
        <p:nvSpPr>
          <p:cNvPr id="16" name="Shape 13"/>
          <p:cNvSpPr/>
          <p:nvPr/>
        </p:nvSpPr>
        <p:spPr>
          <a:xfrm>
            <a:off x="4434840" y="1920240"/>
            <a:ext cx="3246120" cy="64008"/>
          </a:xfrm>
          <a:prstGeom prst="rect">
            <a:avLst/>
          </a:prstGeom>
          <a:solidFill>
            <a:srgbClr val="1F6FFF"/>
          </a:solidFill>
          <a:ln w="12700">
            <a:solidFill>
              <a:srgbClr val="1F6FFF">
                <a:alpha val="0"/>
              </a:srgbClr>
            </a:solidFill>
            <a:prstDash val="solid"/>
          </a:ln>
        </p:spPr>
      </p:sp>
      <p:sp>
        <p:nvSpPr>
          <p:cNvPr id="17" name="Text 14"/>
          <p:cNvSpPr/>
          <p:nvPr/>
        </p:nvSpPr>
        <p:spPr>
          <a:xfrm>
            <a:off x="4599432" y="2084832"/>
            <a:ext cx="297180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Orchestration Hub</a:t>
            </a:r>
            <a:endParaRPr lang="en-US" sz="1150" dirty="0"/>
          </a:p>
        </p:txBody>
      </p:sp>
      <p:sp>
        <p:nvSpPr>
          <p:cNvPr id="18" name="Text 15"/>
          <p:cNvSpPr/>
          <p:nvPr/>
        </p:nvSpPr>
        <p:spPr>
          <a:xfrm>
            <a:off x="4599432" y="2359152"/>
            <a:ext cx="2971800" cy="521208"/>
          </a:xfrm>
          <a:prstGeom prst="rect">
            <a:avLst/>
          </a:prstGeom>
          <a:noFill/>
          <a:ln/>
        </p:spPr>
        <p:txBody>
          <a:bodyPr wrap="square" lIns="254" tIns="254" rIns="254" bIns="254" rtlCol="0" anchor="t"/>
          <a:lstStyle/>
          <a:p>
            <a:pPr indent="0" marL="0">
              <a:buNone/>
            </a:pPr>
            <a:r>
              <a:rPr lang="en-US" sz="940" dirty="0">
                <a:solidFill>
                  <a:srgbClr val="51607B"/>
                </a:solidFill>
                <a:latin typeface="Aptos" pitchFamily="34" charset="0"/>
                <a:ea typeface="Aptos" pitchFamily="34" charset="-122"/>
                <a:cs typeface="Aptos" pitchFamily="34" charset="-120"/>
              </a:rPr>
              <a:t>The control layer coordinating schedules, queues, credentials, visibility, and recovery.</a:t>
            </a:r>
            <a:endParaRPr lang="en-US" sz="940" dirty="0"/>
          </a:p>
        </p:txBody>
      </p:sp>
      <p:sp>
        <p:nvSpPr>
          <p:cNvPr id="19" name="Shape 16"/>
          <p:cNvSpPr/>
          <p:nvPr/>
        </p:nvSpPr>
        <p:spPr>
          <a:xfrm>
            <a:off x="914400" y="1874520"/>
            <a:ext cx="2834640" cy="1024128"/>
          </a:xfrm>
          <a:prstGeom prst="roundRect">
            <a:avLst>
              <a:gd name="adj" fmla="val 5357"/>
            </a:avLst>
          </a:prstGeom>
          <a:solidFill>
            <a:srgbClr val="FFFFFF"/>
          </a:solidFill>
          <a:ln w="12700">
            <a:solidFill>
              <a:srgbClr val="C7D5EA"/>
            </a:solidFill>
            <a:prstDash val="solid"/>
          </a:ln>
        </p:spPr>
      </p:sp>
      <p:sp>
        <p:nvSpPr>
          <p:cNvPr id="20" name="Shape 17"/>
          <p:cNvSpPr/>
          <p:nvPr/>
        </p:nvSpPr>
        <p:spPr>
          <a:xfrm>
            <a:off x="914400" y="1874520"/>
            <a:ext cx="2834640" cy="64008"/>
          </a:xfrm>
          <a:prstGeom prst="rect">
            <a:avLst/>
          </a:prstGeom>
          <a:solidFill>
            <a:srgbClr val="1F6FFF"/>
          </a:solidFill>
          <a:ln w="12700">
            <a:solidFill>
              <a:srgbClr val="1F6FFF">
                <a:alpha val="0"/>
              </a:srgbClr>
            </a:solidFill>
            <a:prstDash val="solid"/>
          </a:ln>
        </p:spPr>
      </p:sp>
      <p:sp>
        <p:nvSpPr>
          <p:cNvPr id="21" name="Text 18"/>
          <p:cNvSpPr/>
          <p:nvPr/>
        </p:nvSpPr>
        <p:spPr>
          <a:xfrm>
            <a:off x="1078992" y="2039112"/>
            <a:ext cx="256032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Schedule</a:t>
            </a:r>
            <a:endParaRPr lang="en-US" sz="1150" dirty="0"/>
          </a:p>
        </p:txBody>
      </p:sp>
      <p:sp>
        <p:nvSpPr>
          <p:cNvPr id="22" name="Text 19"/>
          <p:cNvSpPr/>
          <p:nvPr/>
        </p:nvSpPr>
        <p:spPr>
          <a:xfrm>
            <a:off x="1078992" y="2313432"/>
            <a:ext cx="2560320" cy="493776"/>
          </a:xfrm>
          <a:prstGeom prst="rect">
            <a:avLst/>
          </a:prstGeom>
          <a:noFill/>
          <a:ln/>
        </p:spPr>
        <p:txBody>
          <a:bodyPr wrap="square" lIns="254" tIns="254" rIns="254" bIns="254" rtlCol="0" anchor="t"/>
          <a:lstStyle/>
          <a:p>
            <a:pPr indent="0" marL="0">
              <a:buNone/>
            </a:pPr>
            <a:r>
              <a:rPr lang="en-US" sz="870" dirty="0">
                <a:solidFill>
                  <a:srgbClr val="51607B"/>
                </a:solidFill>
                <a:latin typeface="Aptos" pitchFamily="34" charset="0"/>
                <a:ea typeface="Aptos" pitchFamily="34" charset="-122"/>
                <a:cs typeface="Aptos" pitchFamily="34" charset="-120"/>
              </a:rPr>
              <a:t>Run at the right time and in the right sequence.</a:t>
            </a:r>
            <a:endParaRPr lang="en-US" sz="870" dirty="0"/>
          </a:p>
        </p:txBody>
      </p:sp>
      <p:sp>
        <p:nvSpPr>
          <p:cNvPr id="23" name="Shape 20"/>
          <p:cNvSpPr/>
          <p:nvPr/>
        </p:nvSpPr>
        <p:spPr>
          <a:xfrm>
            <a:off x="8275320" y="1874520"/>
            <a:ext cx="2834640" cy="1024128"/>
          </a:xfrm>
          <a:prstGeom prst="roundRect">
            <a:avLst>
              <a:gd name="adj" fmla="val 5357"/>
            </a:avLst>
          </a:prstGeom>
          <a:solidFill>
            <a:srgbClr val="FFFFFF"/>
          </a:solidFill>
          <a:ln w="12700">
            <a:solidFill>
              <a:srgbClr val="C7D5EA"/>
            </a:solidFill>
            <a:prstDash val="solid"/>
          </a:ln>
        </p:spPr>
      </p:sp>
      <p:sp>
        <p:nvSpPr>
          <p:cNvPr id="24" name="Shape 21"/>
          <p:cNvSpPr/>
          <p:nvPr/>
        </p:nvSpPr>
        <p:spPr>
          <a:xfrm>
            <a:off x="8275320" y="1874520"/>
            <a:ext cx="2834640" cy="64008"/>
          </a:xfrm>
          <a:prstGeom prst="rect">
            <a:avLst/>
          </a:prstGeom>
          <a:solidFill>
            <a:srgbClr val="12B3A8"/>
          </a:solidFill>
          <a:ln w="12700">
            <a:solidFill>
              <a:srgbClr val="12B3A8">
                <a:alpha val="0"/>
              </a:srgbClr>
            </a:solidFill>
            <a:prstDash val="solid"/>
          </a:ln>
        </p:spPr>
      </p:sp>
      <p:sp>
        <p:nvSpPr>
          <p:cNvPr id="25" name="Text 22"/>
          <p:cNvSpPr/>
          <p:nvPr/>
        </p:nvSpPr>
        <p:spPr>
          <a:xfrm>
            <a:off x="8439912" y="2039112"/>
            <a:ext cx="256032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Queue</a:t>
            </a:r>
            <a:endParaRPr lang="en-US" sz="1150" dirty="0"/>
          </a:p>
        </p:txBody>
      </p:sp>
      <p:sp>
        <p:nvSpPr>
          <p:cNvPr id="26" name="Text 23"/>
          <p:cNvSpPr/>
          <p:nvPr/>
        </p:nvSpPr>
        <p:spPr>
          <a:xfrm>
            <a:off x="8439912" y="2313432"/>
            <a:ext cx="2560320" cy="493776"/>
          </a:xfrm>
          <a:prstGeom prst="rect">
            <a:avLst/>
          </a:prstGeom>
          <a:noFill/>
          <a:ln/>
        </p:spPr>
        <p:txBody>
          <a:bodyPr wrap="square" lIns="254" tIns="254" rIns="254" bIns="254" rtlCol="0" anchor="t"/>
          <a:lstStyle/>
          <a:p>
            <a:pPr indent="0" marL="0">
              <a:buNone/>
            </a:pPr>
            <a:r>
              <a:rPr lang="en-US" sz="870" dirty="0">
                <a:solidFill>
                  <a:srgbClr val="51607B"/>
                </a:solidFill>
                <a:latin typeface="Aptos" pitchFamily="34" charset="0"/>
                <a:ea typeface="Aptos" pitchFamily="34" charset="-122"/>
                <a:cs typeface="Aptos" pitchFamily="34" charset="-120"/>
              </a:rPr>
              <a:t>Control transaction flow, prioritization, and ownership.</a:t>
            </a:r>
            <a:endParaRPr lang="en-US" sz="870" dirty="0"/>
          </a:p>
        </p:txBody>
      </p:sp>
      <p:sp>
        <p:nvSpPr>
          <p:cNvPr id="27" name="Shape 24"/>
          <p:cNvSpPr/>
          <p:nvPr/>
        </p:nvSpPr>
        <p:spPr>
          <a:xfrm>
            <a:off x="914400" y="3310128"/>
            <a:ext cx="2834640" cy="1024128"/>
          </a:xfrm>
          <a:prstGeom prst="roundRect">
            <a:avLst>
              <a:gd name="adj" fmla="val 5357"/>
            </a:avLst>
          </a:prstGeom>
          <a:solidFill>
            <a:srgbClr val="FFFFFF"/>
          </a:solidFill>
          <a:ln w="12700">
            <a:solidFill>
              <a:srgbClr val="C7D5EA"/>
            </a:solidFill>
            <a:prstDash val="solid"/>
          </a:ln>
        </p:spPr>
      </p:sp>
      <p:sp>
        <p:nvSpPr>
          <p:cNvPr id="28" name="Shape 25"/>
          <p:cNvSpPr/>
          <p:nvPr/>
        </p:nvSpPr>
        <p:spPr>
          <a:xfrm>
            <a:off x="914400" y="3310128"/>
            <a:ext cx="2834640" cy="64008"/>
          </a:xfrm>
          <a:prstGeom prst="rect">
            <a:avLst/>
          </a:prstGeom>
          <a:solidFill>
            <a:srgbClr val="1F6FFF"/>
          </a:solidFill>
          <a:ln w="12700">
            <a:solidFill>
              <a:srgbClr val="1F6FFF">
                <a:alpha val="0"/>
              </a:srgbClr>
            </a:solidFill>
            <a:prstDash val="solid"/>
          </a:ln>
        </p:spPr>
      </p:sp>
      <p:sp>
        <p:nvSpPr>
          <p:cNvPr id="29" name="Text 26"/>
          <p:cNvSpPr/>
          <p:nvPr/>
        </p:nvSpPr>
        <p:spPr>
          <a:xfrm>
            <a:off x="1078992" y="3474720"/>
            <a:ext cx="256032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Visibility</a:t>
            </a:r>
            <a:endParaRPr lang="en-US" sz="1150" dirty="0"/>
          </a:p>
        </p:txBody>
      </p:sp>
      <p:sp>
        <p:nvSpPr>
          <p:cNvPr id="30" name="Text 27"/>
          <p:cNvSpPr/>
          <p:nvPr/>
        </p:nvSpPr>
        <p:spPr>
          <a:xfrm>
            <a:off x="1078992" y="3749040"/>
            <a:ext cx="2560320" cy="493776"/>
          </a:xfrm>
          <a:prstGeom prst="rect">
            <a:avLst/>
          </a:prstGeom>
          <a:noFill/>
          <a:ln/>
        </p:spPr>
        <p:txBody>
          <a:bodyPr wrap="square" lIns="254" tIns="254" rIns="254" bIns="254" rtlCol="0" anchor="t"/>
          <a:lstStyle/>
          <a:p>
            <a:pPr indent="0" marL="0">
              <a:buNone/>
            </a:pPr>
            <a:r>
              <a:rPr lang="en-US" sz="870" dirty="0">
                <a:solidFill>
                  <a:srgbClr val="51607B"/>
                </a:solidFill>
                <a:latin typeface="Aptos" pitchFamily="34" charset="0"/>
                <a:ea typeface="Aptos" pitchFamily="34" charset="-122"/>
                <a:cs typeface="Aptos" pitchFamily="34" charset="-120"/>
              </a:rPr>
              <a:t>Track robot health, outcomes, and bottlenecks.</a:t>
            </a:r>
            <a:endParaRPr lang="en-US" sz="870" dirty="0"/>
          </a:p>
        </p:txBody>
      </p:sp>
      <p:sp>
        <p:nvSpPr>
          <p:cNvPr id="31" name="Shape 28"/>
          <p:cNvSpPr/>
          <p:nvPr/>
        </p:nvSpPr>
        <p:spPr>
          <a:xfrm>
            <a:off x="8275320" y="3310128"/>
            <a:ext cx="2834640" cy="1024128"/>
          </a:xfrm>
          <a:prstGeom prst="roundRect">
            <a:avLst>
              <a:gd name="adj" fmla="val 5357"/>
            </a:avLst>
          </a:prstGeom>
          <a:solidFill>
            <a:srgbClr val="FFFFFF"/>
          </a:solidFill>
          <a:ln w="12700">
            <a:solidFill>
              <a:srgbClr val="C7D5EA"/>
            </a:solidFill>
            <a:prstDash val="solid"/>
          </a:ln>
        </p:spPr>
      </p:sp>
      <p:sp>
        <p:nvSpPr>
          <p:cNvPr id="32" name="Shape 29"/>
          <p:cNvSpPr/>
          <p:nvPr/>
        </p:nvSpPr>
        <p:spPr>
          <a:xfrm>
            <a:off x="8275320" y="3310128"/>
            <a:ext cx="2834640" cy="64008"/>
          </a:xfrm>
          <a:prstGeom prst="rect">
            <a:avLst/>
          </a:prstGeom>
          <a:solidFill>
            <a:srgbClr val="12B3A8"/>
          </a:solidFill>
          <a:ln w="12700">
            <a:solidFill>
              <a:srgbClr val="12B3A8">
                <a:alpha val="0"/>
              </a:srgbClr>
            </a:solidFill>
            <a:prstDash val="solid"/>
          </a:ln>
        </p:spPr>
      </p:sp>
      <p:sp>
        <p:nvSpPr>
          <p:cNvPr id="33" name="Text 30"/>
          <p:cNvSpPr/>
          <p:nvPr/>
        </p:nvSpPr>
        <p:spPr>
          <a:xfrm>
            <a:off x="8439912" y="3474720"/>
            <a:ext cx="256032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Recovery</a:t>
            </a:r>
            <a:endParaRPr lang="en-US" sz="1150" dirty="0"/>
          </a:p>
        </p:txBody>
      </p:sp>
      <p:sp>
        <p:nvSpPr>
          <p:cNvPr id="34" name="Text 31"/>
          <p:cNvSpPr/>
          <p:nvPr/>
        </p:nvSpPr>
        <p:spPr>
          <a:xfrm>
            <a:off x="8439912" y="3749040"/>
            <a:ext cx="2560320" cy="493776"/>
          </a:xfrm>
          <a:prstGeom prst="rect">
            <a:avLst/>
          </a:prstGeom>
          <a:noFill/>
          <a:ln/>
        </p:spPr>
        <p:txBody>
          <a:bodyPr wrap="square" lIns="254" tIns="254" rIns="254" bIns="254" rtlCol="0" anchor="t"/>
          <a:lstStyle/>
          <a:p>
            <a:pPr indent="0" marL="0">
              <a:buNone/>
            </a:pPr>
            <a:r>
              <a:rPr lang="en-US" sz="870" dirty="0">
                <a:solidFill>
                  <a:srgbClr val="51607B"/>
                </a:solidFill>
                <a:latin typeface="Aptos" pitchFamily="34" charset="0"/>
                <a:ea typeface="Aptos" pitchFamily="34" charset="-122"/>
                <a:cs typeface="Aptos" pitchFamily="34" charset="-120"/>
              </a:rPr>
              <a:t>Retry, escalate, or route for human review.</a:t>
            </a:r>
            <a:endParaRPr lang="en-US" sz="870" dirty="0"/>
          </a:p>
        </p:txBody>
      </p:sp>
      <p:sp>
        <p:nvSpPr>
          <p:cNvPr id="35" name="Shape 32"/>
          <p:cNvSpPr/>
          <p:nvPr/>
        </p:nvSpPr>
        <p:spPr>
          <a:xfrm>
            <a:off x="749808" y="4773168"/>
            <a:ext cx="7269480" cy="1005840"/>
          </a:xfrm>
          <a:prstGeom prst="roundRect">
            <a:avLst>
              <a:gd name="adj" fmla="val 4545"/>
            </a:avLst>
          </a:prstGeom>
          <a:solidFill>
            <a:srgbClr val="FFFFFF"/>
          </a:solidFill>
          <a:ln w="12700">
            <a:solidFill>
              <a:srgbClr val="C7D5EA"/>
            </a:solidFill>
            <a:prstDash val="solid"/>
          </a:ln>
        </p:spPr>
      </p:sp>
      <p:sp>
        <p:nvSpPr>
          <p:cNvPr id="36" name="Shape 33"/>
          <p:cNvSpPr/>
          <p:nvPr/>
        </p:nvSpPr>
        <p:spPr>
          <a:xfrm>
            <a:off x="932688" y="5029200"/>
            <a:ext cx="100584" cy="100584"/>
          </a:xfrm>
          <a:prstGeom prst="ellipse">
            <a:avLst/>
          </a:prstGeom>
          <a:solidFill>
            <a:srgbClr val="1F6FFF"/>
          </a:solidFill>
          <a:ln w="12700">
            <a:solidFill>
              <a:srgbClr val="1F6FFF">
                <a:alpha val="0"/>
              </a:srgbClr>
            </a:solidFill>
            <a:prstDash val="solid"/>
          </a:ln>
        </p:spPr>
      </p:sp>
      <p:sp>
        <p:nvSpPr>
          <p:cNvPr id="37" name="Text 34"/>
          <p:cNvSpPr/>
          <p:nvPr/>
        </p:nvSpPr>
        <p:spPr>
          <a:xfrm>
            <a:off x="1097280" y="4956048"/>
            <a:ext cx="6858000"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Schedules and triggers decide when a process should start and under what conditions</a:t>
            </a:r>
            <a:endParaRPr lang="en-US" sz="965" dirty="0"/>
          </a:p>
        </p:txBody>
      </p:sp>
      <p:sp>
        <p:nvSpPr>
          <p:cNvPr id="38" name="Shape 35"/>
          <p:cNvSpPr/>
          <p:nvPr/>
        </p:nvSpPr>
        <p:spPr>
          <a:xfrm>
            <a:off x="932688" y="5239512"/>
            <a:ext cx="100584" cy="100584"/>
          </a:xfrm>
          <a:prstGeom prst="ellipse">
            <a:avLst/>
          </a:prstGeom>
          <a:solidFill>
            <a:srgbClr val="1F6FFF"/>
          </a:solidFill>
          <a:ln w="12700">
            <a:solidFill>
              <a:srgbClr val="1F6FFF">
                <a:alpha val="0"/>
              </a:srgbClr>
            </a:solidFill>
            <a:prstDash val="solid"/>
          </a:ln>
        </p:spPr>
      </p:sp>
      <p:sp>
        <p:nvSpPr>
          <p:cNvPr id="39" name="Text 36"/>
          <p:cNvSpPr/>
          <p:nvPr/>
        </p:nvSpPr>
        <p:spPr>
          <a:xfrm>
            <a:off x="1097280" y="5166360"/>
            <a:ext cx="6858000"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Queues and workload controls decide which item is processed next and by which robot or workflow</a:t>
            </a:r>
            <a:endParaRPr lang="en-US" sz="965" dirty="0"/>
          </a:p>
        </p:txBody>
      </p:sp>
      <p:sp>
        <p:nvSpPr>
          <p:cNvPr id="40" name="Shape 37"/>
          <p:cNvSpPr/>
          <p:nvPr/>
        </p:nvSpPr>
        <p:spPr>
          <a:xfrm>
            <a:off x="932688" y="5449824"/>
            <a:ext cx="100584" cy="100584"/>
          </a:xfrm>
          <a:prstGeom prst="ellipse">
            <a:avLst/>
          </a:prstGeom>
          <a:solidFill>
            <a:srgbClr val="1F6FFF"/>
          </a:solidFill>
          <a:ln w="12700">
            <a:solidFill>
              <a:srgbClr val="1F6FFF">
                <a:alpha val="0"/>
              </a:srgbClr>
            </a:solidFill>
            <a:prstDash val="solid"/>
          </a:ln>
        </p:spPr>
      </p:sp>
      <p:sp>
        <p:nvSpPr>
          <p:cNvPr id="41" name="Text 38"/>
          <p:cNvSpPr/>
          <p:nvPr/>
        </p:nvSpPr>
        <p:spPr>
          <a:xfrm>
            <a:off x="1097280" y="5376672"/>
            <a:ext cx="6858000"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Credential and configuration management keep environments secure and consistent</a:t>
            </a:r>
            <a:endParaRPr lang="en-US" sz="965" dirty="0"/>
          </a:p>
        </p:txBody>
      </p:sp>
      <p:sp>
        <p:nvSpPr>
          <p:cNvPr id="42" name="Shape 39"/>
          <p:cNvSpPr/>
          <p:nvPr/>
        </p:nvSpPr>
        <p:spPr>
          <a:xfrm>
            <a:off x="8247888" y="4773168"/>
            <a:ext cx="3182112" cy="1005840"/>
          </a:xfrm>
          <a:prstGeom prst="roundRect">
            <a:avLst>
              <a:gd name="adj" fmla="val 4545"/>
            </a:avLst>
          </a:prstGeom>
          <a:solidFill>
            <a:srgbClr val="FFF9EE"/>
          </a:solidFill>
          <a:ln w="12700">
            <a:solidFill>
              <a:srgbClr val="E6A019"/>
            </a:solidFill>
            <a:prstDash val="solid"/>
          </a:ln>
        </p:spPr>
      </p:sp>
      <p:sp>
        <p:nvSpPr>
          <p:cNvPr id="43" name="Text 40"/>
          <p:cNvSpPr/>
          <p:nvPr/>
        </p:nvSpPr>
        <p:spPr>
          <a:xfrm>
            <a:off x="8412480" y="4901184"/>
            <a:ext cx="2907792" cy="164592"/>
          </a:xfrm>
          <a:prstGeom prst="rect">
            <a:avLst/>
          </a:prstGeom>
          <a:noFill/>
          <a:ln/>
        </p:spPr>
        <p:txBody>
          <a:bodyPr wrap="square" lIns="0" tIns="0" rIns="0" bIns="0" rtlCol="0" anchor="ctr"/>
          <a:lstStyle/>
          <a:p>
            <a:pPr indent="0" marL="0">
              <a:buNone/>
            </a:pPr>
            <a:r>
              <a:rPr lang="en-US" sz="850" b="1" dirty="0">
                <a:solidFill>
                  <a:srgbClr val="E6A019"/>
                </a:solidFill>
                <a:latin typeface="Aptos" pitchFamily="34" charset="0"/>
                <a:ea typeface="Aptos" pitchFamily="34" charset="-122"/>
                <a:cs typeface="Aptos" pitchFamily="34" charset="-120"/>
              </a:rPr>
              <a:t>Critical Reminder</a:t>
            </a:r>
            <a:endParaRPr lang="en-US" sz="850" dirty="0"/>
          </a:p>
        </p:txBody>
      </p:sp>
      <p:sp>
        <p:nvSpPr>
          <p:cNvPr id="44" name="Text 41"/>
          <p:cNvSpPr/>
          <p:nvPr/>
        </p:nvSpPr>
        <p:spPr>
          <a:xfrm>
            <a:off x="8412480" y="5074920"/>
            <a:ext cx="2907792" cy="658368"/>
          </a:xfrm>
          <a:prstGeom prst="rect">
            <a:avLst/>
          </a:prstGeom>
          <a:noFill/>
          <a:ln/>
        </p:spPr>
        <p:txBody>
          <a:bodyPr wrap="square" lIns="254" tIns="254" rIns="254" bIns="254" rtlCol="0" anchor="ctr"/>
          <a:lstStyle/>
          <a:p>
            <a:pPr indent="0" marL="0">
              <a:buNone/>
            </a:pPr>
            <a:r>
              <a:rPr lang="en-US" sz="940" dirty="0">
                <a:solidFill>
                  <a:srgbClr val="102749"/>
                </a:solidFill>
                <a:latin typeface="Aptos" pitchFamily="34" charset="0"/>
                <a:ea typeface="Aptos" pitchFamily="34" charset="-122"/>
                <a:cs typeface="Aptos" pitchFamily="34" charset="-120"/>
              </a:rPr>
              <a:t>Exception handling is not optional. It is part of orchestration design.</a:t>
            </a:r>
            <a:endParaRPr lang="en-US" sz="940" dirty="0"/>
          </a:p>
        </p:txBody>
      </p:sp>
      <p:sp>
        <p:nvSpPr>
          <p:cNvPr id="45" name="Text 42"/>
          <p:cNvSpPr/>
          <p:nvPr/>
        </p:nvSpPr>
        <p:spPr>
          <a:xfrm>
            <a:off x="658368" y="6510528"/>
            <a:ext cx="2560320" cy="164592"/>
          </a:xfrm>
          <a:prstGeom prst="rect">
            <a:avLst/>
          </a:prstGeom>
          <a:noFill/>
          <a:ln/>
        </p:spPr>
        <p:txBody>
          <a:bodyPr wrap="square" lIns="0" tIns="0" rIns="0" bIns="0" rtlCol="0" anchor="ctr"/>
          <a:lstStyle/>
          <a:p>
            <a:pPr indent="0" marL="0">
              <a:buNone/>
            </a:pPr>
            <a:r>
              <a:rPr lang="en-US" sz="850" dirty="0">
                <a:solidFill>
                  <a:srgbClr val="51607B"/>
                </a:solidFill>
                <a:latin typeface="Aptos" pitchFamily="34" charset="0"/>
                <a:ea typeface="Aptos" pitchFamily="34" charset="-122"/>
                <a:cs typeface="Aptos" pitchFamily="34" charset="-120"/>
              </a:rPr>
              <a:t>Innobot  |  Internal workshop</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F4F7FB"/>
          </a:solidFill>
          <a:ln/>
        </p:spPr>
      </p:sp>
      <p:sp>
        <p:nvSpPr>
          <p:cNvPr id="4" name="Shape 1"/>
          <p:cNvSpPr/>
          <p:nvPr/>
        </p:nvSpPr>
        <p:spPr>
          <a:xfrm>
            <a:off x="0" y="0"/>
            <a:ext cx="12191695" cy="411480"/>
          </a:xfrm>
          <a:prstGeom prst="rect">
            <a:avLst/>
          </a:prstGeom>
          <a:solidFill>
            <a:srgbClr val="0A1830"/>
          </a:solidFill>
          <a:ln/>
        </p:spPr>
      </p:sp>
      <p:sp>
        <p:nvSpPr>
          <p:cNvPr id="5" name="Shape 2"/>
          <p:cNvSpPr/>
          <p:nvPr/>
        </p:nvSpPr>
        <p:spPr>
          <a:xfrm>
            <a:off x="9509760" y="-137160"/>
            <a:ext cx="3200400" cy="2194560"/>
          </a:xfrm>
          <a:prstGeom prst="ellipse">
            <a:avLst/>
          </a:prstGeom>
          <a:solidFill>
            <a:srgbClr val="8AB8FF">
              <a:alpha val="16000"/>
            </a:srgbClr>
          </a:solidFill>
          <a:ln w="12700">
            <a:solidFill>
              <a:srgbClr val="8AB8FF">
                <a:alpha val="0"/>
              </a:srgbClr>
            </a:solidFill>
            <a:prstDash val="solid"/>
          </a:ln>
        </p:spPr>
      </p:sp>
      <p:sp>
        <p:nvSpPr>
          <p:cNvPr id="6" name="Shape 3"/>
          <p:cNvSpPr/>
          <p:nvPr/>
        </p:nvSpPr>
        <p:spPr>
          <a:xfrm>
            <a:off x="-731520" y="5394960"/>
            <a:ext cx="2560320" cy="1645920"/>
          </a:xfrm>
          <a:prstGeom prst="ellipse">
            <a:avLst/>
          </a:prstGeom>
          <a:solidFill>
            <a:srgbClr val="12B3A8">
              <a:alpha val="10000"/>
            </a:srgbClr>
          </a:solidFill>
          <a:ln w="12700">
            <a:solidFill>
              <a:srgbClr val="12B3A8">
                <a:alpha val="0"/>
              </a:srgbClr>
            </a:solidFill>
            <a:prstDash val="solid"/>
          </a:ln>
        </p:spPr>
      </p:sp>
      <p:sp>
        <p:nvSpPr>
          <p:cNvPr id="7" name="Shape 4"/>
          <p:cNvSpPr/>
          <p:nvPr/>
        </p:nvSpPr>
        <p:spPr>
          <a:xfrm>
            <a:off x="0" y="411480"/>
            <a:ext cx="12191695" cy="146304"/>
          </a:xfrm>
          <a:prstGeom prst="rect">
            <a:avLst/>
          </a:prstGeom>
          <a:solidFill>
            <a:srgbClr val="12B3A8"/>
          </a:solidFill>
          <a:ln/>
        </p:spPr>
      </p:sp>
      <p:sp>
        <p:nvSpPr>
          <p:cNvPr id="8" name="Text 5"/>
          <p:cNvSpPr/>
          <p:nvPr/>
        </p:nvSpPr>
        <p:spPr>
          <a:xfrm>
            <a:off x="658368" y="182880"/>
            <a:ext cx="2651760" cy="146304"/>
          </a:xfrm>
          <a:prstGeom prst="rect">
            <a:avLst/>
          </a:prstGeom>
          <a:noFill/>
          <a:ln/>
        </p:spPr>
        <p:txBody>
          <a:bodyPr wrap="square" lIns="0" tIns="0" rIns="0" bIns="0" rtlCol="0" anchor="ctr"/>
          <a:lstStyle/>
          <a:p>
            <a:pPr indent="0" marL="0">
              <a:buNone/>
            </a:pPr>
            <a:r>
              <a:rPr lang="en-US" sz="850" b="1" dirty="0">
                <a:solidFill>
                  <a:srgbClr val="8AB8FF"/>
                </a:solidFill>
                <a:latin typeface="Aptos" pitchFamily="34" charset="0"/>
                <a:ea typeface="Aptos" pitchFamily="34" charset="-122"/>
                <a:cs typeface="Aptos" pitchFamily="34" charset="-120"/>
              </a:rPr>
              <a:t>PART II  INNOBOT DELIVERY EXAMPLE</a:t>
            </a:r>
            <a:endParaRPr lang="en-US" sz="850" dirty="0"/>
          </a:p>
        </p:txBody>
      </p:sp>
      <p:sp>
        <p:nvSpPr>
          <p:cNvPr id="9" name="Text 6"/>
          <p:cNvSpPr/>
          <p:nvPr/>
        </p:nvSpPr>
        <p:spPr>
          <a:xfrm>
            <a:off x="658368" y="612648"/>
            <a:ext cx="7223760" cy="411480"/>
          </a:xfrm>
          <a:prstGeom prst="rect">
            <a:avLst/>
          </a:prstGeom>
          <a:noFill/>
          <a:ln/>
        </p:spPr>
        <p:txBody>
          <a:bodyPr wrap="square" lIns="0" tIns="0" rIns="0" bIns="0" rtlCol="0" anchor="ctr"/>
          <a:lstStyle/>
          <a:p>
            <a:pPr indent="0" marL="0">
              <a:buNone/>
            </a:pPr>
            <a:r>
              <a:rPr lang="en-US" sz="2400" b="1" dirty="0">
                <a:solidFill>
                  <a:srgbClr val="102749"/>
                </a:solidFill>
                <a:latin typeface="Aptos Display" pitchFamily="34" charset="0"/>
                <a:ea typeface="Aptos Display" pitchFamily="34" charset="-122"/>
                <a:cs typeface="Aptos Display" pitchFamily="34" charset="-120"/>
              </a:rPr>
              <a:t>How a Real Automation Pipeline Works at Innobot</a:t>
            </a:r>
            <a:endParaRPr lang="en-US" sz="2400" dirty="0"/>
          </a:p>
        </p:txBody>
      </p:sp>
      <p:sp>
        <p:nvSpPr>
          <p:cNvPr id="10" name="Text 7"/>
          <p:cNvSpPr/>
          <p:nvPr/>
        </p:nvSpPr>
        <p:spPr>
          <a:xfrm>
            <a:off x="658368" y="1069848"/>
            <a:ext cx="7863840" cy="310896"/>
          </a:xfrm>
          <a:prstGeom prst="rect">
            <a:avLst/>
          </a:prstGeom>
          <a:noFill/>
          <a:ln/>
        </p:spPr>
        <p:txBody>
          <a:bodyPr wrap="square" lIns="0" tIns="0" rIns="0" bIns="0" rtlCol="0" anchor="ctr"/>
          <a:lstStyle/>
          <a:p>
            <a:pPr indent="0" marL="0">
              <a:buNone/>
            </a:pPr>
            <a:r>
              <a:rPr lang="en-US" sz="1100" dirty="0">
                <a:solidFill>
                  <a:srgbClr val="51607B"/>
                </a:solidFill>
                <a:latin typeface="Aptos" pitchFamily="34" charset="0"/>
                <a:ea typeface="Aptos" pitchFamily="34" charset="-122"/>
                <a:cs typeface="Aptos" pitchFamily="34" charset="-120"/>
              </a:rPr>
              <a:t>The solution is modular, data-driven, and controlled end to end</a:t>
            </a:r>
            <a:endParaRPr lang="en-US" sz="1100" dirty="0"/>
          </a:p>
        </p:txBody>
      </p:sp>
      <p:sp>
        <p:nvSpPr>
          <p:cNvPr id="11" name="Text 8"/>
          <p:cNvSpPr/>
          <p:nvPr/>
        </p:nvSpPr>
        <p:spPr>
          <a:xfrm>
            <a:off x="11155680" y="530352"/>
            <a:ext cx="365760" cy="201168"/>
          </a:xfrm>
          <a:prstGeom prst="rect">
            <a:avLst/>
          </a:prstGeom>
          <a:noFill/>
          <a:ln/>
        </p:spPr>
        <p:txBody>
          <a:bodyPr wrap="square" lIns="0" tIns="0" rIns="0" bIns="0" rtlCol="0" anchor="ctr"/>
          <a:lstStyle/>
          <a:p>
            <a:pPr algn="r" indent="0" marL="0">
              <a:buNone/>
            </a:pPr>
            <a:r>
              <a:rPr lang="en-US" sz="950" dirty="0">
                <a:solidFill>
                  <a:srgbClr val="51607B"/>
                </a:solidFill>
                <a:latin typeface="Consolas" pitchFamily="34" charset="0"/>
                <a:ea typeface="Consolas" pitchFamily="34" charset="-122"/>
                <a:cs typeface="Consolas" pitchFamily="34" charset="-120"/>
              </a:rPr>
              <a:t>10</a:t>
            </a:r>
            <a:endParaRPr lang="en-US" sz="950" dirty="0"/>
          </a:p>
        </p:txBody>
      </p:sp>
      <p:sp>
        <p:nvSpPr>
          <p:cNvPr id="12" name="Shape 9"/>
          <p:cNvSpPr/>
          <p:nvPr/>
        </p:nvSpPr>
        <p:spPr>
          <a:xfrm>
            <a:off x="8366760" y="676656"/>
            <a:ext cx="3154680" cy="822960"/>
          </a:xfrm>
          <a:prstGeom prst="roundRect">
            <a:avLst>
              <a:gd name="adj" fmla="val 8889"/>
            </a:avLst>
          </a:prstGeom>
          <a:solidFill>
            <a:srgbClr val="FFFFFF"/>
          </a:solidFill>
          <a:ln w="12700">
            <a:solidFill>
              <a:srgbClr val="12B3A8">
                <a:alpha val="0"/>
              </a:srgbClr>
            </a:solidFill>
            <a:prstDash val="solid"/>
          </a:ln>
        </p:spPr>
      </p:sp>
      <p:sp>
        <p:nvSpPr>
          <p:cNvPr id="13" name="Shape 10"/>
          <p:cNvSpPr/>
          <p:nvPr/>
        </p:nvSpPr>
        <p:spPr>
          <a:xfrm>
            <a:off x="8366760" y="676656"/>
            <a:ext cx="73152" cy="822960"/>
          </a:xfrm>
          <a:prstGeom prst="rect">
            <a:avLst/>
          </a:prstGeom>
          <a:solidFill>
            <a:srgbClr val="12B3A8"/>
          </a:solidFill>
          <a:ln w="12700">
            <a:solidFill>
              <a:srgbClr val="12B3A8">
                <a:alpha val="0"/>
              </a:srgbClr>
            </a:solidFill>
            <a:prstDash val="solid"/>
          </a:ln>
        </p:spPr>
      </p:sp>
      <p:sp>
        <p:nvSpPr>
          <p:cNvPr id="14" name="Text 11"/>
          <p:cNvSpPr/>
          <p:nvPr/>
        </p:nvSpPr>
        <p:spPr>
          <a:xfrm>
            <a:off x="8531352" y="786384"/>
            <a:ext cx="1097280" cy="164592"/>
          </a:xfrm>
          <a:prstGeom prst="rect">
            <a:avLst/>
          </a:prstGeom>
          <a:noFill/>
          <a:ln/>
        </p:spPr>
        <p:txBody>
          <a:bodyPr wrap="square" lIns="0" tIns="0" rIns="0" bIns="0" rtlCol="0" anchor="ctr"/>
          <a:lstStyle/>
          <a:p>
            <a:pPr indent="0" marL="0">
              <a:buNone/>
            </a:pPr>
            <a:r>
              <a:rPr lang="en-US" sz="800" b="1" dirty="0">
                <a:solidFill>
                  <a:srgbClr val="12B3A8"/>
                </a:solidFill>
                <a:latin typeface="Aptos" pitchFamily="34" charset="0"/>
                <a:ea typeface="Aptos" pitchFamily="34" charset="-122"/>
                <a:cs typeface="Aptos" pitchFamily="34" charset="-120"/>
              </a:rPr>
              <a:t>Key takeaway</a:t>
            </a:r>
            <a:endParaRPr lang="en-US" sz="800" dirty="0"/>
          </a:p>
        </p:txBody>
      </p:sp>
      <p:sp>
        <p:nvSpPr>
          <p:cNvPr id="15" name="Text 12"/>
          <p:cNvSpPr/>
          <p:nvPr/>
        </p:nvSpPr>
        <p:spPr>
          <a:xfrm>
            <a:off x="8531352" y="932688"/>
            <a:ext cx="2880360" cy="521208"/>
          </a:xfrm>
          <a:prstGeom prst="rect">
            <a:avLst/>
          </a:prstGeom>
          <a:noFill/>
          <a:ln/>
        </p:spPr>
        <p:txBody>
          <a:bodyPr wrap="square" lIns="254" tIns="254" rIns="254" bIns="254" rtlCol="0" anchor="ctr"/>
          <a:lstStyle/>
          <a:p>
            <a:pPr indent="0" marL="0">
              <a:buNone/>
            </a:pPr>
            <a:r>
              <a:rPr lang="en-US" sz="920" dirty="0">
                <a:solidFill>
                  <a:srgbClr val="102749"/>
                </a:solidFill>
                <a:latin typeface="Aptos" pitchFamily="34" charset="0"/>
                <a:ea typeface="Aptos" pitchFamily="34" charset="-122"/>
                <a:cs typeface="Aptos" pitchFamily="34" charset="-120"/>
              </a:rPr>
              <a:t>Instead of one long bot, the work is separated into components with clear responsibilities, shared data, and monitored handoffs.</a:t>
            </a:r>
            <a:endParaRPr lang="en-US" sz="920" dirty="0"/>
          </a:p>
        </p:txBody>
      </p:sp>
      <p:sp>
        <p:nvSpPr>
          <p:cNvPr id="16" name="Shape 13"/>
          <p:cNvSpPr/>
          <p:nvPr/>
        </p:nvSpPr>
        <p:spPr>
          <a:xfrm>
            <a:off x="749808" y="1874520"/>
            <a:ext cx="2724912" cy="1783080"/>
          </a:xfrm>
          <a:prstGeom prst="roundRect">
            <a:avLst>
              <a:gd name="adj" fmla="val 3077"/>
            </a:avLst>
          </a:prstGeom>
          <a:solidFill>
            <a:srgbClr val="FFFFFF"/>
          </a:solidFill>
          <a:ln w="12700">
            <a:solidFill>
              <a:srgbClr val="C7D5EA"/>
            </a:solidFill>
            <a:prstDash val="solid"/>
          </a:ln>
        </p:spPr>
      </p:sp>
      <p:sp>
        <p:nvSpPr>
          <p:cNvPr id="17" name="Shape 14"/>
          <p:cNvSpPr/>
          <p:nvPr/>
        </p:nvSpPr>
        <p:spPr>
          <a:xfrm>
            <a:off x="749808" y="1874520"/>
            <a:ext cx="2724912" cy="64008"/>
          </a:xfrm>
          <a:prstGeom prst="rect">
            <a:avLst/>
          </a:prstGeom>
          <a:solidFill>
            <a:srgbClr val="1F6FFF"/>
          </a:solidFill>
          <a:ln w="12700">
            <a:solidFill>
              <a:srgbClr val="1F6FFF">
                <a:alpha val="0"/>
              </a:srgbClr>
            </a:solidFill>
            <a:prstDash val="solid"/>
          </a:ln>
        </p:spPr>
      </p:sp>
      <p:sp>
        <p:nvSpPr>
          <p:cNvPr id="18" name="Text 15"/>
          <p:cNvSpPr/>
          <p:nvPr/>
        </p:nvSpPr>
        <p:spPr>
          <a:xfrm>
            <a:off x="914400" y="2039112"/>
            <a:ext cx="2450592"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Dispatcher</a:t>
            </a:r>
            <a:endParaRPr lang="en-US" sz="1150" dirty="0"/>
          </a:p>
        </p:txBody>
      </p:sp>
      <p:sp>
        <p:nvSpPr>
          <p:cNvPr id="19" name="Text 16"/>
          <p:cNvSpPr/>
          <p:nvPr/>
        </p:nvSpPr>
        <p:spPr>
          <a:xfrm>
            <a:off x="914400" y="2313432"/>
            <a:ext cx="2450592" cy="1252728"/>
          </a:xfrm>
          <a:prstGeom prst="rect">
            <a:avLst/>
          </a:prstGeom>
          <a:noFill/>
          <a:ln/>
        </p:spPr>
        <p:txBody>
          <a:bodyPr wrap="square" lIns="254" tIns="254" rIns="254" bIns="254" rtlCol="0" anchor="t"/>
          <a:lstStyle/>
          <a:p>
            <a:pPr indent="0" marL="0">
              <a:buNone/>
            </a:pPr>
            <a:r>
              <a:rPr lang="en-US" sz="920" dirty="0">
                <a:solidFill>
                  <a:srgbClr val="51607B"/>
                </a:solidFill>
                <a:latin typeface="Aptos" pitchFamily="34" charset="0"/>
                <a:ea typeface="Aptos" pitchFamily="34" charset="-122"/>
                <a:cs typeface="Aptos" pitchFamily="34" charset="-120"/>
              </a:rPr>
              <a:t>Collects the ECW aging report, structures the workload, and loads claims into the queue database.</a:t>
            </a:r>
            <a:endParaRPr lang="en-US" sz="920" dirty="0"/>
          </a:p>
        </p:txBody>
      </p:sp>
      <p:sp>
        <p:nvSpPr>
          <p:cNvPr id="20" name="Shape 17"/>
          <p:cNvSpPr/>
          <p:nvPr/>
        </p:nvSpPr>
        <p:spPr>
          <a:xfrm>
            <a:off x="4005072" y="1874520"/>
            <a:ext cx="2724912" cy="1783080"/>
          </a:xfrm>
          <a:prstGeom prst="roundRect">
            <a:avLst>
              <a:gd name="adj" fmla="val 3077"/>
            </a:avLst>
          </a:prstGeom>
          <a:solidFill>
            <a:srgbClr val="FFFFFF"/>
          </a:solidFill>
          <a:ln w="12700">
            <a:solidFill>
              <a:srgbClr val="C7D5EA"/>
            </a:solidFill>
            <a:prstDash val="solid"/>
          </a:ln>
        </p:spPr>
      </p:sp>
      <p:sp>
        <p:nvSpPr>
          <p:cNvPr id="21" name="Shape 18"/>
          <p:cNvSpPr/>
          <p:nvPr/>
        </p:nvSpPr>
        <p:spPr>
          <a:xfrm>
            <a:off x="4005072" y="1874520"/>
            <a:ext cx="2724912" cy="64008"/>
          </a:xfrm>
          <a:prstGeom prst="rect">
            <a:avLst/>
          </a:prstGeom>
          <a:solidFill>
            <a:srgbClr val="12B3A8"/>
          </a:solidFill>
          <a:ln w="12700">
            <a:solidFill>
              <a:srgbClr val="12B3A8">
                <a:alpha val="0"/>
              </a:srgbClr>
            </a:solidFill>
            <a:prstDash val="solid"/>
          </a:ln>
        </p:spPr>
      </p:sp>
      <p:sp>
        <p:nvSpPr>
          <p:cNvPr id="22" name="Text 19"/>
          <p:cNvSpPr/>
          <p:nvPr/>
        </p:nvSpPr>
        <p:spPr>
          <a:xfrm>
            <a:off x="4169664" y="2039112"/>
            <a:ext cx="2450592"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Availity Performer</a:t>
            </a:r>
            <a:endParaRPr lang="en-US" sz="1150" dirty="0"/>
          </a:p>
        </p:txBody>
      </p:sp>
      <p:sp>
        <p:nvSpPr>
          <p:cNvPr id="23" name="Text 20"/>
          <p:cNvSpPr/>
          <p:nvPr/>
        </p:nvSpPr>
        <p:spPr>
          <a:xfrm>
            <a:off x="4169664" y="2313432"/>
            <a:ext cx="2450592" cy="1252728"/>
          </a:xfrm>
          <a:prstGeom prst="rect">
            <a:avLst/>
          </a:prstGeom>
          <a:noFill/>
          <a:ln/>
        </p:spPr>
        <p:txBody>
          <a:bodyPr wrap="square" lIns="254" tIns="254" rIns="254" bIns="254" rtlCol="0" anchor="t"/>
          <a:lstStyle/>
          <a:p>
            <a:pPr indent="0" marL="0">
              <a:buNone/>
            </a:pPr>
            <a:r>
              <a:rPr lang="en-US" sz="920" dirty="0">
                <a:solidFill>
                  <a:srgbClr val="51607B"/>
                </a:solidFill>
                <a:latin typeface="Aptos" pitchFamily="34" charset="0"/>
                <a:ea typeface="Aptos" pitchFamily="34" charset="-122"/>
                <a:cs typeface="Aptos" pitchFamily="34" charset="-120"/>
              </a:rPr>
              <a:t>Processes one claim at a time, captures claim status details, updates the database, and applies retry rules.</a:t>
            </a:r>
            <a:endParaRPr lang="en-US" sz="920" dirty="0"/>
          </a:p>
        </p:txBody>
      </p:sp>
      <p:sp>
        <p:nvSpPr>
          <p:cNvPr id="24" name="Shape 21"/>
          <p:cNvSpPr/>
          <p:nvPr/>
        </p:nvSpPr>
        <p:spPr>
          <a:xfrm>
            <a:off x="7260336" y="1874520"/>
            <a:ext cx="2724912" cy="1783080"/>
          </a:xfrm>
          <a:prstGeom prst="roundRect">
            <a:avLst>
              <a:gd name="adj" fmla="val 3077"/>
            </a:avLst>
          </a:prstGeom>
          <a:solidFill>
            <a:srgbClr val="FFFFFF"/>
          </a:solidFill>
          <a:ln w="12700">
            <a:solidFill>
              <a:srgbClr val="C7D5EA"/>
            </a:solidFill>
            <a:prstDash val="solid"/>
          </a:ln>
        </p:spPr>
      </p:sp>
      <p:sp>
        <p:nvSpPr>
          <p:cNvPr id="25" name="Shape 22"/>
          <p:cNvSpPr/>
          <p:nvPr/>
        </p:nvSpPr>
        <p:spPr>
          <a:xfrm>
            <a:off x="7260336" y="1874520"/>
            <a:ext cx="2724912" cy="64008"/>
          </a:xfrm>
          <a:prstGeom prst="rect">
            <a:avLst/>
          </a:prstGeom>
          <a:solidFill>
            <a:srgbClr val="1F6FFF"/>
          </a:solidFill>
          <a:ln w="12700">
            <a:solidFill>
              <a:srgbClr val="1F6FFF">
                <a:alpha val="0"/>
              </a:srgbClr>
            </a:solidFill>
            <a:prstDash val="solid"/>
          </a:ln>
        </p:spPr>
      </p:sp>
      <p:sp>
        <p:nvSpPr>
          <p:cNvPr id="26" name="Text 23"/>
          <p:cNvSpPr/>
          <p:nvPr/>
        </p:nvSpPr>
        <p:spPr>
          <a:xfrm>
            <a:off x="7424928" y="2039112"/>
            <a:ext cx="2450592"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ECW Performer</a:t>
            </a:r>
            <a:endParaRPr lang="en-US" sz="1150" dirty="0"/>
          </a:p>
        </p:txBody>
      </p:sp>
      <p:sp>
        <p:nvSpPr>
          <p:cNvPr id="27" name="Text 24"/>
          <p:cNvSpPr/>
          <p:nvPr/>
        </p:nvSpPr>
        <p:spPr>
          <a:xfrm>
            <a:off x="7424928" y="2313432"/>
            <a:ext cx="2450592" cy="1252728"/>
          </a:xfrm>
          <a:prstGeom prst="rect">
            <a:avLst/>
          </a:prstGeom>
          <a:noFill/>
          <a:ln/>
        </p:spPr>
        <p:txBody>
          <a:bodyPr wrap="square" lIns="254" tIns="254" rIns="254" bIns="254" rtlCol="0" anchor="t"/>
          <a:lstStyle/>
          <a:p>
            <a:pPr indent="0" marL="0">
              <a:buNone/>
            </a:pPr>
            <a:r>
              <a:rPr lang="en-US" sz="920" dirty="0">
                <a:solidFill>
                  <a:srgbClr val="51607B"/>
                </a:solidFill>
                <a:latin typeface="Aptos" pitchFamily="34" charset="0"/>
                <a:ea typeface="Aptos" pitchFamily="34" charset="-122"/>
                <a:cs typeface="Aptos" pitchFamily="34" charset="-120"/>
              </a:rPr>
              <a:t>Reads processed claims, groups by provider, posts notes in ECW, finalizes records, and produces summary reporting.</a:t>
            </a:r>
            <a:endParaRPr lang="en-US" sz="920" dirty="0"/>
          </a:p>
        </p:txBody>
      </p:sp>
      <p:sp>
        <p:nvSpPr>
          <p:cNvPr id="28" name="Shape 25"/>
          <p:cNvSpPr/>
          <p:nvPr/>
        </p:nvSpPr>
        <p:spPr>
          <a:xfrm>
            <a:off x="10076688" y="1874520"/>
            <a:ext cx="1335024" cy="804672"/>
          </a:xfrm>
          <a:prstGeom prst="roundRect">
            <a:avLst>
              <a:gd name="adj" fmla="val 6818"/>
            </a:avLst>
          </a:prstGeom>
          <a:solidFill>
            <a:srgbClr val="FFFFFF"/>
          </a:solidFill>
          <a:ln w="12700">
            <a:solidFill>
              <a:srgbClr val="C7D5EA"/>
            </a:solidFill>
            <a:prstDash val="solid"/>
          </a:ln>
        </p:spPr>
      </p:sp>
      <p:sp>
        <p:nvSpPr>
          <p:cNvPr id="29" name="Shape 26"/>
          <p:cNvSpPr/>
          <p:nvPr/>
        </p:nvSpPr>
        <p:spPr>
          <a:xfrm>
            <a:off x="10076688" y="1874520"/>
            <a:ext cx="1335024" cy="64008"/>
          </a:xfrm>
          <a:prstGeom prst="rect">
            <a:avLst/>
          </a:prstGeom>
          <a:solidFill>
            <a:srgbClr val="1F6FFF"/>
          </a:solidFill>
          <a:ln w="12700">
            <a:solidFill>
              <a:srgbClr val="1F6FFF">
                <a:alpha val="0"/>
              </a:srgbClr>
            </a:solidFill>
            <a:prstDash val="solid"/>
          </a:ln>
        </p:spPr>
      </p:sp>
      <p:sp>
        <p:nvSpPr>
          <p:cNvPr id="30" name="Text 27"/>
          <p:cNvSpPr/>
          <p:nvPr/>
        </p:nvSpPr>
        <p:spPr>
          <a:xfrm>
            <a:off x="10241280" y="2039112"/>
            <a:ext cx="1060704"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Logs</a:t>
            </a:r>
            <a:endParaRPr lang="en-US" sz="1150" dirty="0"/>
          </a:p>
        </p:txBody>
      </p:sp>
      <p:sp>
        <p:nvSpPr>
          <p:cNvPr id="31" name="Text 28"/>
          <p:cNvSpPr/>
          <p:nvPr/>
        </p:nvSpPr>
        <p:spPr>
          <a:xfrm>
            <a:off x="10241280" y="2313432"/>
            <a:ext cx="1060704" cy="274320"/>
          </a:xfrm>
          <a:prstGeom prst="rect">
            <a:avLst/>
          </a:prstGeom>
          <a:noFill/>
          <a:ln/>
        </p:spPr>
        <p:txBody>
          <a:bodyPr wrap="square" lIns="254" tIns="254" rIns="254" bIns="254" rtlCol="0" anchor="t"/>
          <a:lstStyle/>
          <a:p>
            <a:pPr indent="0" marL="0">
              <a:buNone/>
            </a:pPr>
            <a:r>
              <a:rPr lang="en-US" sz="820" dirty="0">
                <a:solidFill>
                  <a:srgbClr val="51607B"/>
                </a:solidFill>
                <a:latin typeface="Aptos" pitchFamily="34" charset="0"/>
                <a:ea typeface="Aptos" pitchFamily="34" charset="-122"/>
                <a:cs typeface="Aptos" pitchFamily="34" charset="-120"/>
              </a:rPr>
              <a:t>Run evidence</a:t>
            </a:r>
            <a:endParaRPr lang="en-US" sz="820" dirty="0"/>
          </a:p>
        </p:txBody>
      </p:sp>
      <p:sp>
        <p:nvSpPr>
          <p:cNvPr id="32" name="Shape 29"/>
          <p:cNvSpPr/>
          <p:nvPr/>
        </p:nvSpPr>
        <p:spPr>
          <a:xfrm>
            <a:off x="10076688" y="2788920"/>
            <a:ext cx="1335024" cy="804672"/>
          </a:xfrm>
          <a:prstGeom prst="roundRect">
            <a:avLst>
              <a:gd name="adj" fmla="val 6818"/>
            </a:avLst>
          </a:prstGeom>
          <a:solidFill>
            <a:srgbClr val="FFFFFF"/>
          </a:solidFill>
          <a:ln w="12700">
            <a:solidFill>
              <a:srgbClr val="C7D5EA"/>
            </a:solidFill>
            <a:prstDash val="solid"/>
          </a:ln>
        </p:spPr>
      </p:sp>
      <p:sp>
        <p:nvSpPr>
          <p:cNvPr id="33" name="Shape 30"/>
          <p:cNvSpPr/>
          <p:nvPr/>
        </p:nvSpPr>
        <p:spPr>
          <a:xfrm>
            <a:off x="10076688" y="2788920"/>
            <a:ext cx="1335024" cy="64008"/>
          </a:xfrm>
          <a:prstGeom prst="rect">
            <a:avLst/>
          </a:prstGeom>
          <a:solidFill>
            <a:srgbClr val="12B3A8"/>
          </a:solidFill>
          <a:ln w="12700">
            <a:solidFill>
              <a:srgbClr val="12B3A8">
                <a:alpha val="0"/>
              </a:srgbClr>
            </a:solidFill>
            <a:prstDash val="solid"/>
          </a:ln>
        </p:spPr>
      </p:sp>
      <p:sp>
        <p:nvSpPr>
          <p:cNvPr id="34" name="Text 31"/>
          <p:cNvSpPr/>
          <p:nvPr/>
        </p:nvSpPr>
        <p:spPr>
          <a:xfrm>
            <a:off x="10241280" y="2953512"/>
            <a:ext cx="1060704"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Review</a:t>
            </a:r>
            <a:endParaRPr lang="en-US" sz="1150" dirty="0"/>
          </a:p>
        </p:txBody>
      </p:sp>
      <p:sp>
        <p:nvSpPr>
          <p:cNvPr id="35" name="Text 32"/>
          <p:cNvSpPr/>
          <p:nvPr/>
        </p:nvSpPr>
        <p:spPr>
          <a:xfrm>
            <a:off x="10241280" y="3227832"/>
            <a:ext cx="1060704" cy="274320"/>
          </a:xfrm>
          <a:prstGeom prst="rect">
            <a:avLst/>
          </a:prstGeom>
          <a:noFill/>
          <a:ln/>
        </p:spPr>
        <p:txBody>
          <a:bodyPr wrap="square" lIns="254" tIns="254" rIns="254" bIns="254" rtlCol="0" anchor="t"/>
          <a:lstStyle/>
          <a:p>
            <a:pPr indent="0" marL="0">
              <a:buNone/>
            </a:pPr>
            <a:r>
              <a:rPr lang="en-US" sz="820" dirty="0">
                <a:solidFill>
                  <a:srgbClr val="51607B"/>
                </a:solidFill>
                <a:latin typeface="Aptos" pitchFamily="34" charset="0"/>
                <a:ea typeface="Aptos" pitchFamily="34" charset="-122"/>
                <a:cs typeface="Aptos" pitchFamily="34" charset="-120"/>
              </a:rPr>
              <a:t>Human visibility</a:t>
            </a:r>
            <a:endParaRPr lang="en-US" sz="820" dirty="0"/>
          </a:p>
        </p:txBody>
      </p:sp>
      <p:sp>
        <p:nvSpPr>
          <p:cNvPr id="36" name="Shape 33"/>
          <p:cNvSpPr/>
          <p:nvPr/>
        </p:nvSpPr>
        <p:spPr>
          <a:xfrm>
            <a:off x="10076688" y="3703320"/>
            <a:ext cx="1335024" cy="804672"/>
          </a:xfrm>
          <a:prstGeom prst="roundRect">
            <a:avLst>
              <a:gd name="adj" fmla="val 6818"/>
            </a:avLst>
          </a:prstGeom>
          <a:solidFill>
            <a:srgbClr val="FFFFFF"/>
          </a:solidFill>
          <a:ln w="12700">
            <a:solidFill>
              <a:srgbClr val="C7D5EA"/>
            </a:solidFill>
            <a:prstDash val="solid"/>
          </a:ln>
        </p:spPr>
      </p:sp>
      <p:sp>
        <p:nvSpPr>
          <p:cNvPr id="37" name="Shape 34"/>
          <p:cNvSpPr/>
          <p:nvPr/>
        </p:nvSpPr>
        <p:spPr>
          <a:xfrm>
            <a:off x="10076688" y="3703320"/>
            <a:ext cx="1335024" cy="64008"/>
          </a:xfrm>
          <a:prstGeom prst="rect">
            <a:avLst/>
          </a:prstGeom>
          <a:solidFill>
            <a:srgbClr val="E6A019"/>
          </a:solidFill>
          <a:ln w="12700">
            <a:solidFill>
              <a:srgbClr val="E6A019">
                <a:alpha val="0"/>
              </a:srgbClr>
            </a:solidFill>
            <a:prstDash val="solid"/>
          </a:ln>
        </p:spPr>
      </p:sp>
      <p:sp>
        <p:nvSpPr>
          <p:cNvPr id="38" name="Text 35"/>
          <p:cNvSpPr/>
          <p:nvPr/>
        </p:nvSpPr>
        <p:spPr>
          <a:xfrm>
            <a:off x="10241280" y="3867912"/>
            <a:ext cx="1060704"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Reports</a:t>
            </a:r>
            <a:endParaRPr lang="en-US" sz="1150" dirty="0"/>
          </a:p>
        </p:txBody>
      </p:sp>
      <p:sp>
        <p:nvSpPr>
          <p:cNvPr id="39" name="Text 36"/>
          <p:cNvSpPr/>
          <p:nvPr/>
        </p:nvSpPr>
        <p:spPr>
          <a:xfrm>
            <a:off x="10241280" y="4142232"/>
            <a:ext cx="1060704" cy="274320"/>
          </a:xfrm>
          <a:prstGeom prst="rect">
            <a:avLst/>
          </a:prstGeom>
          <a:noFill/>
          <a:ln/>
        </p:spPr>
        <p:txBody>
          <a:bodyPr wrap="square" lIns="254" tIns="254" rIns="254" bIns="254" rtlCol="0" anchor="t"/>
          <a:lstStyle/>
          <a:p>
            <a:pPr indent="0" marL="0">
              <a:buNone/>
            </a:pPr>
            <a:r>
              <a:rPr lang="en-US" sz="820" dirty="0">
                <a:solidFill>
                  <a:srgbClr val="51607B"/>
                </a:solidFill>
                <a:latin typeface="Aptos" pitchFamily="34" charset="0"/>
                <a:ea typeface="Aptos" pitchFamily="34" charset="-122"/>
                <a:cs typeface="Aptos" pitchFamily="34" charset="-120"/>
              </a:rPr>
              <a:t>Measured outputs</a:t>
            </a:r>
            <a:endParaRPr lang="en-US" sz="820" dirty="0"/>
          </a:p>
        </p:txBody>
      </p:sp>
      <p:sp>
        <p:nvSpPr>
          <p:cNvPr id="40" name="Shape 37"/>
          <p:cNvSpPr/>
          <p:nvPr/>
        </p:nvSpPr>
        <p:spPr>
          <a:xfrm>
            <a:off x="749808" y="4160520"/>
            <a:ext cx="9107424" cy="1325880"/>
          </a:xfrm>
          <a:prstGeom prst="roundRect">
            <a:avLst>
              <a:gd name="adj" fmla="val 3448"/>
            </a:avLst>
          </a:prstGeom>
          <a:solidFill>
            <a:srgbClr val="FFFFFF"/>
          </a:solidFill>
          <a:ln w="12700">
            <a:solidFill>
              <a:srgbClr val="C7D5EA"/>
            </a:solidFill>
            <a:prstDash val="solid"/>
          </a:ln>
        </p:spPr>
      </p:sp>
      <p:sp>
        <p:nvSpPr>
          <p:cNvPr id="41" name="Shape 38"/>
          <p:cNvSpPr/>
          <p:nvPr/>
        </p:nvSpPr>
        <p:spPr>
          <a:xfrm>
            <a:off x="932688" y="4416552"/>
            <a:ext cx="100584" cy="100584"/>
          </a:xfrm>
          <a:prstGeom prst="ellipse">
            <a:avLst/>
          </a:prstGeom>
          <a:solidFill>
            <a:srgbClr val="1F6FFF"/>
          </a:solidFill>
          <a:ln w="12700">
            <a:solidFill>
              <a:srgbClr val="1F6FFF">
                <a:alpha val="0"/>
              </a:srgbClr>
            </a:solidFill>
            <a:prstDash val="solid"/>
          </a:ln>
        </p:spPr>
      </p:sp>
      <p:sp>
        <p:nvSpPr>
          <p:cNvPr id="42" name="Text 39"/>
          <p:cNvSpPr/>
          <p:nvPr/>
        </p:nvSpPr>
        <p:spPr>
          <a:xfrm>
            <a:off x="1097280" y="4343400"/>
            <a:ext cx="8695944"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The database or queue becomes the controlled handoff layer between components rather than relying on fragile in-memory passing</a:t>
            </a:r>
            <a:endParaRPr lang="en-US" sz="965" dirty="0"/>
          </a:p>
        </p:txBody>
      </p:sp>
      <p:sp>
        <p:nvSpPr>
          <p:cNvPr id="43" name="Shape 40"/>
          <p:cNvSpPr/>
          <p:nvPr/>
        </p:nvSpPr>
        <p:spPr>
          <a:xfrm>
            <a:off x="932688" y="4626864"/>
            <a:ext cx="100584" cy="100584"/>
          </a:xfrm>
          <a:prstGeom prst="ellipse">
            <a:avLst/>
          </a:prstGeom>
          <a:solidFill>
            <a:srgbClr val="1F6FFF"/>
          </a:solidFill>
          <a:ln w="12700">
            <a:solidFill>
              <a:srgbClr val="1F6FFF">
                <a:alpha val="0"/>
              </a:srgbClr>
            </a:solidFill>
            <a:prstDash val="solid"/>
          </a:ln>
        </p:spPr>
      </p:sp>
      <p:sp>
        <p:nvSpPr>
          <p:cNvPr id="44" name="Text 41"/>
          <p:cNvSpPr/>
          <p:nvPr/>
        </p:nvSpPr>
        <p:spPr>
          <a:xfrm>
            <a:off x="1097280" y="4553712"/>
            <a:ext cx="8695944"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Each module can be tested, monitored, and maintained with greater clarity than a monolithic script</a:t>
            </a:r>
            <a:endParaRPr lang="en-US" sz="965" dirty="0"/>
          </a:p>
        </p:txBody>
      </p:sp>
      <p:sp>
        <p:nvSpPr>
          <p:cNvPr id="45" name="Shape 42"/>
          <p:cNvSpPr/>
          <p:nvPr/>
        </p:nvSpPr>
        <p:spPr>
          <a:xfrm>
            <a:off x="932688" y="4837176"/>
            <a:ext cx="100584" cy="100584"/>
          </a:xfrm>
          <a:prstGeom prst="ellipse">
            <a:avLst/>
          </a:prstGeom>
          <a:solidFill>
            <a:srgbClr val="1F6FFF"/>
          </a:solidFill>
          <a:ln w="12700">
            <a:solidFill>
              <a:srgbClr val="1F6FFF">
                <a:alpha val="0"/>
              </a:srgbClr>
            </a:solidFill>
            <a:prstDash val="solid"/>
          </a:ln>
        </p:spPr>
      </p:sp>
      <p:sp>
        <p:nvSpPr>
          <p:cNvPr id="46" name="Text 43"/>
          <p:cNvSpPr/>
          <p:nvPr/>
        </p:nvSpPr>
        <p:spPr>
          <a:xfrm>
            <a:off x="1097280" y="4764024"/>
            <a:ext cx="8695944"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The architecture supports scale, recoverability, and clearer responsibility boundaries</a:t>
            </a:r>
            <a:endParaRPr lang="en-US" sz="965" dirty="0"/>
          </a:p>
        </p:txBody>
      </p:sp>
      <p:sp>
        <p:nvSpPr>
          <p:cNvPr id="47" name="Shape 44"/>
          <p:cNvSpPr/>
          <p:nvPr/>
        </p:nvSpPr>
        <p:spPr>
          <a:xfrm>
            <a:off x="932688" y="5047488"/>
            <a:ext cx="100584" cy="100584"/>
          </a:xfrm>
          <a:prstGeom prst="ellipse">
            <a:avLst/>
          </a:prstGeom>
          <a:solidFill>
            <a:srgbClr val="1F6FFF"/>
          </a:solidFill>
          <a:ln w="12700">
            <a:solidFill>
              <a:srgbClr val="1F6FFF">
                <a:alpha val="0"/>
              </a:srgbClr>
            </a:solidFill>
            <a:prstDash val="solid"/>
          </a:ln>
        </p:spPr>
      </p:sp>
      <p:sp>
        <p:nvSpPr>
          <p:cNvPr id="48" name="Text 45"/>
          <p:cNvSpPr/>
          <p:nvPr/>
        </p:nvSpPr>
        <p:spPr>
          <a:xfrm>
            <a:off x="1097280" y="4974336"/>
            <a:ext cx="8695944"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This is a strong example of RPA as an operating model, not just automation of clicks</a:t>
            </a:r>
            <a:endParaRPr lang="en-US" sz="965" dirty="0"/>
          </a:p>
        </p:txBody>
      </p:sp>
      <p:sp>
        <p:nvSpPr>
          <p:cNvPr id="49" name="Text 46"/>
          <p:cNvSpPr/>
          <p:nvPr/>
        </p:nvSpPr>
        <p:spPr>
          <a:xfrm>
            <a:off x="658368" y="6510528"/>
            <a:ext cx="2560320" cy="164592"/>
          </a:xfrm>
          <a:prstGeom prst="rect">
            <a:avLst/>
          </a:prstGeom>
          <a:noFill/>
          <a:ln/>
        </p:spPr>
        <p:txBody>
          <a:bodyPr wrap="square" lIns="0" tIns="0" rIns="0" bIns="0" rtlCol="0" anchor="ctr"/>
          <a:lstStyle/>
          <a:p>
            <a:pPr indent="0" marL="0">
              <a:buNone/>
            </a:pPr>
            <a:r>
              <a:rPr lang="en-US" sz="850" dirty="0">
                <a:solidFill>
                  <a:srgbClr val="51607B"/>
                </a:solidFill>
                <a:latin typeface="Aptos" pitchFamily="34" charset="0"/>
                <a:ea typeface="Aptos" pitchFamily="34" charset="-122"/>
                <a:cs typeface="Aptos" pitchFamily="34" charset="-120"/>
              </a:rPr>
              <a:t>Innobot  |  Internal workshop</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F4F7FB"/>
          </a:solidFill>
          <a:ln/>
        </p:spPr>
      </p:sp>
      <p:sp>
        <p:nvSpPr>
          <p:cNvPr id="4" name="Shape 1"/>
          <p:cNvSpPr/>
          <p:nvPr/>
        </p:nvSpPr>
        <p:spPr>
          <a:xfrm>
            <a:off x="0" y="0"/>
            <a:ext cx="12191695" cy="411480"/>
          </a:xfrm>
          <a:prstGeom prst="rect">
            <a:avLst/>
          </a:prstGeom>
          <a:solidFill>
            <a:srgbClr val="0A1830"/>
          </a:solidFill>
          <a:ln/>
        </p:spPr>
      </p:sp>
      <p:sp>
        <p:nvSpPr>
          <p:cNvPr id="5" name="Shape 2"/>
          <p:cNvSpPr/>
          <p:nvPr/>
        </p:nvSpPr>
        <p:spPr>
          <a:xfrm>
            <a:off x="9509760" y="-137160"/>
            <a:ext cx="3200400" cy="2194560"/>
          </a:xfrm>
          <a:prstGeom prst="ellipse">
            <a:avLst/>
          </a:prstGeom>
          <a:solidFill>
            <a:srgbClr val="8AB8FF">
              <a:alpha val="16000"/>
            </a:srgbClr>
          </a:solidFill>
          <a:ln w="12700">
            <a:solidFill>
              <a:srgbClr val="8AB8FF">
                <a:alpha val="0"/>
              </a:srgbClr>
            </a:solidFill>
            <a:prstDash val="solid"/>
          </a:ln>
        </p:spPr>
      </p:sp>
      <p:sp>
        <p:nvSpPr>
          <p:cNvPr id="6" name="Shape 3"/>
          <p:cNvSpPr/>
          <p:nvPr/>
        </p:nvSpPr>
        <p:spPr>
          <a:xfrm>
            <a:off x="-731520" y="5394960"/>
            <a:ext cx="2560320" cy="1645920"/>
          </a:xfrm>
          <a:prstGeom prst="ellipse">
            <a:avLst/>
          </a:prstGeom>
          <a:solidFill>
            <a:srgbClr val="12B3A8">
              <a:alpha val="10000"/>
            </a:srgbClr>
          </a:solidFill>
          <a:ln w="12700">
            <a:solidFill>
              <a:srgbClr val="12B3A8">
                <a:alpha val="0"/>
              </a:srgbClr>
            </a:solidFill>
            <a:prstDash val="solid"/>
          </a:ln>
        </p:spPr>
      </p:sp>
      <p:sp>
        <p:nvSpPr>
          <p:cNvPr id="7" name="Text 4"/>
          <p:cNvSpPr/>
          <p:nvPr/>
        </p:nvSpPr>
        <p:spPr>
          <a:xfrm>
            <a:off x="658368" y="182880"/>
            <a:ext cx="2651760" cy="146304"/>
          </a:xfrm>
          <a:prstGeom prst="rect">
            <a:avLst/>
          </a:prstGeom>
          <a:noFill/>
          <a:ln/>
        </p:spPr>
        <p:txBody>
          <a:bodyPr wrap="square" lIns="0" tIns="0" rIns="0" bIns="0" rtlCol="0" anchor="ctr"/>
          <a:lstStyle/>
          <a:p>
            <a:pPr indent="0" marL="0">
              <a:buNone/>
            </a:pPr>
            <a:r>
              <a:rPr lang="en-US" sz="850" b="1" dirty="0">
                <a:solidFill>
                  <a:srgbClr val="8AB8FF"/>
                </a:solidFill>
                <a:latin typeface="Aptos" pitchFamily="34" charset="0"/>
                <a:ea typeface="Aptos" pitchFamily="34" charset="-122"/>
                <a:cs typeface="Aptos" pitchFamily="34" charset="-120"/>
              </a:rPr>
              <a:t>INNOBOT DELIVERY EXAMPLE</a:t>
            </a:r>
            <a:endParaRPr lang="en-US" sz="850" dirty="0"/>
          </a:p>
        </p:txBody>
      </p:sp>
      <p:sp>
        <p:nvSpPr>
          <p:cNvPr id="8" name="Text 5"/>
          <p:cNvSpPr/>
          <p:nvPr/>
        </p:nvSpPr>
        <p:spPr>
          <a:xfrm>
            <a:off x="658368" y="612648"/>
            <a:ext cx="7223760" cy="411480"/>
          </a:xfrm>
          <a:prstGeom prst="rect">
            <a:avLst/>
          </a:prstGeom>
          <a:noFill/>
          <a:ln/>
        </p:spPr>
        <p:txBody>
          <a:bodyPr wrap="square" lIns="0" tIns="0" rIns="0" bIns="0" rtlCol="0" anchor="ctr"/>
          <a:lstStyle/>
          <a:p>
            <a:pPr indent="0" marL="0">
              <a:buNone/>
            </a:pPr>
            <a:r>
              <a:rPr lang="en-US" sz="2400" b="1" dirty="0">
                <a:solidFill>
                  <a:srgbClr val="102749"/>
                </a:solidFill>
                <a:latin typeface="Aptos Display" pitchFamily="34" charset="0"/>
                <a:ea typeface="Aptos Display" pitchFamily="34" charset="-122"/>
                <a:cs typeface="Aptos Display" pitchFamily="34" charset="-120"/>
              </a:rPr>
              <a:t>Dispatcher Example</a:t>
            </a:r>
            <a:endParaRPr lang="en-US" sz="2400" dirty="0"/>
          </a:p>
        </p:txBody>
      </p:sp>
      <p:sp>
        <p:nvSpPr>
          <p:cNvPr id="9" name="Text 6"/>
          <p:cNvSpPr/>
          <p:nvPr/>
        </p:nvSpPr>
        <p:spPr>
          <a:xfrm>
            <a:off x="658368" y="1069848"/>
            <a:ext cx="7863840" cy="310896"/>
          </a:xfrm>
          <a:prstGeom prst="rect">
            <a:avLst/>
          </a:prstGeom>
          <a:noFill/>
          <a:ln/>
        </p:spPr>
        <p:txBody>
          <a:bodyPr wrap="square" lIns="0" tIns="0" rIns="0" bIns="0" rtlCol="0" anchor="ctr"/>
          <a:lstStyle/>
          <a:p>
            <a:pPr indent="0" marL="0">
              <a:buNone/>
            </a:pPr>
            <a:r>
              <a:rPr lang="en-US" sz="1100" dirty="0">
                <a:solidFill>
                  <a:srgbClr val="51607B"/>
                </a:solidFill>
                <a:latin typeface="Aptos" pitchFamily="34" charset="0"/>
                <a:ea typeface="Aptos" pitchFamily="34" charset="-122"/>
                <a:cs typeface="Aptos" pitchFamily="34" charset="-120"/>
              </a:rPr>
              <a:t>The Dispatcher prepares and structures the workload before transaction processing begins</a:t>
            </a:r>
            <a:endParaRPr lang="en-US" sz="1100" dirty="0"/>
          </a:p>
        </p:txBody>
      </p:sp>
      <p:sp>
        <p:nvSpPr>
          <p:cNvPr id="10" name="Text 7"/>
          <p:cNvSpPr/>
          <p:nvPr/>
        </p:nvSpPr>
        <p:spPr>
          <a:xfrm>
            <a:off x="11155680" y="530352"/>
            <a:ext cx="365760" cy="201168"/>
          </a:xfrm>
          <a:prstGeom prst="rect">
            <a:avLst/>
          </a:prstGeom>
          <a:noFill/>
          <a:ln/>
        </p:spPr>
        <p:txBody>
          <a:bodyPr wrap="square" lIns="0" tIns="0" rIns="0" bIns="0" rtlCol="0" anchor="ctr"/>
          <a:lstStyle/>
          <a:p>
            <a:pPr algn="r" indent="0" marL="0">
              <a:buNone/>
            </a:pPr>
            <a:r>
              <a:rPr lang="en-US" sz="950" dirty="0">
                <a:solidFill>
                  <a:srgbClr val="51607B"/>
                </a:solidFill>
                <a:latin typeface="Consolas" pitchFamily="34" charset="0"/>
                <a:ea typeface="Consolas" pitchFamily="34" charset="-122"/>
                <a:cs typeface="Consolas" pitchFamily="34" charset="-120"/>
              </a:rPr>
              <a:t>11</a:t>
            </a:r>
            <a:endParaRPr lang="en-US" sz="950" dirty="0"/>
          </a:p>
        </p:txBody>
      </p:sp>
      <p:sp>
        <p:nvSpPr>
          <p:cNvPr id="11" name="Shape 8"/>
          <p:cNvSpPr/>
          <p:nvPr/>
        </p:nvSpPr>
        <p:spPr>
          <a:xfrm>
            <a:off x="8366760" y="676656"/>
            <a:ext cx="3154680" cy="822960"/>
          </a:xfrm>
          <a:prstGeom prst="roundRect">
            <a:avLst>
              <a:gd name="adj" fmla="val 8889"/>
            </a:avLst>
          </a:prstGeom>
          <a:solidFill>
            <a:srgbClr val="FFFFFF"/>
          </a:solidFill>
          <a:ln w="12700">
            <a:solidFill>
              <a:srgbClr val="12B3A8">
                <a:alpha val="0"/>
              </a:srgbClr>
            </a:solidFill>
            <a:prstDash val="solid"/>
          </a:ln>
        </p:spPr>
      </p:sp>
      <p:sp>
        <p:nvSpPr>
          <p:cNvPr id="12" name="Shape 9"/>
          <p:cNvSpPr/>
          <p:nvPr/>
        </p:nvSpPr>
        <p:spPr>
          <a:xfrm>
            <a:off x="8366760" y="676656"/>
            <a:ext cx="73152" cy="822960"/>
          </a:xfrm>
          <a:prstGeom prst="rect">
            <a:avLst/>
          </a:prstGeom>
          <a:solidFill>
            <a:srgbClr val="12B3A8"/>
          </a:solidFill>
          <a:ln w="12700">
            <a:solidFill>
              <a:srgbClr val="12B3A8">
                <a:alpha val="0"/>
              </a:srgbClr>
            </a:solidFill>
            <a:prstDash val="solid"/>
          </a:ln>
        </p:spPr>
      </p:sp>
      <p:sp>
        <p:nvSpPr>
          <p:cNvPr id="13" name="Text 10"/>
          <p:cNvSpPr/>
          <p:nvPr/>
        </p:nvSpPr>
        <p:spPr>
          <a:xfrm>
            <a:off x="8531352" y="786384"/>
            <a:ext cx="1097280" cy="164592"/>
          </a:xfrm>
          <a:prstGeom prst="rect">
            <a:avLst/>
          </a:prstGeom>
          <a:noFill/>
          <a:ln/>
        </p:spPr>
        <p:txBody>
          <a:bodyPr wrap="square" lIns="0" tIns="0" rIns="0" bIns="0" rtlCol="0" anchor="ctr"/>
          <a:lstStyle/>
          <a:p>
            <a:pPr indent="0" marL="0">
              <a:buNone/>
            </a:pPr>
            <a:r>
              <a:rPr lang="en-US" sz="800" b="1" dirty="0">
                <a:solidFill>
                  <a:srgbClr val="12B3A8"/>
                </a:solidFill>
                <a:latin typeface="Aptos" pitchFamily="34" charset="0"/>
                <a:ea typeface="Aptos" pitchFamily="34" charset="-122"/>
                <a:cs typeface="Aptos" pitchFamily="34" charset="-120"/>
              </a:rPr>
              <a:t>Key takeaway</a:t>
            </a:r>
            <a:endParaRPr lang="en-US" sz="800" dirty="0"/>
          </a:p>
        </p:txBody>
      </p:sp>
      <p:sp>
        <p:nvSpPr>
          <p:cNvPr id="14" name="Text 11"/>
          <p:cNvSpPr/>
          <p:nvPr/>
        </p:nvSpPr>
        <p:spPr>
          <a:xfrm>
            <a:off x="8531352" y="932688"/>
            <a:ext cx="2880360" cy="521208"/>
          </a:xfrm>
          <a:prstGeom prst="rect">
            <a:avLst/>
          </a:prstGeom>
          <a:noFill/>
          <a:ln/>
        </p:spPr>
        <p:txBody>
          <a:bodyPr wrap="square" lIns="254" tIns="254" rIns="254" bIns="254" rtlCol="0" anchor="ctr"/>
          <a:lstStyle/>
          <a:p>
            <a:pPr indent="0" marL="0">
              <a:buNone/>
            </a:pPr>
            <a:r>
              <a:rPr lang="en-US" sz="920" dirty="0">
                <a:solidFill>
                  <a:srgbClr val="102749"/>
                </a:solidFill>
                <a:latin typeface="Aptos" pitchFamily="34" charset="0"/>
                <a:ea typeface="Aptos" pitchFamily="34" charset="-122"/>
                <a:cs typeface="Aptos" pitchFamily="34" charset="-120"/>
              </a:rPr>
              <a:t>The Dispatcher acts as a central controller that invokes each pipeline step in sequence with structured error handling and cleanup.</a:t>
            </a:r>
            <a:endParaRPr lang="en-US" sz="920" dirty="0"/>
          </a:p>
        </p:txBody>
      </p:sp>
      <p:sp>
        <p:nvSpPr>
          <p:cNvPr id="15" name="Shape 12"/>
          <p:cNvSpPr/>
          <p:nvPr/>
        </p:nvSpPr>
        <p:spPr>
          <a:xfrm>
            <a:off x="749808" y="1810512"/>
            <a:ext cx="1173480" cy="603504"/>
          </a:xfrm>
          <a:prstGeom prst="roundRect">
            <a:avLst>
              <a:gd name="adj" fmla="val 7576"/>
            </a:avLst>
          </a:prstGeom>
          <a:solidFill>
            <a:srgbClr val="FFFFFF"/>
          </a:solidFill>
          <a:ln w="12700">
            <a:solidFill>
              <a:srgbClr val="C7D5EA"/>
            </a:solidFill>
            <a:prstDash val="solid"/>
          </a:ln>
        </p:spPr>
      </p:sp>
      <p:sp>
        <p:nvSpPr>
          <p:cNvPr id="16" name="Shape 13"/>
          <p:cNvSpPr/>
          <p:nvPr/>
        </p:nvSpPr>
        <p:spPr>
          <a:xfrm>
            <a:off x="877824" y="1920240"/>
            <a:ext cx="228600" cy="228600"/>
          </a:xfrm>
          <a:prstGeom prst="ellipse">
            <a:avLst/>
          </a:prstGeom>
          <a:solidFill>
            <a:srgbClr val="1F6FFF"/>
          </a:solidFill>
          <a:ln w="12700">
            <a:solidFill>
              <a:srgbClr val="1F6FFF">
                <a:alpha val="0"/>
              </a:srgbClr>
            </a:solidFill>
            <a:prstDash val="solid"/>
          </a:ln>
        </p:spPr>
      </p:sp>
      <p:sp>
        <p:nvSpPr>
          <p:cNvPr id="17" name="Text 14"/>
          <p:cNvSpPr/>
          <p:nvPr/>
        </p:nvSpPr>
        <p:spPr>
          <a:xfrm>
            <a:off x="877824" y="1920240"/>
            <a:ext cx="228600" cy="164592"/>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8" name="Text 15"/>
          <p:cNvSpPr/>
          <p:nvPr/>
        </p:nvSpPr>
        <p:spPr>
          <a:xfrm>
            <a:off x="1188720" y="1901952"/>
            <a:ext cx="624840" cy="466344"/>
          </a:xfrm>
          <a:prstGeom prst="rect">
            <a:avLst/>
          </a:prstGeom>
          <a:noFill/>
          <a:ln/>
        </p:spPr>
        <p:txBody>
          <a:bodyPr wrap="square" lIns="127" tIns="127" rIns="127" bIns="127" rtlCol="0" anchor="ctr"/>
          <a:lstStyle/>
          <a:p>
            <a:pPr indent="0" marL="0">
              <a:buNone/>
            </a:pPr>
            <a:r>
              <a:rPr lang="en-US" sz="910" dirty="0">
                <a:solidFill>
                  <a:srgbClr val="102749"/>
                </a:solidFill>
                <a:latin typeface="Aptos" pitchFamily="34" charset="0"/>
                <a:ea typeface="Aptos" pitchFamily="34" charset="-122"/>
                <a:cs typeface="Aptos" pitchFamily="34" charset="-120"/>
              </a:rPr>
              <a:t>Log into ECW</a:t>
            </a:r>
            <a:endParaRPr lang="en-US" sz="910" dirty="0"/>
          </a:p>
        </p:txBody>
      </p:sp>
      <p:sp>
        <p:nvSpPr>
          <p:cNvPr id="19" name="Shape 16"/>
          <p:cNvSpPr/>
          <p:nvPr/>
        </p:nvSpPr>
        <p:spPr>
          <a:xfrm>
            <a:off x="1950720" y="2002536"/>
            <a:ext cx="109728" cy="219456"/>
          </a:xfrm>
          <a:prstGeom prst="chevron">
            <a:avLst/>
          </a:prstGeom>
          <a:solidFill>
            <a:srgbClr val="12B3A8"/>
          </a:solidFill>
          <a:ln w="12700">
            <a:solidFill>
              <a:srgbClr val="12B3A8">
                <a:alpha val="0"/>
              </a:srgbClr>
            </a:solidFill>
            <a:prstDash val="solid"/>
          </a:ln>
        </p:spPr>
      </p:sp>
      <p:sp>
        <p:nvSpPr>
          <p:cNvPr id="20" name="Shape 17"/>
          <p:cNvSpPr/>
          <p:nvPr/>
        </p:nvSpPr>
        <p:spPr>
          <a:xfrm>
            <a:off x="2014728" y="1810512"/>
            <a:ext cx="1173480" cy="603504"/>
          </a:xfrm>
          <a:prstGeom prst="roundRect">
            <a:avLst>
              <a:gd name="adj" fmla="val 7576"/>
            </a:avLst>
          </a:prstGeom>
          <a:solidFill>
            <a:srgbClr val="EEF4FB"/>
          </a:solidFill>
          <a:ln w="12700">
            <a:solidFill>
              <a:srgbClr val="C7D5EA"/>
            </a:solidFill>
            <a:prstDash val="solid"/>
          </a:ln>
        </p:spPr>
      </p:sp>
      <p:sp>
        <p:nvSpPr>
          <p:cNvPr id="21" name="Shape 18"/>
          <p:cNvSpPr/>
          <p:nvPr/>
        </p:nvSpPr>
        <p:spPr>
          <a:xfrm>
            <a:off x="2142744" y="1920240"/>
            <a:ext cx="228600" cy="228600"/>
          </a:xfrm>
          <a:prstGeom prst="ellipse">
            <a:avLst/>
          </a:prstGeom>
          <a:solidFill>
            <a:srgbClr val="1F6FFF"/>
          </a:solidFill>
          <a:ln w="12700">
            <a:solidFill>
              <a:srgbClr val="1F6FFF">
                <a:alpha val="0"/>
              </a:srgbClr>
            </a:solidFill>
            <a:prstDash val="solid"/>
          </a:ln>
        </p:spPr>
      </p:sp>
      <p:sp>
        <p:nvSpPr>
          <p:cNvPr id="22" name="Text 19"/>
          <p:cNvSpPr/>
          <p:nvPr/>
        </p:nvSpPr>
        <p:spPr>
          <a:xfrm>
            <a:off x="2142744" y="1920240"/>
            <a:ext cx="228600" cy="164592"/>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3" name="Text 20"/>
          <p:cNvSpPr/>
          <p:nvPr/>
        </p:nvSpPr>
        <p:spPr>
          <a:xfrm>
            <a:off x="2453640" y="1901952"/>
            <a:ext cx="624840" cy="466344"/>
          </a:xfrm>
          <a:prstGeom prst="rect">
            <a:avLst/>
          </a:prstGeom>
          <a:noFill/>
          <a:ln/>
        </p:spPr>
        <p:txBody>
          <a:bodyPr wrap="square" lIns="127" tIns="127" rIns="127" bIns="127" rtlCol="0" anchor="ctr"/>
          <a:lstStyle/>
          <a:p>
            <a:pPr indent="0" marL="0">
              <a:buNone/>
            </a:pPr>
            <a:r>
              <a:rPr lang="en-US" sz="910" dirty="0">
                <a:solidFill>
                  <a:srgbClr val="102749"/>
                </a:solidFill>
                <a:latin typeface="Aptos" pitchFamily="34" charset="0"/>
                <a:ea typeface="Aptos" pitchFamily="34" charset="-122"/>
                <a:cs typeface="Aptos" pitchFamily="34" charset="-120"/>
              </a:rPr>
              <a:t>Navigate to the aging report</a:t>
            </a:r>
            <a:endParaRPr lang="en-US" sz="910" dirty="0"/>
          </a:p>
        </p:txBody>
      </p:sp>
      <p:sp>
        <p:nvSpPr>
          <p:cNvPr id="24" name="Shape 21"/>
          <p:cNvSpPr/>
          <p:nvPr/>
        </p:nvSpPr>
        <p:spPr>
          <a:xfrm>
            <a:off x="3215640" y="2002536"/>
            <a:ext cx="109728" cy="219456"/>
          </a:xfrm>
          <a:prstGeom prst="chevron">
            <a:avLst/>
          </a:prstGeom>
          <a:solidFill>
            <a:srgbClr val="12B3A8"/>
          </a:solidFill>
          <a:ln w="12700">
            <a:solidFill>
              <a:srgbClr val="12B3A8">
                <a:alpha val="0"/>
              </a:srgbClr>
            </a:solidFill>
            <a:prstDash val="solid"/>
          </a:ln>
        </p:spPr>
      </p:sp>
      <p:sp>
        <p:nvSpPr>
          <p:cNvPr id="25" name="Shape 22"/>
          <p:cNvSpPr/>
          <p:nvPr/>
        </p:nvSpPr>
        <p:spPr>
          <a:xfrm>
            <a:off x="3279648" y="1810512"/>
            <a:ext cx="1173480" cy="603504"/>
          </a:xfrm>
          <a:prstGeom prst="roundRect">
            <a:avLst>
              <a:gd name="adj" fmla="val 7576"/>
            </a:avLst>
          </a:prstGeom>
          <a:solidFill>
            <a:srgbClr val="FFFFFF"/>
          </a:solidFill>
          <a:ln w="12700">
            <a:solidFill>
              <a:srgbClr val="C7D5EA"/>
            </a:solidFill>
            <a:prstDash val="solid"/>
          </a:ln>
        </p:spPr>
      </p:sp>
      <p:sp>
        <p:nvSpPr>
          <p:cNvPr id="26" name="Shape 23"/>
          <p:cNvSpPr/>
          <p:nvPr/>
        </p:nvSpPr>
        <p:spPr>
          <a:xfrm>
            <a:off x="3407664" y="1920240"/>
            <a:ext cx="228600" cy="228600"/>
          </a:xfrm>
          <a:prstGeom prst="ellipse">
            <a:avLst/>
          </a:prstGeom>
          <a:solidFill>
            <a:srgbClr val="1F6FFF"/>
          </a:solidFill>
          <a:ln w="12700">
            <a:solidFill>
              <a:srgbClr val="1F6FFF">
                <a:alpha val="0"/>
              </a:srgbClr>
            </a:solidFill>
            <a:prstDash val="solid"/>
          </a:ln>
        </p:spPr>
      </p:sp>
      <p:sp>
        <p:nvSpPr>
          <p:cNvPr id="27" name="Text 24"/>
          <p:cNvSpPr/>
          <p:nvPr/>
        </p:nvSpPr>
        <p:spPr>
          <a:xfrm>
            <a:off x="3407664" y="1920240"/>
            <a:ext cx="228600" cy="164592"/>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5"/>
          <p:cNvSpPr/>
          <p:nvPr/>
        </p:nvSpPr>
        <p:spPr>
          <a:xfrm>
            <a:off x="3718560" y="1901952"/>
            <a:ext cx="624840" cy="466344"/>
          </a:xfrm>
          <a:prstGeom prst="rect">
            <a:avLst/>
          </a:prstGeom>
          <a:noFill/>
          <a:ln/>
        </p:spPr>
        <p:txBody>
          <a:bodyPr wrap="square" lIns="127" tIns="127" rIns="127" bIns="127" rtlCol="0" anchor="ctr"/>
          <a:lstStyle/>
          <a:p>
            <a:pPr indent="0" marL="0">
              <a:buNone/>
            </a:pPr>
            <a:r>
              <a:rPr lang="en-US" sz="910" dirty="0">
                <a:solidFill>
                  <a:srgbClr val="102749"/>
                </a:solidFill>
                <a:latin typeface="Aptos" pitchFamily="34" charset="0"/>
                <a:ea typeface="Aptos" pitchFamily="34" charset="-122"/>
                <a:cs typeface="Aptos" pitchFamily="34" charset="-120"/>
              </a:rPr>
              <a:t>Apply report filters</a:t>
            </a:r>
            <a:endParaRPr lang="en-US" sz="910" dirty="0"/>
          </a:p>
        </p:txBody>
      </p:sp>
      <p:sp>
        <p:nvSpPr>
          <p:cNvPr id="29" name="Shape 26"/>
          <p:cNvSpPr/>
          <p:nvPr/>
        </p:nvSpPr>
        <p:spPr>
          <a:xfrm>
            <a:off x="4480560" y="2002536"/>
            <a:ext cx="109728" cy="219456"/>
          </a:xfrm>
          <a:prstGeom prst="chevron">
            <a:avLst/>
          </a:prstGeom>
          <a:solidFill>
            <a:srgbClr val="12B3A8"/>
          </a:solidFill>
          <a:ln w="12700">
            <a:solidFill>
              <a:srgbClr val="12B3A8">
                <a:alpha val="0"/>
              </a:srgbClr>
            </a:solidFill>
            <a:prstDash val="solid"/>
          </a:ln>
        </p:spPr>
      </p:sp>
      <p:sp>
        <p:nvSpPr>
          <p:cNvPr id="30" name="Shape 27"/>
          <p:cNvSpPr/>
          <p:nvPr/>
        </p:nvSpPr>
        <p:spPr>
          <a:xfrm>
            <a:off x="4544568" y="1810512"/>
            <a:ext cx="1173480" cy="603504"/>
          </a:xfrm>
          <a:prstGeom prst="roundRect">
            <a:avLst>
              <a:gd name="adj" fmla="val 7576"/>
            </a:avLst>
          </a:prstGeom>
          <a:solidFill>
            <a:srgbClr val="EEF4FB"/>
          </a:solidFill>
          <a:ln w="12700">
            <a:solidFill>
              <a:srgbClr val="C7D5EA"/>
            </a:solidFill>
            <a:prstDash val="solid"/>
          </a:ln>
        </p:spPr>
      </p:sp>
      <p:sp>
        <p:nvSpPr>
          <p:cNvPr id="31" name="Shape 28"/>
          <p:cNvSpPr/>
          <p:nvPr/>
        </p:nvSpPr>
        <p:spPr>
          <a:xfrm>
            <a:off x="4672584" y="1920240"/>
            <a:ext cx="228600" cy="228600"/>
          </a:xfrm>
          <a:prstGeom prst="ellipse">
            <a:avLst/>
          </a:prstGeom>
          <a:solidFill>
            <a:srgbClr val="1F6FFF"/>
          </a:solidFill>
          <a:ln w="12700">
            <a:solidFill>
              <a:srgbClr val="1F6FFF">
                <a:alpha val="0"/>
              </a:srgbClr>
            </a:solidFill>
            <a:prstDash val="solid"/>
          </a:ln>
        </p:spPr>
      </p:sp>
      <p:sp>
        <p:nvSpPr>
          <p:cNvPr id="32" name="Text 29"/>
          <p:cNvSpPr/>
          <p:nvPr/>
        </p:nvSpPr>
        <p:spPr>
          <a:xfrm>
            <a:off x="4672584" y="1920240"/>
            <a:ext cx="228600" cy="164592"/>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3" name="Text 30"/>
          <p:cNvSpPr/>
          <p:nvPr/>
        </p:nvSpPr>
        <p:spPr>
          <a:xfrm>
            <a:off x="4983480" y="1901952"/>
            <a:ext cx="624840" cy="466344"/>
          </a:xfrm>
          <a:prstGeom prst="rect">
            <a:avLst/>
          </a:prstGeom>
          <a:noFill/>
          <a:ln/>
        </p:spPr>
        <p:txBody>
          <a:bodyPr wrap="square" lIns="127" tIns="127" rIns="127" bIns="127" rtlCol="0" anchor="ctr"/>
          <a:lstStyle/>
          <a:p>
            <a:pPr indent="0" marL="0">
              <a:buNone/>
            </a:pPr>
            <a:r>
              <a:rPr lang="en-US" sz="910" dirty="0">
                <a:solidFill>
                  <a:srgbClr val="102749"/>
                </a:solidFill>
                <a:latin typeface="Aptos" pitchFamily="34" charset="0"/>
                <a:ea typeface="Aptos" pitchFamily="34" charset="-122"/>
                <a:cs typeface="Aptos" pitchFamily="34" charset="-120"/>
              </a:rPr>
              <a:t>Download the Excel file</a:t>
            </a:r>
            <a:endParaRPr lang="en-US" sz="910" dirty="0"/>
          </a:p>
        </p:txBody>
      </p:sp>
      <p:sp>
        <p:nvSpPr>
          <p:cNvPr id="34" name="Shape 31"/>
          <p:cNvSpPr/>
          <p:nvPr/>
        </p:nvSpPr>
        <p:spPr>
          <a:xfrm>
            <a:off x="5745480" y="2002536"/>
            <a:ext cx="109728" cy="219456"/>
          </a:xfrm>
          <a:prstGeom prst="chevron">
            <a:avLst/>
          </a:prstGeom>
          <a:solidFill>
            <a:srgbClr val="12B3A8"/>
          </a:solidFill>
          <a:ln w="12700">
            <a:solidFill>
              <a:srgbClr val="12B3A8">
                <a:alpha val="0"/>
              </a:srgbClr>
            </a:solidFill>
            <a:prstDash val="solid"/>
          </a:ln>
        </p:spPr>
      </p:sp>
      <p:sp>
        <p:nvSpPr>
          <p:cNvPr id="35" name="Shape 32"/>
          <p:cNvSpPr/>
          <p:nvPr/>
        </p:nvSpPr>
        <p:spPr>
          <a:xfrm>
            <a:off x="5809488" y="1810512"/>
            <a:ext cx="1173480" cy="603504"/>
          </a:xfrm>
          <a:prstGeom prst="roundRect">
            <a:avLst>
              <a:gd name="adj" fmla="val 7576"/>
            </a:avLst>
          </a:prstGeom>
          <a:solidFill>
            <a:srgbClr val="FFFFFF"/>
          </a:solidFill>
          <a:ln w="12700">
            <a:solidFill>
              <a:srgbClr val="C7D5EA"/>
            </a:solidFill>
            <a:prstDash val="solid"/>
          </a:ln>
        </p:spPr>
      </p:sp>
      <p:sp>
        <p:nvSpPr>
          <p:cNvPr id="36" name="Shape 33"/>
          <p:cNvSpPr/>
          <p:nvPr/>
        </p:nvSpPr>
        <p:spPr>
          <a:xfrm>
            <a:off x="5937504" y="1920240"/>
            <a:ext cx="228600" cy="228600"/>
          </a:xfrm>
          <a:prstGeom prst="ellipse">
            <a:avLst/>
          </a:prstGeom>
          <a:solidFill>
            <a:srgbClr val="1F6FFF"/>
          </a:solidFill>
          <a:ln w="12700">
            <a:solidFill>
              <a:srgbClr val="1F6FFF">
                <a:alpha val="0"/>
              </a:srgbClr>
            </a:solidFill>
            <a:prstDash val="solid"/>
          </a:ln>
        </p:spPr>
      </p:sp>
      <p:sp>
        <p:nvSpPr>
          <p:cNvPr id="37" name="Text 34"/>
          <p:cNvSpPr/>
          <p:nvPr/>
        </p:nvSpPr>
        <p:spPr>
          <a:xfrm>
            <a:off x="5937504" y="1920240"/>
            <a:ext cx="228600" cy="164592"/>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Aptos" pitchFamily="34" charset="-122"/>
                <a:cs typeface="Aptos" pitchFamily="34" charset="-120"/>
              </a:rPr>
              <a:t>5</a:t>
            </a:r>
            <a:endParaRPr lang="en-US" sz="850" dirty="0"/>
          </a:p>
        </p:txBody>
      </p:sp>
      <p:sp>
        <p:nvSpPr>
          <p:cNvPr id="38" name="Text 35"/>
          <p:cNvSpPr/>
          <p:nvPr/>
        </p:nvSpPr>
        <p:spPr>
          <a:xfrm>
            <a:off x="6248400" y="1901952"/>
            <a:ext cx="624840" cy="466344"/>
          </a:xfrm>
          <a:prstGeom prst="rect">
            <a:avLst/>
          </a:prstGeom>
          <a:noFill/>
          <a:ln/>
        </p:spPr>
        <p:txBody>
          <a:bodyPr wrap="square" lIns="127" tIns="127" rIns="127" bIns="127" rtlCol="0" anchor="ctr"/>
          <a:lstStyle/>
          <a:p>
            <a:pPr indent="0" marL="0">
              <a:buNone/>
            </a:pPr>
            <a:r>
              <a:rPr lang="en-US" sz="910" dirty="0">
                <a:solidFill>
                  <a:srgbClr val="102749"/>
                </a:solidFill>
                <a:latin typeface="Aptos" pitchFamily="34" charset="0"/>
                <a:ea typeface="Aptos" pitchFamily="34" charset="-122"/>
                <a:cs typeface="Aptos" pitchFamily="34" charset="-120"/>
              </a:rPr>
              <a:t>Transform rows into a SQLite database or queue</a:t>
            </a:r>
            <a:endParaRPr lang="en-US" sz="910" dirty="0"/>
          </a:p>
        </p:txBody>
      </p:sp>
      <p:sp>
        <p:nvSpPr>
          <p:cNvPr id="39" name="Shape 36"/>
          <p:cNvSpPr/>
          <p:nvPr/>
        </p:nvSpPr>
        <p:spPr>
          <a:xfrm>
            <a:off x="7010400" y="2002536"/>
            <a:ext cx="109728" cy="219456"/>
          </a:xfrm>
          <a:prstGeom prst="chevron">
            <a:avLst/>
          </a:prstGeom>
          <a:solidFill>
            <a:srgbClr val="12B3A8"/>
          </a:solidFill>
          <a:ln w="12700">
            <a:solidFill>
              <a:srgbClr val="12B3A8">
                <a:alpha val="0"/>
              </a:srgbClr>
            </a:solidFill>
            <a:prstDash val="solid"/>
          </a:ln>
        </p:spPr>
      </p:sp>
      <p:sp>
        <p:nvSpPr>
          <p:cNvPr id="40" name="Shape 37"/>
          <p:cNvSpPr/>
          <p:nvPr/>
        </p:nvSpPr>
        <p:spPr>
          <a:xfrm>
            <a:off x="7074408" y="1810512"/>
            <a:ext cx="1173480" cy="603504"/>
          </a:xfrm>
          <a:prstGeom prst="roundRect">
            <a:avLst>
              <a:gd name="adj" fmla="val 7576"/>
            </a:avLst>
          </a:prstGeom>
          <a:solidFill>
            <a:srgbClr val="EEF4FB"/>
          </a:solidFill>
          <a:ln w="12700">
            <a:solidFill>
              <a:srgbClr val="C7D5EA"/>
            </a:solidFill>
            <a:prstDash val="solid"/>
          </a:ln>
        </p:spPr>
      </p:sp>
      <p:sp>
        <p:nvSpPr>
          <p:cNvPr id="41" name="Shape 38"/>
          <p:cNvSpPr/>
          <p:nvPr/>
        </p:nvSpPr>
        <p:spPr>
          <a:xfrm>
            <a:off x="7202424" y="1920240"/>
            <a:ext cx="228600" cy="228600"/>
          </a:xfrm>
          <a:prstGeom prst="ellipse">
            <a:avLst/>
          </a:prstGeom>
          <a:solidFill>
            <a:srgbClr val="1F6FFF"/>
          </a:solidFill>
          <a:ln w="12700">
            <a:solidFill>
              <a:srgbClr val="1F6FFF">
                <a:alpha val="0"/>
              </a:srgbClr>
            </a:solidFill>
            <a:prstDash val="solid"/>
          </a:ln>
        </p:spPr>
      </p:sp>
      <p:sp>
        <p:nvSpPr>
          <p:cNvPr id="42" name="Text 39"/>
          <p:cNvSpPr/>
          <p:nvPr/>
        </p:nvSpPr>
        <p:spPr>
          <a:xfrm>
            <a:off x="7202424" y="1920240"/>
            <a:ext cx="228600" cy="164592"/>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Aptos" pitchFamily="34" charset="-122"/>
                <a:cs typeface="Aptos" pitchFamily="34" charset="-120"/>
              </a:rPr>
              <a:t>6</a:t>
            </a:r>
            <a:endParaRPr lang="en-US" sz="850" dirty="0"/>
          </a:p>
        </p:txBody>
      </p:sp>
      <p:sp>
        <p:nvSpPr>
          <p:cNvPr id="43" name="Text 40"/>
          <p:cNvSpPr/>
          <p:nvPr/>
        </p:nvSpPr>
        <p:spPr>
          <a:xfrm>
            <a:off x="7513320" y="1901952"/>
            <a:ext cx="624840" cy="466344"/>
          </a:xfrm>
          <a:prstGeom prst="rect">
            <a:avLst/>
          </a:prstGeom>
          <a:noFill/>
          <a:ln/>
        </p:spPr>
        <p:txBody>
          <a:bodyPr wrap="square" lIns="127" tIns="127" rIns="127" bIns="127" rtlCol="0" anchor="ctr"/>
          <a:lstStyle/>
          <a:p>
            <a:pPr indent="0" marL="0">
              <a:buNone/>
            </a:pPr>
            <a:r>
              <a:rPr lang="en-US" sz="910" dirty="0">
                <a:solidFill>
                  <a:srgbClr val="102749"/>
                </a:solidFill>
                <a:latin typeface="Aptos" pitchFamily="34" charset="0"/>
                <a:ea typeface="Aptos" pitchFamily="34" charset="-122"/>
                <a:cs typeface="Aptos" pitchFamily="34" charset="-120"/>
              </a:rPr>
              <a:t>Archive the source file for traceability</a:t>
            </a:r>
            <a:endParaRPr lang="en-US" sz="910" dirty="0"/>
          </a:p>
        </p:txBody>
      </p:sp>
      <p:sp>
        <p:nvSpPr>
          <p:cNvPr id="44" name="Shape 41"/>
          <p:cNvSpPr/>
          <p:nvPr/>
        </p:nvSpPr>
        <p:spPr>
          <a:xfrm>
            <a:off x="749808" y="2743200"/>
            <a:ext cx="7498080" cy="2468880"/>
          </a:xfrm>
          <a:prstGeom prst="roundRect">
            <a:avLst>
              <a:gd name="adj" fmla="val 1852"/>
            </a:avLst>
          </a:prstGeom>
          <a:solidFill>
            <a:srgbClr val="FFFFFF"/>
          </a:solidFill>
          <a:ln w="12700">
            <a:solidFill>
              <a:srgbClr val="C7D5EA"/>
            </a:solidFill>
            <a:prstDash val="solid"/>
          </a:ln>
        </p:spPr>
      </p:sp>
      <p:sp>
        <p:nvSpPr>
          <p:cNvPr id="45" name="Shape 42"/>
          <p:cNvSpPr/>
          <p:nvPr/>
        </p:nvSpPr>
        <p:spPr>
          <a:xfrm>
            <a:off x="932688" y="3054096"/>
            <a:ext cx="100584" cy="100584"/>
          </a:xfrm>
          <a:prstGeom prst="ellipse">
            <a:avLst/>
          </a:prstGeom>
          <a:solidFill>
            <a:srgbClr val="1F6FFF"/>
          </a:solidFill>
          <a:ln w="12700">
            <a:solidFill>
              <a:srgbClr val="1F6FFF">
                <a:alpha val="0"/>
              </a:srgbClr>
            </a:solidFill>
            <a:prstDash val="solid"/>
          </a:ln>
        </p:spPr>
      </p:sp>
      <p:sp>
        <p:nvSpPr>
          <p:cNvPr id="46" name="Text 43"/>
          <p:cNvSpPr/>
          <p:nvPr/>
        </p:nvSpPr>
        <p:spPr>
          <a:xfrm>
            <a:off x="1097280" y="2980944"/>
            <a:ext cx="6858000" cy="301752"/>
          </a:xfrm>
          <a:prstGeom prst="rect">
            <a:avLst/>
          </a:prstGeom>
          <a:noFill/>
          <a:ln/>
        </p:spPr>
        <p:txBody>
          <a:bodyPr wrap="square" lIns="0" tIns="0" rIns="0" bIns="0" rtlCol="0" anchor="ctr"/>
          <a:lstStyle/>
          <a:p>
            <a:pPr indent="0" marL="0">
              <a:buNone/>
            </a:pPr>
            <a:r>
              <a:rPr lang="en-US" sz="1030" dirty="0">
                <a:solidFill>
                  <a:srgbClr val="102749"/>
                </a:solidFill>
                <a:latin typeface="Aptos" pitchFamily="34" charset="0"/>
                <a:ea typeface="Aptos" pitchFamily="34" charset="-122"/>
                <a:cs typeface="Aptos" pitchFamily="34" charset="-120"/>
              </a:rPr>
              <a:t>The Dispatcher is responsible for work intake and preparation, not for every later business action in the pipeline</a:t>
            </a:r>
            <a:endParaRPr lang="en-US" sz="1030" dirty="0"/>
          </a:p>
        </p:txBody>
      </p:sp>
      <p:sp>
        <p:nvSpPr>
          <p:cNvPr id="47" name="Shape 44"/>
          <p:cNvSpPr/>
          <p:nvPr/>
        </p:nvSpPr>
        <p:spPr>
          <a:xfrm>
            <a:off x="932688" y="3584448"/>
            <a:ext cx="100584" cy="100584"/>
          </a:xfrm>
          <a:prstGeom prst="ellipse">
            <a:avLst/>
          </a:prstGeom>
          <a:solidFill>
            <a:srgbClr val="1F6FFF"/>
          </a:solidFill>
          <a:ln w="12700">
            <a:solidFill>
              <a:srgbClr val="1F6FFF">
                <a:alpha val="0"/>
              </a:srgbClr>
            </a:solidFill>
            <a:prstDash val="solid"/>
          </a:ln>
        </p:spPr>
      </p:sp>
      <p:sp>
        <p:nvSpPr>
          <p:cNvPr id="48" name="Text 45"/>
          <p:cNvSpPr/>
          <p:nvPr/>
        </p:nvSpPr>
        <p:spPr>
          <a:xfrm>
            <a:off x="1097280" y="3511296"/>
            <a:ext cx="6858000" cy="301752"/>
          </a:xfrm>
          <a:prstGeom prst="rect">
            <a:avLst/>
          </a:prstGeom>
          <a:noFill/>
          <a:ln/>
        </p:spPr>
        <p:txBody>
          <a:bodyPr wrap="square" lIns="0" tIns="0" rIns="0" bIns="0" rtlCol="0" anchor="ctr"/>
          <a:lstStyle/>
          <a:p>
            <a:pPr indent="0" marL="0">
              <a:buNone/>
            </a:pPr>
            <a:r>
              <a:rPr lang="en-US" sz="1030" dirty="0">
                <a:solidFill>
                  <a:srgbClr val="102749"/>
                </a:solidFill>
                <a:latin typeface="Aptos" pitchFamily="34" charset="0"/>
                <a:ea typeface="Aptos" pitchFamily="34" charset="-122"/>
                <a:cs typeface="Aptos" pitchFamily="34" charset="-120"/>
              </a:rPr>
              <a:t>Config-driven values such as report filters, download locations, and archive rules improve maintainability</a:t>
            </a:r>
            <a:endParaRPr lang="en-US" sz="1030" dirty="0"/>
          </a:p>
        </p:txBody>
      </p:sp>
      <p:sp>
        <p:nvSpPr>
          <p:cNvPr id="49" name="Shape 46"/>
          <p:cNvSpPr/>
          <p:nvPr/>
        </p:nvSpPr>
        <p:spPr>
          <a:xfrm>
            <a:off x="932688" y="4114800"/>
            <a:ext cx="100584" cy="100584"/>
          </a:xfrm>
          <a:prstGeom prst="ellipse">
            <a:avLst/>
          </a:prstGeom>
          <a:solidFill>
            <a:srgbClr val="1F6FFF"/>
          </a:solidFill>
          <a:ln w="12700">
            <a:solidFill>
              <a:srgbClr val="1F6FFF">
                <a:alpha val="0"/>
              </a:srgbClr>
            </a:solidFill>
            <a:prstDash val="solid"/>
          </a:ln>
        </p:spPr>
      </p:sp>
      <p:sp>
        <p:nvSpPr>
          <p:cNvPr id="50" name="Text 47"/>
          <p:cNvSpPr/>
          <p:nvPr/>
        </p:nvSpPr>
        <p:spPr>
          <a:xfrm>
            <a:off x="1097280" y="4041648"/>
            <a:ext cx="6858000" cy="301752"/>
          </a:xfrm>
          <a:prstGeom prst="rect">
            <a:avLst/>
          </a:prstGeom>
          <a:noFill/>
          <a:ln/>
        </p:spPr>
        <p:txBody>
          <a:bodyPr wrap="square" lIns="0" tIns="0" rIns="0" bIns="0" rtlCol="0" anchor="ctr"/>
          <a:lstStyle/>
          <a:p>
            <a:pPr indent="0" marL="0">
              <a:buNone/>
            </a:pPr>
            <a:r>
              <a:rPr lang="en-US" sz="1030" dirty="0">
                <a:solidFill>
                  <a:srgbClr val="102749"/>
                </a:solidFill>
                <a:latin typeface="Aptos" pitchFamily="34" charset="0"/>
                <a:ea typeface="Aptos" pitchFamily="34" charset="-122"/>
                <a:cs typeface="Aptos" pitchFamily="34" charset="-120"/>
              </a:rPr>
              <a:t>Structured cleanup prevents locked sessions, orphaned files, and confusing rerun conditions</a:t>
            </a:r>
            <a:endParaRPr lang="en-US" sz="1030" dirty="0"/>
          </a:p>
        </p:txBody>
      </p:sp>
      <p:sp>
        <p:nvSpPr>
          <p:cNvPr id="51" name="Shape 48"/>
          <p:cNvSpPr/>
          <p:nvPr/>
        </p:nvSpPr>
        <p:spPr>
          <a:xfrm>
            <a:off x="932688" y="4645152"/>
            <a:ext cx="100584" cy="100584"/>
          </a:xfrm>
          <a:prstGeom prst="ellipse">
            <a:avLst/>
          </a:prstGeom>
          <a:solidFill>
            <a:srgbClr val="1F6FFF"/>
          </a:solidFill>
          <a:ln w="12700">
            <a:solidFill>
              <a:srgbClr val="1F6FFF">
                <a:alpha val="0"/>
              </a:srgbClr>
            </a:solidFill>
            <a:prstDash val="solid"/>
          </a:ln>
        </p:spPr>
      </p:sp>
      <p:sp>
        <p:nvSpPr>
          <p:cNvPr id="52" name="Text 49"/>
          <p:cNvSpPr/>
          <p:nvPr/>
        </p:nvSpPr>
        <p:spPr>
          <a:xfrm>
            <a:off x="1097280" y="4572000"/>
            <a:ext cx="6858000" cy="301752"/>
          </a:xfrm>
          <a:prstGeom prst="rect">
            <a:avLst/>
          </a:prstGeom>
          <a:noFill/>
          <a:ln/>
        </p:spPr>
        <p:txBody>
          <a:bodyPr wrap="square" lIns="0" tIns="0" rIns="0" bIns="0" rtlCol="0" anchor="ctr"/>
          <a:lstStyle/>
          <a:p>
            <a:pPr indent="0" marL="0">
              <a:buNone/>
            </a:pPr>
            <a:r>
              <a:rPr lang="en-US" sz="1030" dirty="0">
                <a:solidFill>
                  <a:srgbClr val="102749"/>
                </a:solidFill>
                <a:latin typeface="Aptos" pitchFamily="34" charset="0"/>
                <a:ea typeface="Aptos" pitchFamily="34" charset="-122"/>
                <a:cs typeface="Aptos" pitchFamily="34" charset="-120"/>
              </a:rPr>
              <a:t>A good BA helps define which filters, reference fields, and archive outputs are mandatory</a:t>
            </a:r>
            <a:endParaRPr lang="en-US" sz="1030" dirty="0"/>
          </a:p>
        </p:txBody>
      </p:sp>
      <p:sp>
        <p:nvSpPr>
          <p:cNvPr id="53" name="Shape 50"/>
          <p:cNvSpPr/>
          <p:nvPr/>
        </p:nvSpPr>
        <p:spPr>
          <a:xfrm>
            <a:off x="8549640" y="1810512"/>
            <a:ext cx="2880360" cy="896112"/>
          </a:xfrm>
          <a:prstGeom prst="roundRect">
            <a:avLst>
              <a:gd name="adj" fmla="val 6122"/>
            </a:avLst>
          </a:prstGeom>
          <a:solidFill>
            <a:srgbClr val="FFFFFF"/>
          </a:solidFill>
          <a:ln w="12700">
            <a:solidFill>
              <a:srgbClr val="C7D5EA"/>
            </a:solidFill>
            <a:prstDash val="solid"/>
          </a:ln>
        </p:spPr>
      </p:sp>
      <p:sp>
        <p:nvSpPr>
          <p:cNvPr id="54" name="Shape 51"/>
          <p:cNvSpPr/>
          <p:nvPr/>
        </p:nvSpPr>
        <p:spPr>
          <a:xfrm>
            <a:off x="8549640" y="1810512"/>
            <a:ext cx="2880360" cy="64008"/>
          </a:xfrm>
          <a:prstGeom prst="rect">
            <a:avLst/>
          </a:prstGeom>
          <a:solidFill>
            <a:srgbClr val="1F6FFF"/>
          </a:solidFill>
          <a:ln w="12700">
            <a:solidFill>
              <a:srgbClr val="1F6FFF">
                <a:alpha val="0"/>
              </a:srgbClr>
            </a:solidFill>
            <a:prstDash val="solid"/>
          </a:ln>
        </p:spPr>
      </p:sp>
      <p:sp>
        <p:nvSpPr>
          <p:cNvPr id="55" name="Text 52"/>
          <p:cNvSpPr/>
          <p:nvPr/>
        </p:nvSpPr>
        <p:spPr>
          <a:xfrm>
            <a:off x="8714232" y="1975104"/>
            <a:ext cx="260604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Design Goal</a:t>
            </a:r>
            <a:endParaRPr lang="en-US" sz="1150" dirty="0"/>
          </a:p>
        </p:txBody>
      </p:sp>
      <p:sp>
        <p:nvSpPr>
          <p:cNvPr id="56" name="Text 53"/>
          <p:cNvSpPr/>
          <p:nvPr/>
        </p:nvSpPr>
        <p:spPr>
          <a:xfrm>
            <a:off x="8714232" y="2249424"/>
            <a:ext cx="2606040" cy="365760"/>
          </a:xfrm>
          <a:prstGeom prst="rect">
            <a:avLst/>
          </a:prstGeom>
          <a:noFill/>
          <a:ln/>
        </p:spPr>
        <p:txBody>
          <a:bodyPr wrap="square" lIns="254" tIns="254" rIns="254" bIns="254" rtlCol="0" anchor="t"/>
          <a:lstStyle/>
          <a:p>
            <a:pPr indent="0" marL="0">
              <a:buNone/>
            </a:pPr>
            <a:r>
              <a:rPr lang="en-US" sz="870" dirty="0">
                <a:solidFill>
                  <a:srgbClr val="51607B"/>
                </a:solidFill>
                <a:latin typeface="Aptos" pitchFamily="34" charset="0"/>
                <a:ea typeface="Aptos" pitchFamily="34" charset="-122"/>
                <a:cs typeface="Aptos" pitchFamily="34" charset="-120"/>
              </a:rPr>
              <a:t>Prepare a clean, traceable workload for downstream performers.</a:t>
            </a:r>
            <a:endParaRPr lang="en-US" sz="870" dirty="0"/>
          </a:p>
        </p:txBody>
      </p:sp>
      <p:sp>
        <p:nvSpPr>
          <p:cNvPr id="57" name="Shape 54"/>
          <p:cNvSpPr/>
          <p:nvPr/>
        </p:nvSpPr>
        <p:spPr>
          <a:xfrm>
            <a:off x="8549640" y="2999232"/>
            <a:ext cx="2880360" cy="896112"/>
          </a:xfrm>
          <a:prstGeom prst="roundRect">
            <a:avLst>
              <a:gd name="adj" fmla="val 6122"/>
            </a:avLst>
          </a:prstGeom>
          <a:solidFill>
            <a:srgbClr val="FFFFFF"/>
          </a:solidFill>
          <a:ln w="12700">
            <a:solidFill>
              <a:srgbClr val="C7D5EA"/>
            </a:solidFill>
            <a:prstDash val="solid"/>
          </a:ln>
        </p:spPr>
      </p:sp>
      <p:sp>
        <p:nvSpPr>
          <p:cNvPr id="58" name="Shape 55"/>
          <p:cNvSpPr/>
          <p:nvPr/>
        </p:nvSpPr>
        <p:spPr>
          <a:xfrm>
            <a:off x="8549640" y="2999232"/>
            <a:ext cx="2880360" cy="64008"/>
          </a:xfrm>
          <a:prstGeom prst="rect">
            <a:avLst/>
          </a:prstGeom>
          <a:solidFill>
            <a:srgbClr val="12B3A8"/>
          </a:solidFill>
          <a:ln w="12700">
            <a:solidFill>
              <a:srgbClr val="12B3A8">
                <a:alpha val="0"/>
              </a:srgbClr>
            </a:solidFill>
            <a:prstDash val="solid"/>
          </a:ln>
        </p:spPr>
      </p:sp>
      <p:sp>
        <p:nvSpPr>
          <p:cNvPr id="59" name="Text 56"/>
          <p:cNvSpPr/>
          <p:nvPr/>
        </p:nvSpPr>
        <p:spPr>
          <a:xfrm>
            <a:off x="8714232" y="3163824"/>
            <a:ext cx="260604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Control Point</a:t>
            </a:r>
            <a:endParaRPr lang="en-US" sz="1150" dirty="0"/>
          </a:p>
        </p:txBody>
      </p:sp>
      <p:sp>
        <p:nvSpPr>
          <p:cNvPr id="60" name="Text 57"/>
          <p:cNvSpPr/>
          <p:nvPr/>
        </p:nvSpPr>
        <p:spPr>
          <a:xfrm>
            <a:off x="8714232" y="3438144"/>
            <a:ext cx="2606040" cy="365760"/>
          </a:xfrm>
          <a:prstGeom prst="rect">
            <a:avLst/>
          </a:prstGeom>
          <a:noFill/>
          <a:ln/>
        </p:spPr>
        <p:txBody>
          <a:bodyPr wrap="square" lIns="254" tIns="254" rIns="254" bIns="254" rtlCol="0" anchor="t"/>
          <a:lstStyle/>
          <a:p>
            <a:pPr indent="0" marL="0">
              <a:buNone/>
            </a:pPr>
            <a:r>
              <a:rPr lang="en-US" sz="870" dirty="0">
                <a:solidFill>
                  <a:srgbClr val="51607B"/>
                </a:solidFill>
                <a:latin typeface="Aptos" pitchFamily="34" charset="0"/>
                <a:ea typeface="Aptos" pitchFamily="34" charset="-122"/>
                <a:cs typeface="Aptos" pitchFamily="34" charset="-120"/>
              </a:rPr>
              <a:t>Fail early if the report is wrong, missing, or structurally incomplete.</a:t>
            </a:r>
            <a:endParaRPr lang="en-US" sz="870" dirty="0"/>
          </a:p>
        </p:txBody>
      </p:sp>
      <p:sp>
        <p:nvSpPr>
          <p:cNvPr id="61" name="Shape 58"/>
          <p:cNvSpPr/>
          <p:nvPr/>
        </p:nvSpPr>
        <p:spPr>
          <a:xfrm>
            <a:off x="8549640" y="4187952"/>
            <a:ext cx="2880360" cy="896112"/>
          </a:xfrm>
          <a:prstGeom prst="roundRect">
            <a:avLst>
              <a:gd name="adj" fmla="val 6122"/>
            </a:avLst>
          </a:prstGeom>
          <a:solidFill>
            <a:srgbClr val="FFFFFF"/>
          </a:solidFill>
          <a:ln w="12700">
            <a:solidFill>
              <a:srgbClr val="C7D5EA"/>
            </a:solidFill>
            <a:prstDash val="solid"/>
          </a:ln>
        </p:spPr>
      </p:sp>
      <p:sp>
        <p:nvSpPr>
          <p:cNvPr id="62" name="Shape 59"/>
          <p:cNvSpPr/>
          <p:nvPr/>
        </p:nvSpPr>
        <p:spPr>
          <a:xfrm>
            <a:off x="8549640" y="4187952"/>
            <a:ext cx="2880360" cy="64008"/>
          </a:xfrm>
          <a:prstGeom prst="rect">
            <a:avLst/>
          </a:prstGeom>
          <a:solidFill>
            <a:srgbClr val="1F6FFF"/>
          </a:solidFill>
          <a:ln w="12700">
            <a:solidFill>
              <a:srgbClr val="1F6FFF">
                <a:alpha val="0"/>
              </a:srgbClr>
            </a:solidFill>
            <a:prstDash val="solid"/>
          </a:ln>
        </p:spPr>
      </p:sp>
      <p:sp>
        <p:nvSpPr>
          <p:cNvPr id="63" name="Text 60"/>
          <p:cNvSpPr/>
          <p:nvPr/>
        </p:nvSpPr>
        <p:spPr>
          <a:xfrm>
            <a:off x="8714232" y="4352544"/>
            <a:ext cx="260604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BA Lens</a:t>
            </a:r>
            <a:endParaRPr lang="en-US" sz="1150" dirty="0"/>
          </a:p>
        </p:txBody>
      </p:sp>
      <p:sp>
        <p:nvSpPr>
          <p:cNvPr id="64" name="Text 61"/>
          <p:cNvSpPr/>
          <p:nvPr/>
        </p:nvSpPr>
        <p:spPr>
          <a:xfrm>
            <a:off x="8714232" y="4626864"/>
            <a:ext cx="2606040" cy="365760"/>
          </a:xfrm>
          <a:prstGeom prst="rect">
            <a:avLst/>
          </a:prstGeom>
          <a:noFill/>
          <a:ln/>
        </p:spPr>
        <p:txBody>
          <a:bodyPr wrap="square" lIns="254" tIns="254" rIns="254" bIns="254" rtlCol="0" anchor="t"/>
          <a:lstStyle/>
          <a:p>
            <a:pPr indent="0" marL="0">
              <a:buNone/>
            </a:pPr>
            <a:r>
              <a:rPr lang="en-US" sz="870" dirty="0">
                <a:solidFill>
                  <a:srgbClr val="51607B"/>
                </a:solidFill>
                <a:latin typeface="Aptos" pitchFamily="34" charset="0"/>
                <a:ea typeface="Aptos" pitchFamily="34" charset="-122"/>
                <a:cs typeface="Aptos" pitchFamily="34" charset="-120"/>
              </a:rPr>
              <a:t>Verify report logic, field meaning, and handoff completeness before build.</a:t>
            </a:r>
            <a:endParaRPr lang="en-US" sz="870" dirty="0"/>
          </a:p>
        </p:txBody>
      </p:sp>
      <p:sp>
        <p:nvSpPr>
          <p:cNvPr id="65" name="Text 62"/>
          <p:cNvSpPr/>
          <p:nvPr/>
        </p:nvSpPr>
        <p:spPr>
          <a:xfrm>
            <a:off x="658368" y="6510528"/>
            <a:ext cx="2560320" cy="164592"/>
          </a:xfrm>
          <a:prstGeom prst="rect">
            <a:avLst/>
          </a:prstGeom>
          <a:noFill/>
          <a:ln/>
        </p:spPr>
        <p:txBody>
          <a:bodyPr wrap="square" lIns="0" tIns="0" rIns="0" bIns="0" rtlCol="0" anchor="ctr"/>
          <a:lstStyle/>
          <a:p>
            <a:pPr indent="0" marL="0">
              <a:buNone/>
            </a:pPr>
            <a:r>
              <a:rPr lang="en-US" sz="850" dirty="0">
                <a:solidFill>
                  <a:srgbClr val="51607B"/>
                </a:solidFill>
                <a:latin typeface="Aptos" pitchFamily="34" charset="0"/>
                <a:ea typeface="Aptos" pitchFamily="34" charset="-122"/>
                <a:cs typeface="Aptos" pitchFamily="34" charset="-120"/>
              </a:rPr>
              <a:t>Innobot  |  Internal workshop</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F4F7FB"/>
          </a:solidFill>
          <a:ln/>
        </p:spPr>
      </p:sp>
      <p:sp>
        <p:nvSpPr>
          <p:cNvPr id="4" name="Shape 1"/>
          <p:cNvSpPr/>
          <p:nvPr/>
        </p:nvSpPr>
        <p:spPr>
          <a:xfrm>
            <a:off x="0" y="0"/>
            <a:ext cx="12191695" cy="411480"/>
          </a:xfrm>
          <a:prstGeom prst="rect">
            <a:avLst/>
          </a:prstGeom>
          <a:solidFill>
            <a:srgbClr val="0A1830"/>
          </a:solidFill>
          <a:ln/>
        </p:spPr>
      </p:sp>
      <p:sp>
        <p:nvSpPr>
          <p:cNvPr id="5" name="Shape 2"/>
          <p:cNvSpPr/>
          <p:nvPr/>
        </p:nvSpPr>
        <p:spPr>
          <a:xfrm>
            <a:off x="9509760" y="-137160"/>
            <a:ext cx="3200400" cy="2194560"/>
          </a:xfrm>
          <a:prstGeom prst="ellipse">
            <a:avLst/>
          </a:prstGeom>
          <a:solidFill>
            <a:srgbClr val="8AB8FF">
              <a:alpha val="16000"/>
            </a:srgbClr>
          </a:solidFill>
          <a:ln w="12700">
            <a:solidFill>
              <a:srgbClr val="8AB8FF">
                <a:alpha val="0"/>
              </a:srgbClr>
            </a:solidFill>
            <a:prstDash val="solid"/>
          </a:ln>
        </p:spPr>
      </p:sp>
      <p:sp>
        <p:nvSpPr>
          <p:cNvPr id="6" name="Shape 3"/>
          <p:cNvSpPr/>
          <p:nvPr/>
        </p:nvSpPr>
        <p:spPr>
          <a:xfrm>
            <a:off x="-731520" y="5394960"/>
            <a:ext cx="2560320" cy="1645920"/>
          </a:xfrm>
          <a:prstGeom prst="ellipse">
            <a:avLst/>
          </a:prstGeom>
          <a:solidFill>
            <a:srgbClr val="12B3A8">
              <a:alpha val="10000"/>
            </a:srgbClr>
          </a:solidFill>
          <a:ln w="12700">
            <a:solidFill>
              <a:srgbClr val="12B3A8">
                <a:alpha val="0"/>
              </a:srgbClr>
            </a:solidFill>
            <a:prstDash val="solid"/>
          </a:ln>
        </p:spPr>
      </p:sp>
      <p:sp>
        <p:nvSpPr>
          <p:cNvPr id="7" name="Text 4"/>
          <p:cNvSpPr/>
          <p:nvPr/>
        </p:nvSpPr>
        <p:spPr>
          <a:xfrm>
            <a:off x="658368" y="182880"/>
            <a:ext cx="2651760" cy="146304"/>
          </a:xfrm>
          <a:prstGeom prst="rect">
            <a:avLst/>
          </a:prstGeom>
          <a:noFill/>
          <a:ln/>
        </p:spPr>
        <p:txBody>
          <a:bodyPr wrap="square" lIns="0" tIns="0" rIns="0" bIns="0" rtlCol="0" anchor="ctr"/>
          <a:lstStyle/>
          <a:p>
            <a:pPr indent="0" marL="0">
              <a:buNone/>
            </a:pPr>
            <a:r>
              <a:rPr lang="en-US" sz="850" b="1" dirty="0">
                <a:solidFill>
                  <a:srgbClr val="8AB8FF"/>
                </a:solidFill>
                <a:latin typeface="Aptos" pitchFamily="34" charset="0"/>
                <a:ea typeface="Aptos" pitchFamily="34" charset="-122"/>
                <a:cs typeface="Aptos" pitchFamily="34" charset="-120"/>
              </a:rPr>
              <a:t>INNOBOT DELIVERY EXAMPLE</a:t>
            </a:r>
            <a:endParaRPr lang="en-US" sz="850" dirty="0"/>
          </a:p>
        </p:txBody>
      </p:sp>
      <p:sp>
        <p:nvSpPr>
          <p:cNvPr id="8" name="Text 5"/>
          <p:cNvSpPr/>
          <p:nvPr/>
        </p:nvSpPr>
        <p:spPr>
          <a:xfrm>
            <a:off x="658368" y="612648"/>
            <a:ext cx="7223760" cy="411480"/>
          </a:xfrm>
          <a:prstGeom prst="rect">
            <a:avLst/>
          </a:prstGeom>
          <a:noFill/>
          <a:ln/>
        </p:spPr>
        <p:txBody>
          <a:bodyPr wrap="square" lIns="0" tIns="0" rIns="0" bIns="0" rtlCol="0" anchor="ctr"/>
          <a:lstStyle/>
          <a:p>
            <a:pPr indent="0" marL="0">
              <a:buNone/>
            </a:pPr>
            <a:r>
              <a:rPr lang="en-US" sz="2400" b="1" dirty="0">
                <a:solidFill>
                  <a:srgbClr val="102749"/>
                </a:solidFill>
                <a:latin typeface="Aptos Display" pitchFamily="34" charset="0"/>
                <a:ea typeface="Aptos Display" pitchFamily="34" charset="-122"/>
                <a:cs typeface="Aptos Display" pitchFamily="34" charset="-120"/>
              </a:rPr>
              <a:t>Availity Performer Example</a:t>
            </a:r>
            <a:endParaRPr lang="en-US" sz="2400" dirty="0"/>
          </a:p>
        </p:txBody>
      </p:sp>
      <p:sp>
        <p:nvSpPr>
          <p:cNvPr id="9" name="Text 6"/>
          <p:cNvSpPr/>
          <p:nvPr/>
        </p:nvSpPr>
        <p:spPr>
          <a:xfrm>
            <a:off x="658368" y="1069848"/>
            <a:ext cx="7863840" cy="310896"/>
          </a:xfrm>
          <a:prstGeom prst="rect">
            <a:avLst/>
          </a:prstGeom>
          <a:noFill/>
          <a:ln/>
        </p:spPr>
        <p:txBody>
          <a:bodyPr wrap="square" lIns="0" tIns="0" rIns="0" bIns="0" rtlCol="0" anchor="ctr"/>
          <a:lstStyle/>
          <a:p>
            <a:pPr indent="0" marL="0">
              <a:buNone/>
            </a:pPr>
            <a:r>
              <a:rPr lang="en-US" sz="1100" dirty="0">
                <a:solidFill>
                  <a:srgbClr val="51607B"/>
                </a:solidFill>
                <a:latin typeface="Aptos" pitchFamily="34" charset="0"/>
                <a:ea typeface="Aptos" pitchFamily="34" charset="-122"/>
                <a:cs typeface="Aptos" pitchFamily="34" charset="-120"/>
              </a:rPr>
              <a:t>A transaction-based performer uses a repeatable loop instead of a fragile batch sequence</a:t>
            </a:r>
            <a:endParaRPr lang="en-US" sz="1100" dirty="0"/>
          </a:p>
        </p:txBody>
      </p:sp>
      <p:sp>
        <p:nvSpPr>
          <p:cNvPr id="10" name="Text 7"/>
          <p:cNvSpPr/>
          <p:nvPr/>
        </p:nvSpPr>
        <p:spPr>
          <a:xfrm>
            <a:off x="11155680" y="530352"/>
            <a:ext cx="365760" cy="201168"/>
          </a:xfrm>
          <a:prstGeom prst="rect">
            <a:avLst/>
          </a:prstGeom>
          <a:noFill/>
          <a:ln/>
        </p:spPr>
        <p:txBody>
          <a:bodyPr wrap="square" lIns="0" tIns="0" rIns="0" bIns="0" rtlCol="0" anchor="ctr"/>
          <a:lstStyle/>
          <a:p>
            <a:pPr algn="r" indent="0" marL="0">
              <a:buNone/>
            </a:pPr>
            <a:r>
              <a:rPr lang="en-US" sz="950" dirty="0">
                <a:solidFill>
                  <a:srgbClr val="51607B"/>
                </a:solidFill>
                <a:latin typeface="Consolas" pitchFamily="34" charset="0"/>
                <a:ea typeface="Consolas" pitchFamily="34" charset="-122"/>
                <a:cs typeface="Consolas" pitchFamily="34" charset="-120"/>
              </a:rPr>
              <a:t>12</a:t>
            </a:r>
            <a:endParaRPr lang="en-US" sz="950" dirty="0"/>
          </a:p>
        </p:txBody>
      </p:sp>
      <p:sp>
        <p:nvSpPr>
          <p:cNvPr id="11" name="Shape 8"/>
          <p:cNvSpPr/>
          <p:nvPr/>
        </p:nvSpPr>
        <p:spPr>
          <a:xfrm>
            <a:off x="8366760" y="676656"/>
            <a:ext cx="3154680" cy="822960"/>
          </a:xfrm>
          <a:prstGeom prst="roundRect">
            <a:avLst>
              <a:gd name="adj" fmla="val 8889"/>
            </a:avLst>
          </a:prstGeom>
          <a:solidFill>
            <a:srgbClr val="FFFFFF"/>
          </a:solidFill>
          <a:ln w="12700">
            <a:solidFill>
              <a:srgbClr val="1F6FFF">
                <a:alpha val="0"/>
              </a:srgbClr>
            </a:solidFill>
            <a:prstDash val="solid"/>
          </a:ln>
        </p:spPr>
      </p:sp>
      <p:sp>
        <p:nvSpPr>
          <p:cNvPr id="12" name="Shape 9"/>
          <p:cNvSpPr/>
          <p:nvPr/>
        </p:nvSpPr>
        <p:spPr>
          <a:xfrm>
            <a:off x="8366760" y="676656"/>
            <a:ext cx="73152" cy="822960"/>
          </a:xfrm>
          <a:prstGeom prst="rect">
            <a:avLst/>
          </a:prstGeom>
          <a:solidFill>
            <a:srgbClr val="1F6FFF"/>
          </a:solidFill>
          <a:ln w="12700">
            <a:solidFill>
              <a:srgbClr val="1F6FFF">
                <a:alpha val="0"/>
              </a:srgbClr>
            </a:solidFill>
            <a:prstDash val="solid"/>
          </a:ln>
        </p:spPr>
      </p:sp>
      <p:sp>
        <p:nvSpPr>
          <p:cNvPr id="13" name="Text 10"/>
          <p:cNvSpPr/>
          <p:nvPr/>
        </p:nvSpPr>
        <p:spPr>
          <a:xfrm>
            <a:off x="8531352" y="786384"/>
            <a:ext cx="1097280" cy="164592"/>
          </a:xfrm>
          <a:prstGeom prst="rect">
            <a:avLst/>
          </a:prstGeom>
          <a:noFill/>
          <a:ln/>
        </p:spPr>
        <p:txBody>
          <a:bodyPr wrap="square" lIns="0" tIns="0" rIns="0" bIns="0" rtlCol="0" anchor="ctr"/>
          <a:lstStyle/>
          <a:p>
            <a:pPr indent="0" marL="0">
              <a:buNone/>
            </a:pPr>
            <a:r>
              <a:rPr lang="en-US" sz="800" b="1" dirty="0">
                <a:solidFill>
                  <a:srgbClr val="1F6FFF"/>
                </a:solidFill>
                <a:latin typeface="Aptos" pitchFamily="34" charset="0"/>
                <a:ea typeface="Aptos" pitchFamily="34" charset="-122"/>
                <a:cs typeface="Aptos" pitchFamily="34" charset="-120"/>
              </a:rPr>
              <a:t>Key takeaway</a:t>
            </a:r>
            <a:endParaRPr lang="en-US" sz="800" dirty="0"/>
          </a:p>
        </p:txBody>
      </p:sp>
      <p:sp>
        <p:nvSpPr>
          <p:cNvPr id="14" name="Text 11"/>
          <p:cNvSpPr/>
          <p:nvPr/>
        </p:nvSpPr>
        <p:spPr>
          <a:xfrm>
            <a:off x="8531352" y="932688"/>
            <a:ext cx="2880360" cy="521208"/>
          </a:xfrm>
          <a:prstGeom prst="rect">
            <a:avLst/>
          </a:prstGeom>
          <a:noFill/>
          <a:ln/>
        </p:spPr>
        <p:txBody>
          <a:bodyPr wrap="square" lIns="254" tIns="254" rIns="254" bIns="254" rtlCol="0" anchor="ctr"/>
          <a:lstStyle/>
          <a:p>
            <a:pPr indent="0" marL="0">
              <a:buNone/>
            </a:pPr>
            <a:r>
              <a:rPr lang="en-US" sz="920" dirty="0">
                <a:solidFill>
                  <a:srgbClr val="102749"/>
                </a:solidFill>
                <a:latin typeface="Aptos" pitchFamily="34" charset="0"/>
                <a:ea typeface="Aptos" pitchFamily="34" charset="-122"/>
                <a:cs typeface="Aptos" pitchFamily="34" charset="-120"/>
              </a:rPr>
              <a:t>The Availity Performer follows REFramework-style thinking: initialize, get one transaction, process it, retry if the issue is technical, then continue.</a:t>
            </a:r>
            <a:endParaRPr lang="en-US" sz="920" dirty="0"/>
          </a:p>
        </p:txBody>
      </p:sp>
      <p:sp>
        <p:nvSpPr>
          <p:cNvPr id="15" name="Shape 12"/>
          <p:cNvSpPr/>
          <p:nvPr/>
        </p:nvSpPr>
        <p:spPr>
          <a:xfrm>
            <a:off x="1051560" y="2057400"/>
            <a:ext cx="1920240" cy="1097280"/>
          </a:xfrm>
          <a:prstGeom prst="roundRect">
            <a:avLst>
              <a:gd name="adj" fmla="val 5000"/>
            </a:avLst>
          </a:prstGeom>
          <a:solidFill>
            <a:srgbClr val="FFFFFF"/>
          </a:solidFill>
          <a:ln w="12700">
            <a:solidFill>
              <a:srgbClr val="C7D5EA"/>
            </a:solidFill>
            <a:prstDash val="solid"/>
          </a:ln>
        </p:spPr>
      </p:sp>
      <p:sp>
        <p:nvSpPr>
          <p:cNvPr id="16" name="Shape 13"/>
          <p:cNvSpPr/>
          <p:nvPr/>
        </p:nvSpPr>
        <p:spPr>
          <a:xfrm>
            <a:off x="1051560" y="2057400"/>
            <a:ext cx="1920240" cy="64008"/>
          </a:xfrm>
          <a:prstGeom prst="rect">
            <a:avLst/>
          </a:prstGeom>
          <a:solidFill>
            <a:srgbClr val="1F6FFF"/>
          </a:solidFill>
          <a:ln w="12700">
            <a:solidFill>
              <a:srgbClr val="1F6FFF">
                <a:alpha val="0"/>
              </a:srgbClr>
            </a:solidFill>
            <a:prstDash val="solid"/>
          </a:ln>
        </p:spPr>
      </p:sp>
      <p:sp>
        <p:nvSpPr>
          <p:cNvPr id="17" name="Text 14"/>
          <p:cNvSpPr/>
          <p:nvPr/>
        </p:nvSpPr>
        <p:spPr>
          <a:xfrm>
            <a:off x="1216152" y="2221992"/>
            <a:ext cx="164592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Initialize</a:t>
            </a:r>
            <a:endParaRPr lang="en-US" sz="1150" dirty="0"/>
          </a:p>
        </p:txBody>
      </p:sp>
      <p:sp>
        <p:nvSpPr>
          <p:cNvPr id="18" name="Text 15"/>
          <p:cNvSpPr/>
          <p:nvPr/>
        </p:nvSpPr>
        <p:spPr>
          <a:xfrm>
            <a:off x="1216152" y="2496312"/>
            <a:ext cx="1645920" cy="566928"/>
          </a:xfrm>
          <a:prstGeom prst="rect">
            <a:avLst/>
          </a:prstGeom>
          <a:noFill/>
          <a:ln/>
        </p:spPr>
        <p:txBody>
          <a:bodyPr wrap="square" lIns="254" tIns="254" rIns="254" bIns="254" rtlCol="0" anchor="t"/>
          <a:lstStyle/>
          <a:p>
            <a:pPr indent="0" marL="0">
              <a:buNone/>
            </a:pPr>
            <a:r>
              <a:rPr lang="en-US" sz="850" dirty="0">
                <a:solidFill>
                  <a:srgbClr val="51607B"/>
                </a:solidFill>
                <a:latin typeface="Aptos" pitchFamily="34" charset="0"/>
                <a:ea typeface="Aptos" pitchFamily="34" charset="-122"/>
                <a:cs typeface="Aptos" pitchFamily="34" charset="-120"/>
              </a:rPr>
              <a:t>Initialize applications, settings, and credentials</a:t>
            </a:r>
            <a:endParaRPr lang="en-US" sz="850" dirty="0"/>
          </a:p>
        </p:txBody>
      </p:sp>
      <p:sp>
        <p:nvSpPr>
          <p:cNvPr id="19" name="Shape 16"/>
          <p:cNvSpPr/>
          <p:nvPr/>
        </p:nvSpPr>
        <p:spPr>
          <a:xfrm>
            <a:off x="3246120" y="2057400"/>
            <a:ext cx="1920240" cy="1097280"/>
          </a:xfrm>
          <a:prstGeom prst="roundRect">
            <a:avLst>
              <a:gd name="adj" fmla="val 5000"/>
            </a:avLst>
          </a:prstGeom>
          <a:solidFill>
            <a:srgbClr val="FFFFFF"/>
          </a:solidFill>
          <a:ln w="12700">
            <a:solidFill>
              <a:srgbClr val="C7D5EA"/>
            </a:solidFill>
            <a:prstDash val="solid"/>
          </a:ln>
        </p:spPr>
      </p:sp>
      <p:sp>
        <p:nvSpPr>
          <p:cNvPr id="20" name="Shape 17"/>
          <p:cNvSpPr/>
          <p:nvPr/>
        </p:nvSpPr>
        <p:spPr>
          <a:xfrm>
            <a:off x="3246120" y="2057400"/>
            <a:ext cx="1920240" cy="64008"/>
          </a:xfrm>
          <a:prstGeom prst="rect">
            <a:avLst/>
          </a:prstGeom>
          <a:solidFill>
            <a:srgbClr val="12B3A8"/>
          </a:solidFill>
          <a:ln w="12700">
            <a:solidFill>
              <a:srgbClr val="12B3A8">
                <a:alpha val="0"/>
              </a:srgbClr>
            </a:solidFill>
            <a:prstDash val="solid"/>
          </a:ln>
        </p:spPr>
      </p:sp>
      <p:sp>
        <p:nvSpPr>
          <p:cNvPr id="21" name="Text 18"/>
          <p:cNvSpPr/>
          <p:nvPr/>
        </p:nvSpPr>
        <p:spPr>
          <a:xfrm>
            <a:off x="3410712" y="2221992"/>
            <a:ext cx="164592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Get Transaction</a:t>
            </a:r>
            <a:endParaRPr lang="en-US" sz="1150" dirty="0"/>
          </a:p>
        </p:txBody>
      </p:sp>
      <p:sp>
        <p:nvSpPr>
          <p:cNvPr id="22" name="Text 19"/>
          <p:cNvSpPr/>
          <p:nvPr/>
        </p:nvSpPr>
        <p:spPr>
          <a:xfrm>
            <a:off x="3410712" y="2496312"/>
            <a:ext cx="1645920" cy="566928"/>
          </a:xfrm>
          <a:prstGeom prst="rect">
            <a:avLst/>
          </a:prstGeom>
          <a:noFill/>
          <a:ln/>
        </p:spPr>
        <p:txBody>
          <a:bodyPr wrap="square" lIns="254" tIns="254" rIns="254" bIns="254" rtlCol="0" anchor="t"/>
          <a:lstStyle/>
          <a:p>
            <a:pPr indent="0" marL="0">
              <a:buNone/>
            </a:pPr>
            <a:r>
              <a:rPr lang="en-US" sz="850" dirty="0">
                <a:solidFill>
                  <a:srgbClr val="51607B"/>
                </a:solidFill>
                <a:latin typeface="Aptos" pitchFamily="34" charset="0"/>
                <a:ea typeface="Aptos" pitchFamily="34" charset="-122"/>
                <a:cs typeface="Aptos" pitchFamily="34" charset="-120"/>
              </a:rPr>
              <a:t>Get next claim from the queue or database</a:t>
            </a:r>
            <a:endParaRPr lang="en-US" sz="850" dirty="0"/>
          </a:p>
        </p:txBody>
      </p:sp>
      <p:sp>
        <p:nvSpPr>
          <p:cNvPr id="23" name="Shape 20"/>
          <p:cNvSpPr/>
          <p:nvPr/>
        </p:nvSpPr>
        <p:spPr>
          <a:xfrm>
            <a:off x="5486400" y="2057400"/>
            <a:ext cx="2121408" cy="1097280"/>
          </a:xfrm>
          <a:prstGeom prst="roundRect">
            <a:avLst>
              <a:gd name="adj" fmla="val 5000"/>
            </a:avLst>
          </a:prstGeom>
          <a:solidFill>
            <a:srgbClr val="FFFFFF"/>
          </a:solidFill>
          <a:ln w="12700">
            <a:solidFill>
              <a:srgbClr val="C7D5EA"/>
            </a:solidFill>
            <a:prstDash val="solid"/>
          </a:ln>
        </p:spPr>
      </p:sp>
      <p:sp>
        <p:nvSpPr>
          <p:cNvPr id="24" name="Shape 21"/>
          <p:cNvSpPr/>
          <p:nvPr/>
        </p:nvSpPr>
        <p:spPr>
          <a:xfrm>
            <a:off x="5486400" y="2057400"/>
            <a:ext cx="2121408" cy="64008"/>
          </a:xfrm>
          <a:prstGeom prst="rect">
            <a:avLst/>
          </a:prstGeom>
          <a:solidFill>
            <a:srgbClr val="1F6FFF"/>
          </a:solidFill>
          <a:ln w="12700">
            <a:solidFill>
              <a:srgbClr val="1F6FFF">
                <a:alpha val="0"/>
              </a:srgbClr>
            </a:solidFill>
            <a:prstDash val="solid"/>
          </a:ln>
        </p:spPr>
      </p:sp>
      <p:sp>
        <p:nvSpPr>
          <p:cNvPr id="25" name="Text 22"/>
          <p:cNvSpPr/>
          <p:nvPr/>
        </p:nvSpPr>
        <p:spPr>
          <a:xfrm>
            <a:off x="5650992" y="2221992"/>
            <a:ext cx="1847088"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Process Transaction</a:t>
            </a:r>
            <a:endParaRPr lang="en-US" sz="1150" dirty="0"/>
          </a:p>
        </p:txBody>
      </p:sp>
      <p:sp>
        <p:nvSpPr>
          <p:cNvPr id="26" name="Text 23"/>
          <p:cNvSpPr/>
          <p:nvPr/>
        </p:nvSpPr>
        <p:spPr>
          <a:xfrm>
            <a:off x="5650992" y="2496312"/>
            <a:ext cx="1847088" cy="566928"/>
          </a:xfrm>
          <a:prstGeom prst="rect">
            <a:avLst/>
          </a:prstGeom>
          <a:noFill/>
          <a:ln/>
        </p:spPr>
        <p:txBody>
          <a:bodyPr wrap="square" lIns="254" tIns="254" rIns="254" bIns="254" rtlCol="0" anchor="t"/>
          <a:lstStyle/>
          <a:p>
            <a:pPr indent="0" marL="0">
              <a:buNone/>
            </a:pPr>
            <a:r>
              <a:rPr lang="en-US" sz="850" dirty="0">
                <a:solidFill>
                  <a:srgbClr val="51607B"/>
                </a:solidFill>
                <a:latin typeface="Aptos" pitchFamily="34" charset="0"/>
                <a:ea typeface="Aptos" pitchFamily="34" charset="-122"/>
                <a:cs typeface="Aptos" pitchFamily="34" charset="-120"/>
              </a:rPr>
              <a:t>Log into Availity and enter the claim search inputs Extract claim status details and write updates back to the database</a:t>
            </a:r>
            <a:endParaRPr lang="en-US" sz="850" dirty="0"/>
          </a:p>
        </p:txBody>
      </p:sp>
      <p:sp>
        <p:nvSpPr>
          <p:cNvPr id="27" name="Shape 24"/>
          <p:cNvSpPr/>
          <p:nvPr/>
        </p:nvSpPr>
        <p:spPr>
          <a:xfrm>
            <a:off x="7891272" y="2057400"/>
            <a:ext cx="1920240" cy="1097280"/>
          </a:xfrm>
          <a:prstGeom prst="roundRect">
            <a:avLst>
              <a:gd name="adj" fmla="val 5000"/>
            </a:avLst>
          </a:prstGeom>
          <a:solidFill>
            <a:srgbClr val="FFFFFF"/>
          </a:solidFill>
          <a:ln w="12700">
            <a:solidFill>
              <a:srgbClr val="C7D5EA"/>
            </a:solidFill>
            <a:prstDash val="solid"/>
          </a:ln>
        </p:spPr>
      </p:sp>
      <p:sp>
        <p:nvSpPr>
          <p:cNvPr id="28" name="Shape 25"/>
          <p:cNvSpPr/>
          <p:nvPr/>
        </p:nvSpPr>
        <p:spPr>
          <a:xfrm>
            <a:off x="7891272" y="2057400"/>
            <a:ext cx="1920240" cy="64008"/>
          </a:xfrm>
          <a:prstGeom prst="rect">
            <a:avLst/>
          </a:prstGeom>
          <a:solidFill>
            <a:srgbClr val="12B3A8"/>
          </a:solidFill>
          <a:ln w="12700">
            <a:solidFill>
              <a:srgbClr val="12B3A8">
                <a:alpha val="0"/>
              </a:srgbClr>
            </a:solidFill>
            <a:prstDash val="solid"/>
          </a:ln>
        </p:spPr>
      </p:sp>
      <p:sp>
        <p:nvSpPr>
          <p:cNvPr id="29" name="Text 26"/>
          <p:cNvSpPr/>
          <p:nvPr/>
        </p:nvSpPr>
        <p:spPr>
          <a:xfrm>
            <a:off x="8055864" y="2221992"/>
            <a:ext cx="164592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Decision</a:t>
            </a:r>
            <a:endParaRPr lang="en-US" sz="1150" dirty="0"/>
          </a:p>
        </p:txBody>
      </p:sp>
      <p:sp>
        <p:nvSpPr>
          <p:cNvPr id="30" name="Text 27"/>
          <p:cNvSpPr/>
          <p:nvPr/>
        </p:nvSpPr>
        <p:spPr>
          <a:xfrm>
            <a:off x="8055864" y="2496312"/>
            <a:ext cx="1645920" cy="566928"/>
          </a:xfrm>
          <a:prstGeom prst="rect">
            <a:avLst/>
          </a:prstGeom>
          <a:noFill/>
          <a:ln/>
        </p:spPr>
        <p:txBody>
          <a:bodyPr wrap="square" lIns="254" tIns="254" rIns="254" bIns="254" rtlCol="0" anchor="t"/>
          <a:lstStyle/>
          <a:p>
            <a:pPr indent="0" marL="0">
              <a:buNone/>
            </a:pPr>
            <a:r>
              <a:rPr lang="en-US" sz="850" dirty="0">
                <a:solidFill>
                  <a:srgbClr val="51607B"/>
                </a:solidFill>
                <a:latin typeface="Aptos" pitchFamily="34" charset="0"/>
                <a:ea typeface="Aptos" pitchFamily="34" charset="-122"/>
                <a:cs typeface="Aptos" pitchFamily="34" charset="-120"/>
              </a:rPr>
              <a:t>Retry on system issues when appropriate Classify business exceptions separately and continue with the next claim</a:t>
            </a:r>
            <a:endParaRPr lang="en-US" sz="850" dirty="0"/>
          </a:p>
        </p:txBody>
      </p:sp>
      <p:sp>
        <p:nvSpPr>
          <p:cNvPr id="31" name="Shape 28"/>
          <p:cNvSpPr/>
          <p:nvPr/>
        </p:nvSpPr>
        <p:spPr>
          <a:xfrm>
            <a:off x="8732520" y="3291840"/>
            <a:ext cx="2103120" cy="1234440"/>
          </a:xfrm>
          <a:prstGeom prst="curvedLeftArrow">
            <a:avLst/>
          </a:prstGeom>
          <a:solidFill>
            <a:srgbClr val="12B3A8">
              <a:alpha val="28000"/>
            </a:srgbClr>
          </a:solidFill>
          <a:ln w="12700">
            <a:solidFill>
              <a:srgbClr val="12B3A8"/>
            </a:solidFill>
            <a:prstDash val="solid"/>
          </a:ln>
        </p:spPr>
      </p:sp>
      <p:sp>
        <p:nvSpPr>
          <p:cNvPr id="32" name="Text 29"/>
          <p:cNvSpPr/>
          <p:nvPr/>
        </p:nvSpPr>
        <p:spPr>
          <a:xfrm>
            <a:off x="9070848" y="3730752"/>
            <a:ext cx="1325880" cy="237744"/>
          </a:xfrm>
          <a:prstGeom prst="rect">
            <a:avLst/>
          </a:prstGeom>
          <a:noFill/>
          <a:ln/>
        </p:spPr>
        <p:txBody>
          <a:bodyPr wrap="square" lIns="0" tIns="0" rIns="0" bIns="0" rtlCol="0" anchor="ctr"/>
          <a:lstStyle/>
          <a:p>
            <a:pPr algn="ctr" indent="0" marL="0">
              <a:buNone/>
            </a:pPr>
            <a:r>
              <a:rPr lang="en-US" sz="870" b="1" dirty="0">
                <a:solidFill>
                  <a:srgbClr val="102749"/>
                </a:solidFill>
                <a:latin typeface="Aptos" pitchFamily="34" charset="0"/>
                <a:ea typeface="Aptos" pitchFamily="34" charset="-122"/>
                <a:cs typeface="Aptos" pitchFamily="34" charset="-120"/>
              </a:rPr>
              <a:t>Continue with next claim</a:t>
            </a:r>
            <a:endParaRPr lang="en-US" sz="870" dirty="0"/>
          </a:p>
        </p:txBody>
      </p:sp>
      <p:sp>
        <p:nvSpPr>
          <p:cNvPr id="33" name="Shape 30"/>
          <p:cNvSpPr/>
          <p:nvPr/>
        </p:nvSpPr>
        <p:spPr>
          <a:xfrm>
            <a:off x="749808" y="4498848"/>
            <a:ext cx="7589520" cy="1078992"/>
          </a:xfrm>
          <a:prstGeom prst="roundRect">
            <a:avLst>
              <a:gd name="adj" fmla="val 4237"/>
            </a:avLst>
          </a:prstGeom>
          <a:solidFill>
            <a:srgbClr val="FFFFFF"/>
          </a:solidFill>
          <a:ln w="12700">
            <a:solidFill>
              <a:srgbClr val="C7D5EA"/>
            </a:solidFill>
            <a:prstDash val="solid"/>
          </a:ln>
        </p:spPr>
      </p:sp>
      <p:sp>
        <p:nvSpPr>
          <p:cNvPr id="34" name="Shape 31"/>
          <p:cNvSpPr/>
          <p:nvPr/>
        </p:nvSpPr>
        <p:spPr>
          <a:xfrm>
            <a:off x="932688" y="4754880"/>
            <a:ext cx="100584" cy="100584"/>
          </a:xfrm>
          <a:prstGeom prst="ellipse">
            <a:avLst/>
          </a:prstGeom>
          <a:solidFill>
            <a:srgbClr val="1F6FFF"/>
          </a:solidFill>
          <a:ln w="12700">
            <a:solidFill>
              <a:srgbClr val="1F6FFF">
                <a:alpha val="0"/>
              </a:srgbClr>
            </a:solidFill>
            <a:prstDash val="solid"/>
          </a:ln>
        </p:spPr>
      </p:sp>
      <p:sp>
        <p:nvSpPr>
          <p:cNvPr id="35" name="Text 32"/>
          <p:cNvSpPr/>
          <p:nvPr/>
        </p:nvSpPr>
        <p:spPr>
          <a:xfrm>
            <a:off x="1097280" y="4681728"/>
            <a:ext cx="7178040"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Transaction-based processing reduces the blast radius when one claim fails because the whole batch does not have to collapse</a:t>
            </a:r>
            <a:endParaRPr lang="en-US" sz="965" dirty="0"/>
          </a:p>
        </p:txBody>
      </p:sp>
      <p:sp>
        <p:nvSpPr>
          <p:cNvPr id="36" name="Shape 33"/>
          <p:cNvSpPr/>
          <p:nvPr/>
        </p:nvSpPr>
        <p:spPr>
          <a:xfrm>
            <a:off x="932688" y="4965192"/>
            <a:ext cx="100584" cy="100584"/>
          </a:xfrm>
          <a:prstGeom prst="ellipse">
            <a:avLst/>
          </a:prstGeom>
          <a:solidFill>
            <a:srgbClr val="1F6FFF"/>
          </a:solidFill>
          <a:ln w="12700">
            <a:solidFill>
              <a:srgbClr val="1F6FFF">
                <a:alpha val="0"/>
              </a:srgbClr>
            </a:solidFill>
            <a:prstDash val="solid"/>
          </a:ln>
        </p:spPr>
      </p:sp>
      <p:sp>
        <p:nvSpPr>
          <p:cNvPr id="37" name="Text 34"/>
          <p:cNvSpPr/>
          <p:nvPr/>
        </p:nvSpPr>
        <p:spPr>
          <a:xfrm>
            <a:off x="1097280" y="4892040"/>
            <a:ext cx="7178040"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System retries are useful for unstable application behavior, temporary load times, and intermittent technical issues</a:t>
            </a:r>
            <a:endParaRPr lang="en-US" sz="965" dirty="0"/>
          </a:p>
        </p:txBody>
      </p:sp>
      <p:sp>
        <p:nvSpPr>
          <p:cNvPr id="38" name="Shape 35"/>
          <p:cNvSpPr/>
          <p:nvPr/>
        </p:nvSpPr>
        <p:spPr>
          <a:xfrm>
            <a:off x="932688" y="5175504"/>
            <a:ext cx="100584" cy="100584"/>
          </a:xfrm>
          <a:prstGeom prst="ellipse">
            <a:avLst/>
          </a:prstGeom>
          <a:solidFill>
            <a:srgbClr val="1F6FFF"/>
          </a:solidFill>
          <a:ln w="12700">
            <a:solidFill>
              <a:srgbClr val="1F6FFF">
                <a:alpha val="0"/>
              </a:srgbClr>
            </a:solidFill>
            <a:prstDash val="solid"/>
          </a:ln>
        </p:spPr>
      </p:sp>
      <p:sp>
        <p:nvSpPr>
          <p:cNvPr id="39" name="Text 36"/>
          <p:cNvSpPr/>
          <p:nvPr/>
        </p:nvSpPr>
        <p:spPr>
          <a:xfrm>
            <a:off x="1097280" y="5102352"/>
            <a:ext cx="7178040"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Business exceptions should usually be tagged, logged, and routed rather than blindly retried</a:t>
            </a:r>
            <a:endParaRPr lang="en-US" sz="965" dirty="0"/>
          </a:p>
        </p:txBody>
      </p:sp>
      <p:sp>
        <p:nvSpPr>
          <p:cNvPr id="40" name="Shape 37"/>
          <p:cNvSpPr/>
          <p:nvPr/>
        </p:nvSpPr>
        <p:spPr>
          <a:xfrm>
            <a:off x="932688" y="5385816"/>
            <a:ext cx="100584" cy="100584"/>
          </a:xfrm>
          <a:prstGeom prst="ellipse">
            <a:avLst/>
          </a:prstGeom>
          <a:solidFill>
            <a:srgbClr val="1F6FFF"/>
          </a:solidFill>
          <a:ln w="12700">
            <a:solidFill>
              <a:srgbClr val="1F6FFF">
                <a:alpha val="0"/>
              </a:srgbClr>
            </a:solidFill>
            <a:prstDash val="solid"/>
          </a:ln>
        </p:spPr>
      </p:sp>
      <p:sp>
        <p:nvSpPr>
          <p:cNvPr id="41" name="Text 38"/>
          <p:cNvSpPr/>
          <p:nvPr/>
        </p:nvSpPr>
        <p:spPr>
          <a:xfrm>
            <a:off x="1097280" y="5312664"/>
            <a:ext cx="7178040"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The BA contribution is critical in defining what status outcomes are valid, ambiguous, or review-worthy</a:t>
            </a:r>
            <a:endParaRPr lang="en-US" sz="965" dirty="0"/>
          </a:p>
        </p:txBody>
      </p:sp>
      <p:sp>
        <p:nvSpPr>
          <p:cNvPr id="42" name="Shape 39"/>
          <p:cNvSpPr/>
          <p:nvPr/>
        </p:nvSpPr>
        <p:spPr>
          <a:xfrm>
            <a:off x="8549640" y="4590288"/>
            <a:ext cx="2907792" cy="969264"/>
          </a:xfrm>
          <a:prstGeom prst="roundRect">
            <a:avLst>
              <a:gd name="adj" fmla="val 4717"/>
            </a:avLst>
          </a:prstGeom>
          <a:solidFill>
            <a:srgbClr val="FFF9EE"/>
          </a:solidFill>
          <a:ln w="12700">
            <a:solidFill>
              <a:srgbClr val="12B3A8"/>
            </a:solidFill>
            <a:prstDash val="solid"/>
          </a:ln>
        </p:spPr>
      </p:sp>
      <p:sp>
        <p:nvSpPr>
          <p:cNvPr id="43" name="Text 40"/>
          <p:cNvSpPr/>
          <p:nvPr/>
        </p:nvSpPr>
        <p:spPr>
          <a:xfrm>
            <a:off x="8714232" y="4718304"/>
            <a:ext cx="2633472" cy="164592"/>
          </a:xfrm>
          <a:prstGeom prst="rect">
            <a:avLst/>
          </a:prstGeom>
          <a:noFill/>
          <a:ln/>
        </p:spPr>
        <p:txBody>
          <a:bodyPr wrap="square" lIns="0" tIns="0" rIns="0" bIns="0" rtlCol="0" anchor="ctr"/>
          <a:lstStyle/>
          <a:p>
            <a:pPr indent="0" marL="0">
              <a:buNone/>
            </a:pPr>
            <a:r>
              <a:rPr lang="en-US" sz="850" b="1" dirty="0">
                <a:solidFill>
                  <a:srgbClr val="12B3A8"/>
                </a:solidFill>
                <a:latin typeface="Aptos" pitchFamily="34" charset="0"/>
                <a:ea typeface="Aptos" pitchFamily="34" charset="-122"/>
                <a:cs typeface="Aptos" pitchFamily="34" charset="-120"/>
              </a:rPr>
              <a:t>Why This Matters</a:t>
            </a:r>
            <a:endParaRPr lang="en-US" sz="850" dirty="0"/>
          </a:p>
        </p:txBody>
      </p:sp>
      <p:sp>
        <p:nvSpPr>
          <p:cNvPr id="44" name="Text 41"/>
          <p:cNvSpPr/>
          <p:nvPr/>
        </p:nvSpPr>
        <p:spPr>
          <a:xfrm>
            <a:off x="8714232" y="4892040"/>
            <a:ext cx="2633472" cy="621792"/>
          </a:xfrm>
          <a:prstGeom prst="rect">
            <a:avLst/>
          </a:prstGeom>
          <a:noFill/>
          <a:ln/>
        </p:spPr>
        <p:txBody>
          <a:bodyPr wrap="square" lIns="254" tIns="254" rIns="254" bIns="254" rtlCol="0" anchor="ctr"/>
          <a:lstStyle/>
          <a:p>
            <a:pPr indent="0" marL="0">
              <a:buNone/>
            </a:pPr>
            <a:r>
              <a:rPr lang="en-US" sz="940" dirty="0">
                <a:solidFill>
                  <a:srgbClr val="102749"/>
                </a:solidFill>
                <a:latin typeface="Aptos" pitchFamily="34" charset="0"/>
                <a:ea typeface="Aptos" pitchFamily="34" charset="-122"/>
                <a:cs typeface="Aptos" pitchFamily="34" charset="-120"/>
              </a:rPr>
              <a:t>REFramework-style processing improves resilience, recoverability, and supportability.</a:t>
            </a:r>
            <a:endParaRPr lang="en-US" sz="940" dirty="0"/>
          </a:p>
        </p:txBody>
      </p:sp>
      <p:sp>
        <p:nvSpPr>
          <p:cNvPr id="45" name="Text 42"/>
          <p:cNvSpPr/>
          <p:nvPr/>
        </p:nvSpPr>
        <p:spPr>
          <a:xfrm>
            <a:off x="658368" y="6510528"/>
            <a:ext cx="2560320" cy="164592"/>
          </a:xfrm>
          <a:prstGeom prst="rect">
            <a:avLst/>
          </a:prstGeom>
          <a:noFill/>
          <a:ln/>
        </p:spPr>
        <p:txBody>
          <a:bodyPr wrap="square" lIns="0" tIns="0" rIns="0" bIns="0" rtlCol="0" anchor="ctr"/>
          <a:lstStyle/>
          <a:p>
            <a:pPr indent="0" marL="0">
              <a:buNone/>
            </a:pPr>
            <a:r>
              <a:rPr lang="en-US" sz="850" dirty="0">
                <a:solidFill>
                  <a:srgbClr val="51607B"/>
                </a:solidFill>
                <a:latin typeface="Aptos" pitchFamily="34" charset="0"/>
                <a:ea typeface="Aptos" pitchFamily="34" charset="-122"/>
                <a:cs typeface="Aptos" pitchFamily="34" charset="-120"/>
              </a:rPr>
              <a:t>Innobot  |  Internal workshop</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F4F7FB"/>
          </a:solidFill>
          <a:ln/>
        </p:spPr>
      </p:sp>
      <p:sp>
        <p:nvSpPr>
          <p:cNvPr id="4" name="Shape 1"/>
          <p:cNvSpPr/>
          <p:nvPr/>
        </p:nvSpPr>
        <p:spPr>
          <a:xfrm>
            <a:off x="0" y="0"/>
            <a:ext cx="12191695" cy="411480"/>
          </a:xfrm>
          <a:prstGeom prst="rect">
            <a:avLst/>
          </a:prstGeom>
          <a:solidFill>
            <a:srgbClr val="0A1830"/>
          </a:solidFill>
          <a:ln/>
        </p:spPr>
      </p:sp>
      <p:sp>
        <p:nvSpPr>
          <p:cNvPr id="5" name="Shape 2"/>
          <p:cNvSpPr/>
          <p:nvPr/>
        </p:nvSpPr>
        <p:spPr>
          <a:xfrm>
            <a:off x="9509760" y="-137160"/>
            <a:ext cx="3200400" cy="2194560"/>
          </a:xfrm>
          <a:prstGeom prst="ellipse">
            <a:avLst/>
          </a:prstGeom>
          <a:solidFill>
            <a:srgbClr val="8AB8FF">
              <a:alpha val="16000"/>
            </a:srgbClr>
          </a:solidFill>
          <a:ln w="12700">
            <a:solidFill>
              <a:srgbClr val="8AB8FF">
                <a:alpha val="0"/>
              </a:srgbClr>
            </a:solidFill>
            <a:prstDash val="solid"/>
          </a:ln>
        </p:spPr>
      </p:sp>
      <p:sp>
        <p:nvSpPr>
          <p:cNvPr id="6" name="Shape 3"/>
          <p:cNvSpPr/>
          <p:nvPr/>
        </p:nvSpPr>
        <p:spPr>
          <a:xfrm>
            <a:off x="-731520" y="5394960"/>
            <a:ext cx="2560320" cy="1645920"/>
          </a:xfrm>
          <a:prstGeom prst="ellipse">
            <a:avLst/>
          </a:prstGeom>
          <a:solidFill>
            <a:srgbClr val="12B3A8">
              <a:alpha val="10000"/>
            </a:srgbClr>
          </a:solidFill>
          <a:ln w="12700">
            <a:solidFill>
              <a:srgbClr val="12B3A8">
                <a:alpha val="0"/>
              </a:srgbClr>
            </a:solidFill>
            <a:prstDash val="solid"/>
          </a:ln>
        </p:spPr>
      </p:sp>
      <p:sp>
        <p:nvSpPr>
          <p:cNvPr id="7" name="Text 4"/>
          <p:cNvSpPr/>
          <p:nvPr/>
        </p:nvSpPr>
        <p:spPr>
          <a:xfrm>
            <a:off x="658368" y="182880"/>
            <a:ext cx="2651760" cy="146304"/>
          </a:xfrm>
          <a:prstGeom prst="rect">
            <a:avLst/>
          </a:prstGeom>
          <a:noFill/>
          <a:ln/>
        </p:spPr>
        <p:txBody>
          <a:bodyPr wrap="square" lIns="0" tIns="0" rIns="0" bIns="0" rtlCol="0" anchor="ctr"/>
          <a:lstStyle/>
          <a:p>
            <a:pPr indent="0" marL="0">
              <a:buNone/>
            </a:pPr>
            <a:r>
              <a:rPr lang="en-US" sz="850" b="1" dirty="0">
                <a:solidFill>
                  <a:srgbClr val="8AB8FF"/>
                </a:solidFill>
                <a:latin typeface="Aptos" pitchFamily="34" charset="0"/>
                <a:ea typeface="Aptos" pitchFamily="34" charset="-122"/>
                <a:cs typeface="Aptos" pitchFamily="34" charset="-120"/>
              </a:rPr>
              <a:t>INNOBOT DELIVERY EXAMPLE</a:t>
            </a:r>
            <a:endParaRPr lang="en-US" sz="850" dirty="0"/>
          </a:p>
        </p:txBody>
      </p:sp>
      <p:sp>
        <p:nvSpPr>
          <p:cNvPr id="8" name="Text 5"/>
          <p:cNvSpPr/>
          <p:nvPr/>
        </p:nvSpPr>
        <p:spPr>
          <a:xfrm>
            <a:off x="658368" y="612648"/>
            <a:ext cx="7223760" cy="411480"/>
          </a:xfrm>
          <a:prstGeom prst="rect">
            <a:avLst/>
          </a:prstGeom>
          <a:noFill/>
          <a:ln/>
        </p:spPr>
        <p:txBody>
          <a:bodyPr wrap="square" lIns="0" tIns="0" rIns="0" bIns="0" rtlCol="0" anchor="ctr"/>
          <a:lstStyle/>
          <a:p>
            <a:pPr indent="0" marL="0">
              <a:buNone/>
            </a:pPr>
            <a:r>
              <a:rPr lang="en-US" sz="2400" b="1" dirty="0">
                <a:solidFill>
                  <a:srgbClr val="102749"/>
                </a:solidFill>
                <a:latin typeface="Aptos Display" pitchFamily="34" charset="0"/>
                <a:ea typeface="Aptos Display" pitchFamily="34" charset="-122"/>
                <a:cs typeface="Aptos Display" pitchFamily="34" charset="-120"/>
              </a:rPr>
              <a:t>ECW Performer Example</a:t>
            </a:r>
            <a:endParaRPr lang="en-US" sz="2400" dirty="0"/>
          </a:p>
        </p:txBody>
      </p:sp>
      <p:sp>
        <p:nvSpPr>
          <p:cNvPr id="9" name="Text 6"/>
          <p:cNvSpPr/>
          <p:nvPr/>
        </p:nvSpPr>
        <p:spPr>
          <a:xfrm>
            <a:off x="658368" y="1069848"/>
            <a:ext cx="7863840" cy="310896"/>
          </a:xfrm>
          <a:prstGeom prst="rect">
            <a:avLst/>
          </a:prstGeom>
          <a:noFill/>
          <a:ln/>
        </p:spPr>
        <p:txBody>
          <a:bodyPr wrap="square" lIns="0" tIns="0" rIns="0" bIns="0" rtlCol="0" anchor="ctr"/>
          <a:lstStyle/>
          <a:p>
            <a:pPr indent="0" marL="0">
              <a:buNone/>
            </a:pPr>
            <a:r>
              <a:rPr lang="en-US" sz="1100" dirty="0">
                <a:solidFill>
                  <a:srgbClr val="51607B"/>
                </a:solidFill>
                <a:latin typeface="Aptos" pitchFamily="34" charset="0"/>
                <a:ea typeface="Aptos" pitchFamily="34" charset="-122"/>
                <a:cs typeface="Aptos" pitchFamily="34" charset="-120"/>
              </a:rPr>
              <a:t>The ECW Performer coordinates provider sessions and delegated workflow scripts</a:t>
            </a:r>
            <a:endParaRPr lang="en-US" sz="1100" dirty="0"/>
          </a:p>
        </p:txBody>
      </p:sp>
      <p:sp>
        <p:nvSpPr>
          <p:cNvPr id="10" name="Text 7"/>
          <p:cNvSpPr/>
          <p:nvPr/>
        </p:nvSpPr>
        <p:spPr>
          <a:xfrm>
            <a:off x="11155680" y="530352"/>
            <a:ext cx="365760" cy="201168"/>
          </a:xfrm>
          <a:prstGeom prst="rect">
            <a:avLst/>
          </a:prstGeom>
          <a:noFill/>
          <a:ln/>
        </p:spPr>
        <p:txBody>
          <a:bodyPr wrap="square" lIns="0" tIns="0" rIns="0" bIns="0" rtlCol="0" anchor="ctr"/>
          <a:lstStyle/>
          <a:p>
            <a:pPr algn="r" indent="0" marL="0">
              <a:buNone/>
            </a:pPr>
            <a:r>
              <a:rPr lang="en-US" sz="950" dirty="0">
                <a:solidFill>
                  <a:srgbClr val="51607B"/>
                </a:solidFill>
                <a:latin typeface="Consolas" pitchFamily="34" charset="0"/>
                <a:ea typeface="Consolas" pitchFamily="34" charset="-122"/>
                <a:cs typeface="Consolas" pitchFamily="34" charset="-120"/>
              </a:rPr>
              <a:t>13</a:t>
            </a:r>
            <a:endParaRPr lang="en-US" sz="950" dirty="0"/>
          </a:p>
        </p:txBody>
      </p:sp>
      <p:sp>
        <p:nvSpPr>
          <p:cNvPr id="11" name="Shape 8"/>
          <p:cNvSpPr/>
          <p:nvPr/>
        </p:nvSpPr>
        <p:spPr>
          <a:xfrm>
            <a:off x="8366760" y="676656"/>
            <a:ext cx="3154680" cy="822960"/>
          </a:xfrm>
          <a:prstGeom prst="roundRect">
            <a:avLst>
              <a:gd name="adj" fmla="val 8889"/>
            </a:avLst>
          </a:prstGeom>
          <a:solidFill>
            <a:srgbClr val="FFFFFF"/>
          </a:solidFill>
          <a:ln w="12700">
            <a:solidFill>
              <a:srgbClr val="12B3A8">
                <a:alpha val="0"/>
              </a:srgbClr>
            </a:solidFill>
            <a:prstDash val="solid"/>
          </a:ln>
        </p:spPr>
      </p:sp>
      <p:sp>
        <p:nvSpPr>
          <p:cNvPr id="12" name="Shape 9"/>
          <p:cNvSpPr/>
          <p:nvPr/>
        </p:nvSpPr>
        <p:spPr>
          <a:xfrm>
            <a:off x="8366760" y="676656"/>
            <a:ext cx="73152" cy="822960"/>
          </a:xfrm>
          <a:prstGeom prst="rect">
            <a:avLst/>
          </a:prstGeom>
          <a:solidFill>
            <a:srgbClr val="12B3A8"/>
          </a:solidFill>
          <a:ln w="12700">
            <a:solidFill>
              <a:srgbClr val="12B3A8">
                <a:alpha val="0"/>
              </a:srgbClr>
            </a:solidFill>
            <a:prstDash val="solid"/>
          </a:ln>
        </p:spPr>
      </p:sp>
      <p:sp>
        <p:nvSpPr>
          <p:cNvPr id="13" name="Text 10"/>
          <p:cNvSpPr/>
          <p:nvPr/>
        </p:nvSpPr>
        <p:spPr>
          <a:xfrm>
            <a:off x="8531352" y="786384"/>
            <a:ext cx="1097280" cy="164592"/>
          </a:xfrm>
          <a:prstGeom prst="rect">
            <a:avLst/>
          </a:prstGeom>
          <a:noFill/>
          <a:ln/>
        </p:spPr>
        <p:txBody>
          <a:bodyPr wrap="square" lIns="0" tIns="0" rIns="0" bIns="0" rtlCol="0" anchor="ctr"/>
          <a:lstStyle/>
          <a:p>
            <a:pPr indent="0" marL="0">
              <a:buNone/>
            </a:pPr>
            <a:r>
              <a:rPr lang="en-US" sz="800" b="1" dirty="0">
                <a:solidFill>
                  <a:srgbClr val="12B3A8"/>
                </a:solidFill>
                <a:latin typeface="Aptos" pitchFamily="34" charset="0"/>
                <a:ea typeface="Aptos" pitchFamily="34" charset="-122"/>
                <a:cs typeface="Aptos" pitchFamily="34" charset="-120"/>
              </a:rPr>
              <a:t>Key takeaway</a:t>
            </a:r>
            <a:endParaRPr lang="en-US" sz="800" dirty="0"/>
          </a:p>
        </p:txBody>
      </p:sp>
      <p:sp>
        <p:nvSpPr>
          <p:cNvPr id="14" name="Text 11"/>
          <p:cNvSpPr/>
          <p:nvPr/>
        </p:nvSpPr>
        <p:spPr>
          <a:xfrm>
            <a:off x="8531352" y="932688"/>
            <a:ext cx="2880360" cy="521208"/>
          </a:xfrm>
          <a:prstGeom prst="rect">
            <a:avLst/>
          </a:prstGeom>
          <a:noFill/>
          <a:ln/>
        </p:spPr>
        <p:txBody>
          <a:bodyPr wrap="square" lIns="254" tIns="254" rIns="254" bIns="254" rtlCol="0" anchor="ctr"/>
          <a:lstStyle/>
          <a:p>
            <a:pPr indent="0" marL="0">
              <a:buNone/>
            </a:pPr>
            <a:r>
              <a:rPr lang="en-US" sz="920" dirty="0">
                <a:solidFill>
                  <a:srgbClr val="102749"/>
                </a:solidFill>
                <a:latin typeface="Aptos" pitchFamily="34" charset="0"/>
                <a:ea typeface="Aptos" pitchFamily="34" charset="-122"/>
                <a:cs typeface="Aptos" pitchFamily="34" charset="-120"/>
              </a:rPr>
              <a:t>This component acts as an orchestration layer: it reads processed claims, groups them intelligently, manages provider context, and finalizes updates with reporting.</a:t>
            </a:r>
            <a:endParaRPr lang="en-US" sz="920" dirty="0"/>
          </a:p>
        </p:txBody>
      </p:sp>
      <p:sp>
        <p:nvSpPr>
          <p:cNvPr id="15" name="Shape 12"/>
          <p:cNvSpPr/>
          <p:nvPr/>
        </p:nvSpPr>
        <p:spPr>
          <a:xfrm>
            <a:off x="749808" y="1810512"/>
            <a:ext cx="1173480" cy="603504"/>
          </a:xfrm>
          <a:prstGeom prst="roundRect">
            <a:avLst>
              <a:gd name="adj" fmla="val 7576"/>
            </a:avLst>
          </a:prstGeom>
          <a:solidFill>
            <a:srgbClr val="FFFFFF"/>
          </a:solidFill>
          <a:ln w="12700">
            <a:solidFill>
              <a:srgbClr val="C7D5EA"/>
            </a:solidFill>
            <a:prstDash val="solid"/>
          </a:ln>
        </p:spPr>
      </p:sp>
      <p:sp>
        <p:nvSpPr>
          <p:cNvPr id="16" name="Shape 13"/>
          <p:cNvSpPr/>
          <p:nvPr/>
        </p:nvSpPr>
        <p:spPr>
          <a:xfrm>
            <a:off x="877824" y="1920240"/>
            <a:ext cx="228600" cy="228600"/>
          </a:xfrm>
          <a:prstGeom prst="ellipse">
            <a:avLst/>
          </a:prstGeom>
          <a:solidFill>
            <a:srgbClr val="1F6FFF"/>
          </a:solidFill>
          <a:ln w="12700">
            <a:solidFill>
              <a:srgbClr val="1F6FFF">
                <a:alpha val="0"/>
              </a:srgbClr>
            </a:solidFill>
            <a:prstDash val="solid"/>
          </a:ln>
        </p:spPr>
      </p:sp>
      <p:sp>
        <p:nvSpPr>
          <p:cNvPr id="17" name="Text 14"/>
          <p:cNvSpPr/>
          <p:nvPr/>
        </p:nvSpPr>
        <p:spPr>
          <a:xfrm>
            <a:off x="877824" y="1920240"/>
            <a:ext cx="228600" cy="164592"/>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8" name="Text 15"/>
          <p:cNvSpPr/>
          <p:nvPr/>
        </p:nvSpPr>
        <p:spPr>
          <a:xfrm>
            <a:off x="1188720" y="1901952"/>
            <a:ext cx="624840" cy="466344"/>
          </a:xfrm>
          <a:prstGeom prst="rect">
            <a:avLst/>
          </a:prstGeom>
          <a:noFill/>
          <a:ln/>
        </p:spPr>
        <p:txBody>
          <a:bodyPr wrap="square" lIns="127" tIns="127" rIns="127" bIns="127" rtlCol="0" anchor="ctr"/>
          <a:lstStyle/>
          <a:p>
            <a:pPr indent="0" marL="0">
              <a:buNone/>
            </a:pPr>
            <a:r>
              <a:rPr lang="en-US" sz="910" dirty="0">
                <a:solidFill>
                  <a:srgbClr val="102749"/>
                </a:solidFill>
                <a:latin typeface="Aptos" pitchFamily="34" charset="0"/>
                <a:ea typeface="Aptos" pitchFamily="34" charset="-122"/>
                <a:cs typeface="Aptos" pitchFamily="34" charset="-120"/>
              </a:rPr>
              <a:t>Read processed claims from the database</a:t>
            </a:r>
            <a:endParaRPr lang="en-US" sz="910" dirty="0"/>
          </a:p>
        </p:txBody>
      </p:sp>
      <p:sp>
        <p:nvSpPr>
          <p:cNvPr id="19" name="Shape 16"/>
          <p:cNvSpPr/>
          <p:nvPr/>
        </p:nvSpPr>
        <p:spPr>
          <a:xfrm>
            <a:off x="1950720" y="2002536"/>
            <a:ext cx="109728" cy="219456"/>
          </a:xfrm>
          <a:prstGeom prst="chevron">
            <a:avLst/>
          </a:prstGeom>
          <a:solidFill>
            <a:srgbClr val="12B3A8"/>
          </a:solidFill>
          <a:ln w="12700">
            <a:solidFill>
              <a:srgbClr val="12B3A8">
                <a:alpha val="0"/>
              </a:srgbClr>
            </a:solidFill>
            <a:prstDash val="solid"/>
          </a:ln>
        </p:spPr>
      </p:sp>
      <p:sp>
        <p:nvSpPr>
          <p:cNvPr id="20" name="Shape 17"/>
          <p:cNvSpPr/>
          <p:nvPr/>
        </p:nvSpPr>
        <p:spPr>
          <a:xfrm>
            <a:off x="2014728" y="1810512"/>
            <a:ext cx="1173480" cy="603504"/>
          </a:xfrm>
          <a:prstGeom prst="roundRect">
            <a:avLst>
              <a:gd name="adj" fmla="val 7576"/>
            </a:avLst>
          </a:prstGeom>
          <a:solidFill>
            <a:srgbClr val="EEF4FB"/>
          </a:solidFill>
          <a:ln w="12700">
            <a:solidFill>
              <a:srgbClr val="C7D5EA"/>
            </a:solidFill>
            <a:prstDash val="solid"/>
          </a:ln>
        </p:spPr>
      </p:sp>
      <p:sp>
        <p:nvSpPr>
          <p:cNvPr id="21" name="Shape 18"/>
          <p:cNvSpPr/>
          <p:nvPr/>
        </p:nvSpPr>
        <p:spPr>
          <a:xfrm>
            <a:off x="2142744" y="1920240"/>
            <a:ext cx="228600" cy="228600"/>
          </a:xfrm>
          <a:prstGeom prst="ellipse">
            <a:avLst/>
          </a:prstGeom>
          <a:solidFill>
            <a:srgbClr val="1F6FFF"/>
          </a:solidFill>
          <a:ln w="12700">
            <a:solidFill>
              <a:srgbClr val="1F6FFF">
                <a:alpha val="0"/>
              </a:srgbClr>
            </a:solidFill>
            <a:prstDash val="solid"/>
          </a:ln>
        </p:spPr>
      </p:sp>
      <p:sp>
        <p:nvSpPr>
          <p:cNvPr id="22" name="Text 19"/>
          <p:cNvSpPr/>
          <p:nvPr/>
        </p:nvSpPr>
        <p:spPr>
          <a:xfrm>
            <a:off x="2142744" y="1920240"/>
            <a:ext cx="228600" cy="164592"/>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3" name="Text 20"/>
          <p:cNvSpPr/>
          <p:nvPr/>
        </p:nvSpPr>
        <p:spPr>
          <a:xfrm>
            <a:off x="2453640" y="1901952"/>
            <a:ext cx="624840" cy="466344"/>
          </a:xfrm>
          <a:prstGeom prst="rect">
            <a:avLst/>
          </a:prstGeom>
          <a:noFill/>
          <a:ln/>
        </p:spPr>
        <p:txBody>
          <a:bodyPr wrap="square" lIns="127" tIns="127" rIns="127" bIns="127" rtlCol="0" anchor="ctr"/>
          <a:lstStyle/>
          <a:p>
            <a:pPr indent="0" marL="0">
              <a:buNone/>
            </a:pPr>
            <a:r>
              <a:rPr lang="en-US" sz="910" dirty="0">
                <a:solidFill>
                  <a:srgbClr val="102749"/>
                </a:solidFill>
                <a:latin typeface="Aptos" pitchFamily="34" charset="0"/>
                <a:ea typeface="Aptos" pitchFamily="34" charset="-122"/>
                <a:cs typeface="Aptos" pitchFamily="34" charset="-120"/>
              </a:rPr>
              <a:t>Group claims by provider NPI</a:t>
            </a:r>
            <a:endParaRPr lang="en-US" sz="910" dirty="0"/>
          </a:p>
        </p:txBody>
      </p:sp>
      <p:sp>
        <p:nvSpPr>
          <p:cNvPr id="24" name="Shape 21"/>
          <p:cNvSpPr/>
          <p:nvPr/>
        </p:nvSpPr>
        <p:spPr>
          <a:xfrm>
            <a:off x="3215640" y="2002536"/>
            <a:ext cx="109728" cy="219456"/>
          </a:xfrm>
          <a:prstGeom prst="chevron">
            <a:avLst/>
          </a:prstGeom>
          <a:solidFill>
            <a:srgbClr val="12B3A8"/>
          </a:solidFill>
          <a:ln w="12700">
            <a:solidFill>
              <a:srgbClr val="12B3A8">
                <a:alpha val="0"/>
              </a:srgbClr>
            </a:solidFill>
            <a:prstDash val="solid"/>
          </a:ln>
        </p:spPr>
      </p:sp>
      <p:sp>
        <p:nvSpPr>
          <p:cNvPr id="25" name="Shape 22"/>
          <p:cNvSpPr/>
          <p:nvPr/>
        </p:nvSpPr>
        <p:spPr>
          <a:xfrm>
            <a:off x="3279648" y="1810512"/>
            <a:ext cx="1173480" cy="603504"/>
          </a:xfrm>
          <a:prstGeom prst="roundRect">
            <a:avLst>
              <a:gd name="adj" fmla="val 7576"/>
            </a:avLst>
          </a:prstGeom>
          <a:solidFill>
            <a:srgbClr val="FFFFFF"/>
          </a:solidFill>
          <a:ln w="12700">
            <a:solidFill>
              <a:srgbClr val="C7D5EA"/>
            </a:solidFill>
            <a:prstDash val="solid"/>
          </a:ln>
        </p:spPr>
      </p:sp>
      <p:sp>
        <p:nvSpPr>
          <p:cNvPr id="26" name="Shape 23"/>
          <p:cNvSpPr/>
          <p:nvPr/>
        </p:nvSpPr>
        <p:spPr>
          <a:xfrm>
            <a:off x="3407664" y="1920240"/>
            <a:ext cx="228600" cy="228600"/>
          </a:xfrm>
          <a:prstGeom prst="ellipse">
            <a:avLst/>
          </a:prstGeom>
          <a:solidFill>
            <a:srgbClr val="1F6FFF"/>
          </a:solidFill>
          <a:ln w="12700">
            <a:solidFill>
              <a:srgbClr val="1F6FFF">
                <a:alpha val="0"/>
              </a:srgbClr>
            </a:solidFill>
            <a:prstDash val="solid"/>
          </a:ln>
        </p:spPr>
      </p:sp>
      <p:sp>
        <p:nvSpPr>
          <p:cNvPr id="27" name="Text 24"/>
          <p:cNvSpPr/>
          <p:nvPr/>
        </p:nvSpPr>
        <p:spPr>
          <a:xfrm>
            <a:off x="3407664" y="1920240"/>
            <a:ext cx="228600" cy="164592"/>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5"/>
          <p:cNvSpPr/>
          <p:nvPr/>
        </p:nvSpPr>
        <p:spPr>
          <a:xfrm>
            <a:off x="3718560" y="1901952"/>
            <a:ext cx="624840" cy="466344"/>
          </a:xfrm>
          <a:prstGeom prst="rect">
            <a:avLst/>
          </a:prstGeom>
          <a:noFill/>
          <a:ln/>
        </p:spPr>
        <p:txBody>
          <a:bodyPr wrap="square" lIns="127" tIns="127" rIns="127" bIns="127" rtlCol="0" anchor="ctr"/>
          <a:lstStyle/>
          <a:p>
            <a:pPr indent="0" marL="0">
              <a:buNone/>
            </a:pPr>
            <a:r>
              <a:rPr lang="en-US" sz="910" dirty="0">
                <a:solidFill>
                  <a:srgbClr val="102749"/>
                </a:solidFill>
                <a:latin typeface="Aptos" pitchFamily="34" charset="0"/>
                <a:ea typeface="Aptos" pitchFamily="34" charset="-122"/>
                <a:cs typeface="Aptos" pitchFamily="34" charset="-120"/>
              </a:rPr>
              <a:t>Log into ECW in the correct provider context</a:t>
            </a:r>
            <a:endParaRPr lang="en-US" sz="910" dirty="0"/>
          </a:p>
        </p:txBody>
      </p:sp>
      <p:sp>
        <p:nvSpPr>
          <p:cNvPr id="29" name="Shape 26"/>
          <p:cNvSpPr/>
          <p:nvPr/>
        </p:nvSpPr>
        <p:spPr>
          <a:xfrm>
            <a:off x="4480560" y="2002536"/>
            <a:ext cx="109728" cy="219456"/>
          </a:xfrm>
          <a:prstGeom prst="chevron">
            <a:avLst/>
          </a:prstGeom>
          <a:solidFill>
            <a:srgbClr val="12B3A8"/>
          </a:solidFill>
          <a:ln w="12700">
            <a:solidFill>
              <a:srgbClr val="12B3A8">
                <a:alpha val="0"/>
              </a:srgbClr>
            </a:solidFill>
            <a:prstDash val="solid"/>
          </a:ln>
        </p:spPr>
      </p:sp>
      <p:sp>
        <p:nvSpPr>
          <p:cNvPr id="30" name="Shape 27"/>
          <p:cNvSpPr/>
          <p:nvPr/>
        </p:nvSpPr>
        <p:spPr>
          <a:xfrm>
            <a:off x="4544568" y="1810512"/>
            <a:ext cx="1173480" cy="603504"/>
          </a:xfrm>
          <a:prstGeom prst="roundRect">
            <a:avLst>
              <a:gd name="adj" fmla="val 7576"/>
            </a:avLst>
          </a:prstGeom>
          <a:solidFill>
            <a:srgbClr val="EEF4FB"/>
          </a:solidFill>
          <a:ln w="12700">
            <a:solidFill>
              <a:srgbClr val="C7D5EA"/>
            </a:solidFill>
            <a:prstDash val="solid"/>
          </a:ln>
        </p:spPr>
      </p:sp>
      <p:sp>
        <p:nvSpPr>
          <p:cNvPr id="31" name="Shape 28"/>
          <p:cNvSpPr/>
          <p:nvPr/>
        </p:nvSpPr>
        <p:spPr>
          <a:xfrm>
            <a:off x="4672584" y="1920240"/>
            <a:ext cx="228600" cy="228600"/>
          </a:xfrm>
          <a:prstGeom prst="ellipse">
            <a:avLst/>
          </a:prstGeom>
          <a:solidFill>
            <a:srgbClr val="1F6FFF"/>
          </a:solidFill>
          <a:ln w="12700">
            <a:solidFill>
              <a:srgbClr val="1F6FFF">
                <a:alpha val="0"/>
              </a:srgbClr>
            </a:solidFill>
            <a:prstDash val="solid"/>
          </a:ln>
        </p:spPr>
      </p:sp>
      <p:sp>
        <p:nvSpPr>
          <p:cNvPr id="32" name="Text 29"/>
          <p:cNvSpPr/>
          <p:nvPr/>
        </p:nvSpPr>
        <p:spPr>
          <a:xfrm>
            <a:off x="4672584" y="1920240"/>
            <a:ext cx="228600" cy="164592"/>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3" name="Text 30"/>
          <p:cNvSpPr/>
          <p:nvPr/>
        </p:nvSpPr>
        <p:spPr>
          <a:xfrm>
            <a:off x="4983480" y="1901952"/>
            <a:ext cx="624840" cy="466344"/>
          </a:xfrm>
          <a:prstGeom prst="rect">
            <a:avLst/>
          </a:prstGeom>
          <a:noFill/>
          <a:ln/>
        </p:spPr>
        <p:txBody>
          <a:bodyPr wrap="square" lIns="127" tIns="127" rIns="127" bIns="127" rtlCol="0" anchor="ctr"/>
          <a:lstStyle/>
          <a:p>
            <a:pPr indent="0" marL="0">
              <a:buNone/>
            </a:pPr>
            <a:r>
              <a:rPr lang="en-US" sz="910" dirty="0">
                <a:solidFill>
                  <a:srgbClr val="102749"/>
                </a:solidFill>
                <a:latin typeface="Aptos" pitchFamily="34" charset="0"/>
                <a:ea typeface="Aptos" pitchFamily="34" charset="-122"/>
                <a:cs typeface="Aptos" pitchFamily="34" charset="-120"/>
              </a:rPr>
              <a:t>Delegate note-entry steps into the claim record</a:t>
            </a:r>
            <a:endParaRPr lang="en-US" sz="910" dirty="0"/>
          </a:p>
        </p:txBody>
      </p:sp>
      <p:sp>
        <p:nvSpPr>
          <p:cNvPr id="34" name="Shape 31"/>
          <p:cNvSpPr/>
          <p:nvPr/>
        </p:nvSpPr>
        <p:spPr>
          <a:xfrm>
            <a:off x="5745480" y="2002536"/>
            <a:ext cx="109728" cy="219456"/>
          </a:xfrm>
          <a:prstGeom prst="chevron">
            <a:avLst/>
          </a:prstGeom>
          <a:solidFill>
            <a:srgbClr val="12B3A8"/>
          </a:solidFill>
          <a:ln w="12700">
            <a:solidFill>
              <a:srgbClr val="12B3A8">
                <a:alpha val="0"/>
              </a:srgbClr>
            </a:solidFill>
            <a:prstDash val="solid"/>
          </a:ln>
        </p:spPr>
      </p:sp>
      <p:sp>
        <p:nvSpPr>
          <p:cNvPr id="35" name="Shape 32"/>
          <p:cNvSpPr/>
          <p:nvPr/>
        </p:nvSpPr>
        <p:spPr>
          <a:xfrm>
            <a:off x="5809488" y="1810512"/>
            <a:ext cx="1173480" cy="603504"/>
          </a:xfrm>
          <a:prstGeom prst="roundRect">
            <a:avLst>
              <a:gd name="adj" fmla="val 7576"/>
            </a:avLst>
          </a:prstGeom>
          <a:solidFill>
            <a:srgbClr val="FFFFFF"/>
          </a:solidFill>
          <a:ln w="12700">
            <a:solidFill>
              <a:srgbClr val="C7D5EA"/>
            </a:solidFill>
            <a:prstDash val="solid"/>
          </a:ln>
        </p:spPr>
      </p:sp>
      <p:sp>
        <p:nvSpPr>
          <p:cNvPr id="36" name="Shape 33"/>
          <p:cNvSpPr/>
          <p:nvPr/>
        </p:nvSpPr>
        <p:spPr>
          <a:xfrm>
            <a:off x="5937504" y="1920240"/>
            <a:ext cx="228600" cy="228600"/>
          </a:xfrm>
          <a:prstGeom prst="ellipse">
            <a:avLst/>
          </a:prstGeom>
          <a:solidFill>
            <a:srgbClr val="1F6FFF"/>
          </a:solidFill>
          <a:ln w="12700">
            <a:solidFill>
              <a:srgbClr val="1F6FFF">
                <a:alpha val="0"/>
              </a:srgbClr>
            </a:solidFill>
            <a:prstDash val="solid"/>
          </a:ln>
        </p:spPr>
      </p:sp>
      <p:sp>
        <p:nvSpPr>
          <p:cNvPr id="37" name="Text 34"/>
          <p:cNvSpPr/>
          <p:nvPr/>
        </p:nvSpPr>
        <p:spPr>
          <a:xfrm>
            <a:off x="5937504" y="1920240"/>
            <a:ext cx="228600" cy="164592"/>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Aptos" pitchFamily="34" charset="-122"/>
                <a:cs typeface="Aptos" pitchFamily="34" charset="-120"/>
              </a:rPr>
              <a:t>5</a:t>
            </a:r>
            <a:endParaRPr lang="en-US" sz="850" dirty="0"/>
          </a:p>
        </p:txBody>
      </p:sp>
      <p:sp>
        <p:nvSpPr>
          <p:cNvPr id="38" name="Text 35"/>
          <p:cNvSpPr/>
          <p:nvPr/>
        </p:nvSpPr>
        <p:spPr>
          <a:xfrm>
            <a:off x="6248400" y="1901952"/>
            <a:ext cx="624840" cy="466344"/>
          </a:xfrm>
          <a:prstGeom prst="rect">
            <a:avLst/>
          </a:prstGeom>
          <a:noFill/>
          <a:ln/>
        </p:spPr>
        <p:txBody>
          <a:bodyPr wrap="square" lIns="127" tIns="127" rIns="127" bIns="127" rtlCol="0" anchor="ctr"/>
          <a:lstStyle/>
          <a:p>
            <a:pPr indent="0" marL="0">
              <a:buNone/>
            </a:pPr>
            <a:r>
              <a:rPr lang="en-US" sz="910" dirty="0">
                <a:solidFill>
                  <a:srgbClr val="102749"/>
                </a:solidFill>
                <a:latin typeface="Aptos" pitchFamily="34" charset="0"/>
                <a:ea typeface="Aptos" pitchFamily="34" charset="-122"/>
                <a:cs typeface="Aptos" pitchFamily="34" charset="-120"/>
              </a:rPr>
              <a:t>Mark records finalized once the update is confirmed</a:t>
            </a:r>
            <a:endParaRPr lang="en-US" sz="910" dirty="0"/>
          </a:p>
        </p:txBody>
      </p:sp>
      <p:sp>
        <p:nvSpPr>
          <p:cNvPr id="39" name="Shape 36"/>
          <p:cNvSpPr/>
          <p:nvPr/>
        </p:nvSpPr>
        <p:spPr>
          <a:xfrm>
            <a:off x="7010400" y="2002536"/>
            <a:ext cx="109728" cy="219456"/>
          </a:xfrm>
          <a:prstGeom prst="chevron">
            <a:avLst/>
          </a:prstGeom>
          <a:solidFill>
            <a:srgbClr val="12B3A8"/>
          </a:solidFill>
          <a:ln w="12700">
            <a:solidFill>
              <a:srgbClr val="12B3A8">
                <a:alpha val="0"/>
              </a:srgbClr>
            </a:solidFill>
            <a:prstDash val="solid"/>
          </a:ln>
        </p:spPr>
      </p:sp>
      <p:sp>
        <p:nvSpPr>
          <p:cNvPr id="40" name="Shape 37"/>
          <p:cNvSpPr/>
          <p:nvPr/>
        </p:nvSpPr>
        <p:spPr>
          <a:xfrm>
            <a:off x="7074408" y="1810512"/>
            <a:ext cx="1173480" cy="603504"/>
          </a:xfrm>
          <a:prstGeom prst="roundRect">
            <a:avLst>
              <a:gd name="adj" fmla="val 7576"/>
            </a:avLst>
          </a:prstGeom>
          <a:solidFill>
            <a:srgbClr val="EEF4FB"/>
          </a:solidFill>
          <a:ln w="12700">
            <a:solidFill>
              <a:srgbClr val="C7D5EA"/>
            </a:solidFill>
            <a:prstDash val="solid"/>
          </a:ln>
        </p:spPr>
      </p:sp>
      <p:sp>
        <p:nvSpPr>
          <p:cNvPr id="41" name="Shape 38"/>
          <p:cNvSpPr/>
          <p:nvPr/>
        </p:nvSpPr>
        <p:spPr>
          <a:xfrm>
            <a:off x="7202424" y="1920240"/>
            <a:ext cx="228600" cy="228600"/>
          </a:xfrm>
          <a:prstGeom prst="ellipse">
            <a:avLst/>
          </a:prstGeom>
          <a:solidFill>
            <a:srgbClr val="1F6FFF"/>
          </a:solidFill>
          <a:ln w="12700">
            <a:solidFill>
              <a:srgbClr val="1F6FFF">
                <a:alpha val="0"/>
              </a:srgbClr>
            </a:solidFill>
            <a:prstDash val="solid"/>
          </a:ln>
        </p:spPr>
      </p:sp>
      <p:sp>
        <p:nvSpPr>
          <p:cNvPr id="42" name="Text 39"/>
          <p:cNvSpPr/>
          <p:nvPr/>
        </p:nvSpPr>
        <p:spPr>
          <a:xfrm>
            <a:off x="7202424" y="1920240"/>
            <a:ext cx="228600" cy="164592"/>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Aptos" pitchFamily="34" charset="-122"/>
                <a:cs typeface="Aptos" pitchFamily="34" charset="-120"/>
              </a:rPr>
              <a:t>6</a:t>
            </a:r>
            <a:endParaRPr lang="en-US" sz="850" dirty="0"/>
          </a:p>
        </p:txBody>
      </p:sp>
      <p:sp>
        <p:nvSpPr>
          <p:cNvPr id="43" name="Text 40"/>
          <p:cNvSpPr/>
          <p:nvPr/>
        </p:nvSpPr>
        <p:spPr>
          <a:xfrm>
            <a:off x="7513320" y="1901952"/>
            <a:ext cx="624840" cy="466344"/>
          </a:xfrm>
          <a:prstGeom prst="rect">
            <a:avLst/>
          </a:prstGeom>
          <a:noFill/>
          <a:ln/>
        </p:spPr>
        <p:txBody>
          <a:bodyPr wrap="square" lIns="127" tIns="127" rIns="127" bIns="127" rtlCol="0" anchor="ctr"/>
          <a:lstStyle/>
          <a:p>
            <a:pPr indent="0" marL="0">
              <a:buNone/>
            </a:pPr>
            <a:r>
              <a:rPr lang="en-US" sz="910" dirty="0">
                <a:solidFill>
                  <a:srgbClr val="102749"/>
                </a:solidFill>
                <a:latin typeface="Aptos" pitchFamily="34" charset="0"/>
                <a:ea typeface="Aptos" pitchFamily="34" charset="-122"/>
                <a:cs typeface="Aptos" pitchFamily="34" charset="-120"/>
              </a:rPr>
              <a:t>Generate summary output reports for review</a:t>
            </a:r>
            <a:endParaRPr lang="en-US" sz="910" dirty="0"/>
          </a:p>
        </p:txBody>
      </p:sp>
      <p:sp>
        <p:nvSpPr>
          <p:cNvPr id="44" name="Shape 41"/>
          <p:cNvSpPr/>
          <p:nvPr/>
        </p:nvSpPr>
        <p:spPr>
          <a:xfrm>
            <a:off x="749808" y="2743200"/>
            <a:ext cx="7498080" cy="2468880"/>
          </a:xfrm>
          <a:prstGeom prst="roundRect">
            <a:avLst>
              <a:gd name="adj" fmla="val 1852"/>
            </a:avLst>
          </a:prstGeom>
          <a:solidFill>
            <a:srgbClr val="FFFFFF"/>
          </a:solidFill>
          <a:ln w="12700">
            <a:solidFill>
              <a:srgbClr val="C7D5EA"/>
            </a:solidFill>
            <a:prstDash val="solid"/>
          </a:ln>
        </p:spPr>
      </p:sp>
      <p:sp>
        <p:nvSpPr>
          <p:cNvPr id="45" name="Shape 42"/>
          <p:cNvSpPr/>
          <p:nvPr/>
        </p:nvSpPr>
        <p:spPr>
          <a:xfrm>
            <a:off x="932688" y="3054096"/>
            <a:ext cx="100584" cy="100584"/>
          </a:xfrm>
          <a:prstGeom prst="ellipse">
            <a:avLst/>
          </a:prstGeom>
          <a:solidFill>
            <a:srgbClr val="1F6FFF"/>
          </a:solidFill>
          <a:ln w="12700">
            <a:solidFill>
              <a:srgbClr val="1F6FFF">
                <a:alpha val="0"/>
              </a:srgbClr>
            </a:solidFill>
            <a:prstDash val="solid"/>
          </a:ln>
        </p:spPr>
      </p:sp>
      <p:sp>
        <p:nvSpPr>
          <p:cNvPr id="46" name="Text 43"/>
          <p:cNvSpPr/>
          <p:nvPr/>
        </p:nvSpPr>
        <p:spPr>
          <a:xfrm>
            <a:off x="1097280" y="2980944"/>
            <a:ext cx="6858000" cy="301752"/>
          </a:xfrm>
          <a:prstGeom prst="rect">
            <a:avLst/>
          </a:prstGeom>
          <a:noFill/>
          <a:ln/>
        </p:spPr>
        <p:txBody>
          <a:bodyPr wrap="square" lIns="0" tIns="0" rIns="0" bIns="0" rtlCol="0" anchor="ctr"/>
          <a:lstStyle/>
          <a:p>
            <a:pPr indent="0" marL="0">
              <a:buNone/>
            </a:pPr>
            <a:r>
              <a:rPr lang="en-US" sz="1030" dirty="0">
                <a:solidFill>
                  <a:srgbClr val="102749"/>
                </a:solidFill>
                <a:latin typeface="Aptos" pitchFamily="34" charset="0"/>
                <a:ea typeface="Aptos" pitchFamily="34" charset="-122"/>
                <a:cs typeface="Aptos" pitchFamily="34" charset="-120"/>
              </a:rPr>
              <a:t>Grouping by provider reduces repeated logins and respects the business context in which updates must occur</a:t>
            </a:r>
            <a:endParaRPr lang="en-US" sz="1030" dirty="0"/>
          </a:p>
        </p:txBody>
      </p:sp>
      <p:sp>
        <p:nvSpPr>
          <p:cNvPr id="47" name="Shape 44"/>
          <p:cNvSpPr/>
          <p:nvPr/>
        </p:nvSpPr>
        <p:spPr>
          <a:xfrm>
            <a:off x="932688" y="3584448"/>
            <a:ext cx="100584" cy="100584"/>
          </a:xfrm>
          <a:prstGeom prst="ellipse">
            <a:avLst/>
          </a:prstGeom>
          <a:solidFill>
            <a:srgbClr val="1F6FFF"/>
          </a:solidFill>
          <a:ln w="12700">
            <a:solidFill>
              <a:srgbClr val="1F6FFF">
                <a:alpha val="0"/>
              </a:srgbClr>
            </a:solidFill>
            <a:prstDash val="solid"/>
          </a:ln>
        </p:spPr>
      </p:sp>
      <p:sp>
        <p:nvSpPr>
          <p:cNvPr id="48" name="Text 45"/>
          <p:cNvSpPr/>
          <p:nvPr/>
        </p:nvSpPr>
        <p:spPr>
          <a:xfrm>
            <a:off x="1097280" y="3511296"/>
            <a:ext cx="6858000" cy="301752"/>
          </a:xfrm>
          <a:prstGeom prst="rect">
            <a:avLst/>
          </a:prstGeom>
          <a:noFill/>
          <a:ln/>
        </p:spPr>
        <p:txBody>
          <a:bodyPr wrap="square" lIns="0" tIns="0" rIns="0" bIns="0" rtlCol="0" anchor="ctr"/>
          <a:lstStyle/>
          <a:p>
            <a:pPr indent="0" marL="0">
              <a:buNone/>
            </a:pPr>
            <a:r>
              <a:rPr lang="en-US" sz="1030" dirty="0">
                <a:solidFill>
                  <a:srgbClr val="102749"/>
                </a:solidFill>
                <a:latin typeface="Aptos" pitchFamily="34" charset="0"/>
                <a:ea typeface="Aptos" pitchFamily="34" charset="-122"/>
                <a:cs typeface="Aptos" pitchFamily="34" charset="-120"/>
              </a:rPr>
              <a:t>Delegated scripts keep complex UI actions modular and easier to maintain when the application changes</a:t>
            </a:r>
            <a:endParaRPr lang="en-US" sz="1030" dirty="0"/>
          </a:p>
        </p:txBody>
      </p:sp>
      <p:sp>
        <p:nvSpPr>
          <p:cNvPr id="49" name="Shape 46"/>
          <p:cNvSpPr/>
          <p:nvPr/>
        </p:nvSpPr>
        <p:spPr>
          <a:xfrm>
            <a:off x="932688" y="4114800"/>
            <a:ext cx="100584" cy="100584"/>
          </a:xfrm>
          <a:prstGeom prst="ellipse">
            <a:avLst/>
          </a:prstGeom>
          <a:solidFill>
            <a:srgbClr val="1F6FFF"/>
          </a:solidFill>
          <a:ln w="12700">
            <a:solidFill>
              <a:srgbClr val="1F6FFF">
                <a:alpha val="0"/>
              </a:srgbClr>
            </a:solidFill>
            <a:prstDash val="solid"/>
          </a:ln>
        </p:spPr>
      </p:sp>
      <p:sp>
        <p:nvSpPr>
          <p:cNvPr id="50" name="Text 47"/>
          <p:cNvSpPr/>
          <p:nvPr/>
        </p:nvSpPr>
        <p:spPr>
          <a:xfrm>
            <a:off x="1097280" y="4041648"/>
            <a:ext cx="6858000" cy="301752"/>
          </a:xfrm>
          <a:prstGeom prst="rect">
            <a:avLst/>
          </a:prstGeom>
          <a:noFill/>
          <a:ln/>
        </p:spPr>
        <p:txBody>
          <a:bodyPr wrap="square" lIns="0" tIns="0" rIns="0" bIns="0" rtlCol="0" anchor="ctr"/>
          <a:lstStyle/>
          <a:p>
            <a:pPr indent="0" marL="0">
              <a:buNone/>
            </a:pPr>
            <a:r>
              <a:rPr lang="en-US" sz="1030" dirty="0">
                <a:solidFill>
                  <a:srgbClr val="102749"/>
                </a:solidFill>
                <a:latin typeface="Aptos" pitchFamily="34" charset="0"/>
                <a:ea typeface="Aptos" pitchFamily="34" charset="-122"/>
                <a:cs typeface="Aptos" pitchFamily="34" charset="-120"/>
              </a:rPr>
              <a:t>Human review is still important for summary outputs, edge cases, and final assurance</a:t>
            </a:r>
            <a:endParaRPr lang="en-US" sz="1030" dirty="0"/>
          </a:p>
        </p:txBody>
      </p:sp>
      <p:sp>
        <p:nvSpPr>
          <p:cNvPr id="51" name="Shape 48"/>
          <p:cNvSpPr/>
          <p:nvPr/>
        </p:nvSpPr>
        <p:spPr>
          <a:xfrm>
            <a:off x="932688" y="4645152"/>
            <a:ext cx="100584" cy="100584"/>
          </a:xfrm>
          <a:prstGeom prst="ellipse">
            <a:avLst/>
          </a:prstGeom>
          <a:solidFill>
            <a:srgbClr val="1F6FFF"/>
          </a:solidFill>
          <a:ln w="12700">
            <a:solidFill>
              <a:srgbClr val="1F6FFF">
                <a:alpha val="0"/>
              </a:srgbClr>
            </a:solidFill>
            <a:prstDash val="solid"/>
          </a:ln>
        </p:spPr>
      </p:sp>
      <p:sp>
        <p:nvSpPr>
          <p:cNvPr id="52" name="Text 49"/>
          <p:cNvSpPr/>
          <p:nvPr/>
        </p:nvSpPr>
        <p:spPr>
          <a:xfrm>
            <a:off x="1097280" y="4572000"/>
            <a:ext cx="6858000" cy="301752"/>
          </a:xfrm>
          <a:prstGeom prst="rect">
            <a:avLst/>
          </a:prstGeom>
          <a:noFill/>
          <a:ln/>
        </p:spPr>
        <p:txBody>
          <a:bodyPr wrap="square" lIns="0" tIns="0" rIns="0" bIns="0" rtlCol="0" anchor="ctr"/>
          <a:lstStyle/>
          <a:p>
            <a:pPr indent="0" marL="0">
              <a:buNone/>
            </a:pPr>
            <a:r>
              <a:rPr lang="en-US" sz="1030" dirty="0">
                <a:solidFill>
                  <a:srgbClr val="102749"/>
                </a:solidFill>
                <a:latin typeface="Aptos" pitchFamily="34" charset="0"/>
                <a:ea typeface="Aptos" pitchFamily="34" charset="-122"/>
                <a:cs typeface="Aptos" pitchFamily="34" charset="-120"/>
              </a:rPr>
              <a:t>The BA should confirm what must be written back, what evidence is required, and how finalization is defined</a:t>
            </a:r>
            <a:endParaRPr lang="en-US" sz="1030" dirty="0"/>
          </a:p>
        </p:txBody>
      </p:sp>
      <p:sp>
        <p:nvSpPr>
          <p:cNvPr id="53" name="Shape 50"/>
          <p:cNvSpPr/>
          <p:nvPr/>
        </p:nvSpPr>
        <p:spPr>
          <a:xfrm>
            <a:off x="8549640" y="1810512"/>
            <a:ext cx="2880360" cy="896112"/>
          </a:xfrm>
          <a:prstGeom prst="roundRect">
            <a:avLst>
              <a:gd name="adj" fmla="val 6122"/>
            </a:avLst>
          </a:prstGeom>
          <a:solidFill>
            <a:srgbClr val="FFFFFF"/>
          </a:solidFill>
          <a:ln w="12700">
            <a:solidFill>
              <a:srgbClr val="C7D5EA"/>
            </a:solidFill>
            <a:prstDash val="solid"/>
          </a:ln>
        </p:spPr>
      </p:sp>
      <p:sp>
        <p:nvSpPr>
          <p:cNvPr id="54" name="Shape 51"/>
          <p:cNvSpPr/>
          <p:nvPr/>
        </p:nvSpPr>
        <p:spPr>
          <a:xfrm>
            <a:off x="8549640" y="1810512"/>
            <a:ext cx="2880360" cy="64008"/>
          </a:xfrm>
          <a:prstGeom prst="rect">
            <a:avLst/>
          </a:prstGeom>
          <a:solidFill>
            <a:srgbClr val="1F6FFF"/>
          </a:solidFill>
          <a:ln w="12700">
            <a:solidFill>
              <a:srgbClr val="1F6FFF">
                <a:alpha val="0"/>
              </a:srgbClr>
            </a:solidFill>
            <a:prstDash val="solid"/>
          </a:ln>
        </p:spPr>
      </p:sp>
      <p:sp>
        <p:nvSpPr>
          <p:cNvPr id="55" name="Text 52"/>
          <p:cNvSpPr/>
          <p:nvPr/>
        </p:nvSpPr>
        <p:spPr>
          <a:xfrm>
            <a:off x="8714232" y="1975104"/>
            <a:ext cx="260604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Session Strategy</a:t>
            </a:r>
            <a:endParaRPr lang="en-US" sz="1150" dirty="0"/>
          </a:p>
        </p:txBody>
      </p:sp>
      <p:sp>
        <p:nvSpPr>
          <p:cNvPr id="56" name="Text 53"/>
          <p:cNvSpPr/>
          <p:nvPr/>
        </p:nvSpPr>
        <p:spPr>
          <a:xfrm>
            <a:off x="8714232" y="2249424"/>
            <a:ext cx="2606040" cy="365760"/>
          </a:xfrm>
          <a:prstGeom prst="rect">
            <a:avLst/>
          </a:prstGeom>
          <a:noFill/>
          <a:ln/>
        </p:spPr>
        <p:txBody>
          <a:bodyPr wrap="square" lIns="254" tIns="254" rIns="254" bIns="254" rtlCol="0" anchor="t"/>
          <a:lstStyle/>
          <a:p>
            <a:pPr indent="0" marL="0">
              <a:buNone/>
            </a:pPr>
            <a:r>
              <a:rPr lang="en-US" sz="870" dirty="0">
                <a:solidFill>
                  <a:srgbClr val="51607B"/>
                </a:solidFill>
                <a:latin typeface="Aptos" pitchFamily="34" charset="0"/>
                <a:ea typeface="Aptos" pitchFamily="34" charset="-122"/>
                <a:cs typeface="Aptos" pitchFamily="34" charset="-120"/>
              </a:rPr>
              <a:t>Use provider grouping to reduce friction and keep context consistent.</a:t>
            </a:r>
            <a:endParaRPr lang="en-US" sz="870" dirty="0"/>
          </a:p>
        </p:txBody>
      </p:sp>
      <p:sp>
        <p:nvSpPr>
          <p:cNvPr id="57" name="Shape 54"/>
          <p:cNvSpPr/>
          <p:nvPr/>
        </p:nvSpPr>
        <p:spPr>
          <a:xfrm>
            <a:off x="8549640" y="2999232"/>
            <a:ext cx="2880360" cy="896112"/>
          </a:xfrm>
          <a:prstGeom prst="roundRect">
            <a:avLst>
              <a:gd name="adj" fmla="val 6122"/>
            </a:avLst>
          </a:prstGeom>
          <a:solidFill>
            <a:srgbClr val="FFFFFF"/>
          </a:solidFill>
          <a:ln w="12700">
            <a:solidFill>
              <a:srgbClr val="C7D5EA"/>
            </a:solidFill>
            <a:prstDash val="solid"/>
          </a:ln>
        </p:spPr>
      </p:sp>
      <p:sp>
        <p:nvSpPr>
          <p:cNvPr id="58" name="Shape 55"/>
          <p:cNvSpPr/>
          <p:nvPr/>
        </p:nvSpPr>
        <p:spPr>
          <a:xfrm>
            <a:off x="8549640" y="2999232"/>
            <a:ext cx="2880360" cy="64008"/>
          </a:xfrm>
          <a:prstGeom prst="rect">
            <a:avLst/>
          </a:prstGeom>
          <a:solidFill>
            <a:srgbClr val="12B3A8"/>
          </a:solidFill>
          <a:ln w="12700">
            <a:solidFill>
              <a:srgbClr val="12B3A8">
                <a:alpha val="0"/>
              </a:srgbClr>
            </a:solidFill>
            <a:prstDash val="solid"/>
          </a:ln>
        </p:spPr>
      </p:sp>
      <p:sp>
        <p:nvSpPr>
          <p:cNvPr id="59" name="Text 56"/>
          <p:cNvSpPr/>
          <p:nvPr/>
        </p:nvSpPr>
        <p:spPr>
          <a:xfrm>
            <a:off x="8714232" y="3163824"/>
            <a:ext cx="260604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Maintainability</a:t>
            </a:r>
            <a:endParaRPr lang="en-US" sz="1150" dirty="0"/>
          </a:p>
        </p:txBody>
      </p:sp>
      <p:sp>
        <p:nvSpPr>
          <p:cNvPr id="60" name="Text 57"/>
          <p:cNvSpPr/>
          <p:nvPr/>
        </p:nvSpPr>
        <p:spPr>
          <a:xfrm>
            <a:off x="8714232" y="3438144"/>
            <a:ext cx="2606040" cy="365760"/>
          </a:xfrm>
          <a:prstGeom prst="rect">
            <a:avLst/>
          </a:prstGeom>
          <a:noFill/>
          <a:ln/>
        </p:spPr>
        <p:txBody>
          <a:bodyPr wrap="square" lIns="254" tIns="254" rIns="254" bIns="254" rtlCol="0" anchor="t"/>
          <a:lstStyle/>
          <a:p>
            <a:pPr indent="0" marL="0">
              <a:buNone/>
            </a:pPr>
            <a:r>
              <a:rPr lang="en-US" sz="870" dirty="0">
                <a:solidFill>
                  <a:srgbClr val="51607B"/>
                </a:solidFill>
                <a:latin typeface="Aptos" pitchFamily="34" charset="0"/>
                <a:ea typeface="Aptos" pitchFamily="34" charset="-122"/>
                <a:cs typeface="Aptos" pitchFamily="34" charset="-120"/>
              </a:rPr>
              <a:t>Delegate repeatable UI actions into smaller reusable workflow components.</a:t>
            </a:r>
            <a:endParaRPr lang="en-US" sz="870" dirty="0"/>
          </a:p>
        </p:txBody>
      </p:sp>
      <p:sp>
        <p:nvSpPr>
          <p:cNvPr id="61" name="Shape 58"/>
          <p:cNvSpPr/>
          <p:nvPr/>
        </p:nvSpPr>
        <p:spPr>
          <a:xfrm>
            <a:off x="8549640" y="4187952"/>
            <a:ext cx="2880360" cy="896112"/>
          </a:xfrm>
          <a:prstGeom prst="roundRect">
            <a:avLst>
              <a:gd name="adj" fmla="val 6122"/>
            </a:avLst>
          </a:prstGeom>
          <a:solidFill>
            <a:srgbClr val="FFFFFF"/>
          </a:solidFill>
          <a:ln w="12700">
            <a:solidFill>
              <a:srgbClr val="C7D5EA"/>
            </a:solidFill>
            <a:prstDash val="solid"/>
          </a:ln>
        </p:spPr>
      </p:sp>
      <p:sp>
        <p:nvSpPr>
          <p:cNvPr id="62" name="Shape 59"/>
          <p:cNvSpPr/>
          <p:nvPr/>
        </p:nvSpPr>
        <p:spPr>
          <a:xfrm>
            <a:off x="8549640" y="4187952"/>
            <a:ext cx="2880360" cy="64008"/>
          </a:xfrm>
          <a:prstGeom prst="rect">
            <a:avLst/>
          </a:prstGeom>
          <a:solidFill>
            <a:srgbClr val="1F6FFF"/>
          </a:solidFill>
          <a:ln w="12700">
            <a:solidFill>
              <a:srgbClr val="1F6FFF">
                <a:alpha val="0"/>
              </a:srgbClr>
            </a:solidFill>
            <a:prstDash val="solid"/>
          </a:ln>
        </p:spPr>
      </p:sp>
      <p:sp>
        <p:nvSpPr>
          <p:cNvPr id="63" name="Text 60"/>
          <p:cNvSpPr/>
          <p:nvPr/>
        </p:nvSpPr>
        <p:spPr>
          <a:xfrm>
            <a:off x="8714232" y="4352544"/>
            <a:ext cx="260604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Reporting</a:t>
            </a:r>
            <a:endParaRPr lang="en-US" sz="1150" dirty="0"/>
          </a:p>
        </p:txBody>
      </p:sp>
      <p:sp>
        <p:nvSpPr>
          <p:cNvPr id="64" name="Text 61"/>
          <p:cNvSpPr/>
          <p:nvPr/>
        </p:nvSpPr>
        <p:spPr>
          <a:xfrm>
            <a:off x="8714232" y="4626864"/>
            <a:ext cx="2606040" cy="365760"/>
          </a:xfrm>
          <a:prstGeom prst="rect">
            <a:avLst/>
          </a:prstGeom>
          <a:noFill/>
          <a:ln/>
        </p:spPr>
        <p:txBody>
          <a:bodyPr wrap="square" lIns="254" tIns="254" rIns="254" bIns="254" rtlCol="0" anchor="t"/>
          <a:lstStyle/>
          <a:p>
            <a:pPr indent="0" marL="0">
              <a:buNone/>
            </a:pPr>
            <a:r>
              <a:rPr lang="en-US" sz="870" dirty="0">
                <a:solidFill>
                  <a:srgbClr val="51607B"/>
                </a:solidFill>
                <a:latin typeface="Aptos" pitchFamily="34" charset="0"/>
                <a:ea typeface="Aptos" pitchFamily="34" charset="-122"/>
                <a:cs typeface="Aptos" pitchFamily="34" charset="-120"/>
              </a:rPr>
              <a:t>Publish reviewable outcomes, not only silent system updates.</a:t>
            </a:r>
            <a:endParaRPr lang="en-US" sz="870" dirty="0"/>
          </a:p>
        </p:txBody>
      </p:sp>
      <p:sp>
        <p:nvSpPr>
          <p:cNvPr id="65" name="Text 62"/>
          <p:cNvSpPr/>
          <p:nvPr/>
        </p:nvSpPr>
        <p:spPr>
          <a:xfrm>
            <a:off x="658368" y="6510528"/>
            <a:ext cx="2560320" cy="164592"/>
          </a:xfrm>
          <a:prstGeom prst="rect">
            <a:avLst/>
          </a:prstGeom>
          <a:noFill/>
          <a:ln/>
        </p:spPr>
        <p:txBody>
          <a:bodyPr wrap="square" lIns="0" tIns="0" rIns="0" bIns="0" rtlCol="0" anchor="ctr"/>
          <a:lstStyle/>
          <a:p>
            <a:pPr indent="0" marL="0">
              <a:buNone/>
            </a:pPr>
            <a:r>
              <a:rPr lang="en-US" sz="850" dirty="0">
                <a:solidFill>
                  <a:srgbClr val="51607B"/>
                </a:solidFill>
                <a:latin typeface="Aptos" pitchFamily="34" charset="0"/>
                <a:ea typeface="Aptos" pitchFamily="34" charset="-122"/>
                <a:cs typeface="Aptos" pitchFamily="34" charset="-120"/>
              </a:rPr>
              <a:t>Innobot  |  Internal workshop</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F4F7FB"/>
          </a:solidFill>
          <a:ln/>
        </p:spPr>
      </p:sp>
      <p:sp>
        <p:nvSpPr>
          <p:cNvPr id="4" name="Shape 1"/>
          <p:cNvSpPr/>
          <p:nvPr/>
        </p:nvSpPr>
        <p:spPr>
          <a:xfrm>
            <a:off x="0" y="0"/>
            <a:ext cx="12191695" cy="411480"/>
          </a:xfrm>
          <a:prstGeom prst="rect">
            <a:avLst/>
          </a:prstGeom>
          <a:solidFill>
            <a:srgbClr val="0A1830"/>
          </a:solidFill>
          <a:ln/>
        </p:spPr>
      </p:sp>
      <p:sp>
        <p:nvSpPr>
          <p:cNvPr id="5" name="Shape 2"/>
          <p:cNvSpPr/>
          <p:nvPr/>
        </p:nvSpPr>
        <p:spPr>
          <a:xfrm>
            <a:off x="9509760" y="-137160"/>
            <a:ext cx="3200400" cy="2194560"/>
          </a:xfrm>
          <a:prstGeom prst="ellipse">
            <a:avLst/>
          </a:prstGeom>
          <a:solidFill>
            <a:srgbClr val="8AB8FF">
              <a:alpha val="16000"/>
            </a:srgbClr>
          </a:solidFill>
          <a:ln w="12700">
            <a:solidFill>
              <a:srgbClr val="8AB8FF">
                <a:alpha val="0"/>
              </a:srgbClr>
            </a:solidFill>
            <a:prstDash val="solid"/>
          </a:ln>
        </p:spPr>
      </p:sp>
      <p:sp>
        <p:nvSpPr>
          <p:cNvPr id="6" name="Shape 3"/>
          <p:cNvSpPr/>
          <p:nvPr/>
        </p:nvSpPr>
        <p:spPr>
          <a:xfrm>
            <a:off x="-731520" y="5394960"/>
            <a:ext cx="2560320" cy="1645920"/>
          </a:xfrm>
          <a:prstGeom prst="ellipse">
            <a:avLst/>
          </a:prstGeom>
          <a:solidFill>
            <a:srgbClr val="12B3A8">
              <a:alpha val="10000"/>
            </a:srgbClr>
          </a:solidFill>
          <a:ln w="12700">
            <a:solidFill>
              <a:srgbClr val="12B3A8">
                <a:alpha val="0"/>
              </a:srgbClr>
            </a:solidFill>
            <a:prstDash val="solid"/>
          </a:ln>
        </p:spPr>
      </p:sp>
      <p:sp>
        <p:nvSpPr>
          <p:cNvPr id="7" name="Shape 4"/>
          <p:cNvSpPr/>
          <p:nvPr/>
        </p:nvSpPr>
        <p:spPr>
          <a:xfrm>
            <a:off x="0" y="411480"/>
            <a:ext cx="12191695" cy="146304"/>
          </a:xfrm>
          <a:prstGeom prst="rect">
            <a:avLst/>
          </a:prstGeom>
          <a:solidFill>
            <a:srgbClr val="1F6FFF"/>
          </a:solidFill>
          <a:ln/>
        </p:spPr>
      </p:sp>
      <p:sp>
        <p:nvSpPr>
          <p:cNvPr id="8" name="Text 5"/>
          <p:cNvSpPr/>
          <p:nvPr/>
        </p:nvSpPr>
        <p:spPr>
          <a:xfrm>
            <a:off x="658368" y="182880"/>
            <a:ext cx="2651760" cy="146304"/>
          </a:xfrm>
          <a:prstGeom prst="rect">
            <a:avLst/>
          </a:prstGeom>
          <a:noFill/>
          <a:ln/>
        </p:spPr>
        <p:txBody>
          <a:bodyPr wrap="square" lIns="0" tIns="0" rIns="0" bIns="0" rtlCol="0" anchor="ctr"/>
          <a:lstStyle/>
          <a:p>
            <a:pPr indent="0" marL="0">
              <a:buNone/>
            </a:pPr>
            <a:r>
              <a:rPr lang="en-US" sz="850" b="1" dirty="0">
                <a:solidFill>
                  <a:srgbClr val="8AB8FF"/>
                </a:solidFill>
                <a:latin typeface="Aptos" pitchFamily="34" charset="0"/>
                <a:ea typeface="Aptos" pitchFamily="34" charset="-122"/>
                <a:cs typeface="Aptos" pitchFamily="34" charset="-120"/>
              </a:rPr>
              <a:t>PART III  DELIVERY AND GOVERNANCE</a:t>
            </a:r>
            <a:endParaRPr lang="en-US" sz="850" dirty="0"/>
          </a:p>
        </p:txBody>
      </p:sp>
      <p:sp>
        <p:nvSpPr>
          <p:cNvPr id="9" name="Text 6"/>
          <p:cNvSpPr/>
          <p:nvPr/>
        </p:nvSpPr>
        <p:spPr>
          <a:xfrm>
            <a:off x="658368" y="612648"/>
            <a:ext cx="7223760" cy="411480"/>
          </a:xfrm>
          <a:prstGeom prst="rect">
            <a:avLst/>
          </a:prstGeom>
          <a:noFill/>
          <a:ln/>
        </p:spPr>
        <p:txBody>
          <a:bodyPr wrap="square" lIns="0" tIns="0" rIns="0" bIns="0" rtlCol="0" anchor="ctr"/>
          <a:lstStyle/>
          <a:p>
            <a:pPr indent="0" marL="0">
              <a:buNone/>
            </a:pPr>
            <a:r>
              <a:rPr lang="en-US" sz="2400" b="1" dirty="0">
                <a:solidFill>
                  <a:srgbClr val="102749"/>
                </a:solidFill>
                <a:latin typeface="Aptos Display" pitchFamily="34" charset="0"/>
                <a:ea typeface="Aptos Display" pitchFamily="34" charset="-122"/>
                <a:cs typeface="Aptos Display" pitchFamily="34" charset="-120"/>
              </a:rPr>
              <a:t>High-Level RPA Lifecycle</a:t>
            </a:r>
            <a:endParaRPr lang="en-US" sz="2400" dirty="0"/>
          </a:p>
        </p:txBody>
      </p:sp>
      <p:sp>
        <p:nvSpPr>
          <p:cNvPr id="10" name="Text 7"/>
          <p:cNvSpPr/>
          <p:nvPr/>
        </p:nvSpPr>
        <p:spPr>
          <a:xfrm>
            <a:off x="658368" y="1069848"/>
            <a:ext cx="7863840" cy="310896"/>
          </a:xfrm>
          <a:prstGeom prst="rect">
            <a:avLst/>
          </a:prstGeom>
          <a:noFill/>
          <a:ln/>
        </p:spPr>
        <p:txBody>
          <a:bodyPr wrap="square" lIns="0" tIns="0" rIns="0" bIns="0" rtlCol="0" anchor="ctr"/>
          <a:lstStyle/>
          <a:p>
            <a:pPr indent="0" marL="0">
              <a:buNone/>
            </a:pPr>
            <a:r>
              <a:rPr lang="en-US" sz="1100" dirty="0">
                <a:solidFill>
                  <a:srgbClr val="51607B"/>
                </a:solidFill>
                <a:latin typeface="Aptos" pitchFamily="34" charset="0"/>
                <a:ea typeface="Aptos" pitchFamily="34" charset="-122"/>
                <a:cs typeface="Aptos" pitchFamily="34" charset="-120"/>
              </a:rPr>
              <a:t>Automation delivery is a lifecycle with business checkpoints, not just build and run</a:t>
            </a:r>
            <a:endParaRPr lang="en-US" sz="1100" dirty="0"/>
          </a:p>
        </p:txBody>
      </p:sp>
      <p:sp>
        <p:nvSpPr>
          <p:cNvPr id="11" name="Text 8"/>
          <p:cNvSpPr/>
          <p:nvPr/>
        </p:nvSpPr>
        <p:spPr>
          <a:xfrm>
            <a:off x="11155680" y="530352"/>
            <a:ext cx="365760" cy="201168"/>
          </a:xfrm>
          <a:prstGeom prst="rect">
            <a:avLst/>
          </a:prstGeom>
          <a:noFill/>
          <a:ln/>
        </p:spPr>
        <p:txBody>
          <a:bodyPr wrap="square" lIns="0" tIns="0" rIns="0" bIns="0" rtlCol="0" anchor="ctr"/>
          <a:lstStyle/>
          <a:p>
            <a:pPr algn="r" indent="0" marL="0">
              <a:buNone/>
            </a:pPr>
            <a:r>
              <a:rPr lang="en-US" sz="950" dirty="0">
                <a:solidFill>
                  <a:srgbClr val="51607B"/>
                </a:solidFill>
                <a:latin typeface="Consolas" pitchFamily="34" charset="0"/>
                <a:ea typeface="Consolas" pitchFamily="34" charset="-122"/>
                <a:cs typeface="Consolas" pitchFamily="34" charset="-120"/>
              </a:rPr>
              <a:t>14</a:t>
            </a:r>
            <a:endParaRPr lang="en-US" sz="950" dirty="0"/>
          </a:p>
        </p:txBody>
      </p:sp>
      <p:sp>
        <p:nvSpPr>
          <p:cNvPr id="12" name="Shape 9"/>
          <p:cNvSpPr/>
          <p:nvPr/>
        </p:nvSpPr>
        <p:spPr>
          <a:xfrm>
            <a:off x="8366760" y="676656"/>
            <a:ext cx="3154680" cy="822960"/>
          </a:xfrm>
          <a:prstGeom prst="roundRect">
            <a:avLst>
              <a:gd name="adj" fmla="val 8889"/>
            </a:avLst>
          </a:prstGeom>
          <a:solidFill>
            <a:srgbClr val="FFFFFF"/>
          </a:solidFill>
          <a:ln w="12700">
            <a:solidFill>
              <a:srgbClr val="1F6FFF">
                <a:alpha val="0"/>
              </a:srgbClr>
            </a:solidFill>
            <a:prstDash val="solid"/>
          </a:ln>
        </p:spPr>
      </p:sp>
      <p:sp>
        <p:nvSpPr>
          <p:cNvPr id="13" name="Shape 10"/>
          <p:cNvSpPr/>
          <p:nvPr/>
        </p:nvSpPr>
        <p:spPr>
          <a:xfrm>
            <a:off x="8366760" y="676656"/>
            <a:ext cx="73152" cy="822960"/>
          </a:xfrm>
          <a:prstGeom prst="rect">
            <a:avLst/>
          </a:prstGeom>
          <a:solidFill>
            <a:srgbClr val="1F6FFF"/>
          </a:solidFill>
          <a:ln w="12700">
            <a:solidFill>
              <a:srgbClr val="1F6FFF">
                <a:alpha val="0"/>
              </a:srgbClr>
            </a:solidFill>
            <a:prstDash val="solid"/>
          </a:ln>
        </p:spPr>
      </p:sp>
      <p:sp>
        <p:nvSpPr>
          <p:cNvPr id="14" name="Text 11"/>
          <p:cNvSpPr/>
          <p:nvPr/>
        </p:nvSpPr>
        <p:spPr>
          <a:xfrm>
            <a:off x="8531352" y="786384"/>
            <a:ext cx="1097280" cy="164592"/>
          </a:xfrm>
          <a:prstGeom prst="rect">
            <a:avLst/>
          </a:prstGeom>
          <a:noFill/>
          <a:ln/>
        </p:spPr>
        <p:txBody>
          <a:bodyPr wrap="square" lIns="0" tIns="0" rIns="0" bIns="0" rtlCol="0" anchor="ctr"/>
          <a:lstStyle/>
          <a:p>
            <a:pPr indent="0" marL="0">
              <a:buNone/>
            </a:pPr>
            <a:r>
              <a:rPr lang="en-US" sz="800" b="1" dirty="0">
                <a:solidFill>
                  <a:srgbClr val="1F6FFF"/>
                </a:solidFill>
                <a:latin typeface="Aptos" pitchFamily="34" charset="0"/>
                <a:ea typeface="Aptos" pitchFamily="34" charset="-122"/>
                <a:cs typeface="Aptos" pitchFamily="34" charset="-120"/>
              </a:rPr>
              <a:t>Key takeaway</a:t>
            </a:r>
            <a:endParaRPr lang="en-US" sz="800" dirty="0"/>
          </a:p>
        </p:txBody>
      </p:sp>
      <p:sp>
        <p:nvSpPr>
          <p:cNvPr id="15" name="Text 12"/>
          <p:cNvSpPr/>
          <p:nvPr/>
        </p:nvSpPr>
        <p:spPr>
          <a:xfrm>
            <a:off x="8531352" y="932688"/>
            <a:ext cx="2880360" cy="521208"/>
          </a:xfrm>
          <a:prstGeom prst="rect">
            <a:avLst/>
          </a:prstGeom>
          <a:noFill/>
          <a:ln/>
        </p:spPr>
        <p:txBody>
          <a:bodyPr wrap="square" lIns="254" tIns="254" rIns="254" bIns="254" rtlCol="0" anchor="ctr"/>
          <a:lstStyle/>
          <a:p>
            <a:pPr indent="0" marL="0">
              <a:buNone/>
            </a:pPr>
            <a:r>
              <a:rPr lang="en-US" sz="920" dirty="0">
                <a:solidFill>
                  <a:srgbClr val="102749"/>
                </a:solidFill>
                <a:latin typeface="Aptos" pitchFamily="34" charset="0"/>
                <a:ea typeface="Aptos" pitchFamily="34" charset="-122"/>
                <a:cs typeface="Aptos" pitchFamily="34" charset="-120"/>
              </a:rPr>
              <a:t>Strong RPA delivery moves through identifiable phases, each with business decisions, quality controls, and BA touchpoints.</a:t>
            </a:r>
            <a:endParaRPr lang="en-US" sz="920" dirty="0"/>
          </a:p>
        </p:txBody>
      </p:sp>
      <p:sp>
        <p:nvSpPr>
          <p:cNvPr id="16" name="Shape 13"/>
          <p:cNvSpPr/>
          <p:nvPr/>
        </p:nvSpPr>
        <p:spPr>
          <a:xfrm>
            <a:off x="841248" y="2615184"/>
            <a:ext cx="411480" cy="411480"/>
          </a:xfrm>
          <a:prstGeom prst="ellipse">
            <a:avLst/>
          </a:prstGeom>
          <a:solidFill>
            <a:srgbClr val="FFFFFF"/>
          </a:solidFill>
          <a:ln w="12700">
            <a:solidFill>
              <a:srgbClr val="1F6FFF"/>
            </a:solidFill>
            <a:prstDash val="solid"/>
          </a:ln>
        </p:spPr>
      </p:sp>
      <p:sp>
        <p:nvSpPr>
          <p:cNvPr id="17" name="Text 14"/>
          <p:cNvSpPr/>
          <p:nvPr/>
        </p:nvSpPr>
        <p:spPr>
          <a:xfrm>
            <a:off x="640080" y="2075688"/>
            <a:ext cx="841248" cy="164592"/>
          </a:xfrm>
          <a:prstGeom prst="rect">
            <a:avLst/>
          </a:prstGeom>
          <a:noFill/>
          <a:ln/>
        </p:spPr>
        <p:txBody>
          <a:bodyPr wrap="square" lIns="0" tIns="0" rIns="0" bIns="0" rtlCol="0" anchor="ctr"/>
          <a:lstStyle/>
          <a:p>
            <a:pPr algn="ctr" indent="0" marL="0">
              <a:buNone/>
            </a:pPr>
            <a:r>
              <a:rPr lang="en-US" sz="1000" b="1" dirty="0">
                <a:solidFill>
                  <a:srgbClr val="102749"/>
                </a:solidFill>
                <a:latin typeface="Aptos Display" pitchFamily="34" charset="0"/>
                <a:ea typeface="Aptos Display" pitchFamily="34" charset="-122"/>
                <a:cs typeface="Aptos Display" pitchFamily="34" charset="-120"/>
              </a:rPr>
              <a:t>Identify</a:t>
            </a:r>
            <a:endParaRPr lang="en-US" sz="1000" dirty="0"/>
          </a:p>
        </p:txBody>
      </p:sp>
      <p:sp>
        <p:nvSpPr>
          <p:cNvPr id="18" name="Text 15"/>
          <p:cNvSpPr/>
          <p:nvPr/>
        </p:nvSpPr>
        <p:spPr>
          <a:xfrm>
            <a:off x="429768" y="3154680"/>
            <a:ext cx="1234440" cy="658368"/>
          </a:xfrm>
          <a:prstGeom prst="rect">
            <a:avLst/>
          </a:prstGeom>
          <a:noFill/>
          <a:ln/>
        </p:spPr>
        <p:txBody>
          <a:bodyPr wrap="square" lIns="254" tIns="254" rIns="254" bIns="254" rtlCol="0" anchor="ctr"/>
          <a:lstStyle/>
          <a:p>
            <a:pPr algn="ctr" indent="0" marL="0">
              <a:buNone/>
            </a:pPr>
            <a:r>
              <a:rPr lang="en-US" sz="820" dirty="0">
                <a:solidFill>
                  <a:srgbClr val="51607B"/>
                </a:solidFill>
                <a:latin typeface="Aptos" pitchFamily="34" charset="0"/>
                <a:ea typeface="Aptos" pitchFamily="34" charset="-122"/>
                <a:cs typeface="Aptos" pitchFamily="34" charset="-120"/>
              </a:rPr>
              <a:t>Spot the process opportunity and desired business outcome.</a:t>
            </a:r>
            <a:endParaRPr lang="en-US" sz="820" dirty="0"/>
          </a:p>
        </p:txBody>
      </p:sp>
      <p:sp>
        <p:nvSpPr>
          <p:cNvPr id="19" name="Shape 16"/>
          <p:cNvSpPr/>
          <p:nvPr/>
        </p:nvSpPr>
        <p:spPr>
          <a:xfrm>
            <a:off x="2322576" y="2615184"/>
            <a:ext cx="411480" cy="411480"/>
          </a:xfrm>
          <a:prstGeom prst="ellipse">
            <a:avLst/>
          </a:prstGeom>
          <a:solidFill>
            <a:srgbClr val="EAF6F4"/>
          </a:solidFill>
          <a:ln w="12700">
            <a:solidFill>
              <a:srgbClr val="1F6FFF"/>
            </a:solidFill>
            <a:prstDash val="solid"/>
          </a:ln>
        </p:spPr>
      </p:sp>
      <p:sp>
        <p:nvSpPr>
          <p:cNvPr id="20" name="Text 17"/>
          <p:cNvSpPr/>
          <p:nvPr/>
        </p:nvSpPr>
        <p:spPr>
          <a:xfrm>
            <a:off x="2121408" y="2075688"/>
            <a:ext cx="841248" cy="164592"/>
          </a:xfrm>
          <a:prstGeom prst="rect">
            <a:avLst/>
          </a:prstGeom>
          <a:noFill/>
          <a:ln/>
        </p:spPr>
        <p:txBody>
          <a:bodyPr wrap="square" lIns="0" tIns="0" rIns="0" bIns="0" rtlCol="0" anchor="ctr"/>
          <a:lstStyle/>
          <a:p>
            <a:pPr algn="ctr" indent="0" marL="0">
              <a:buNone/>
            </a:pPr>
            <a:r>
              <a:rPr lang="en-US" sz="1000" b="1" dirty="0">
                <a:solidFill>
                  <a:srgbClr val="102749"/>
                </a:solidFill>
                <a:latin typeface="Aptos Display" pitchFamily="34" charset="0"/>
                <a:ea typeface="Aptos Display" pitchFamily="34" charset="-122"/>
                <a:cs typeface="Aptos Display" pitchFamily="34" charset="-120"/>
              </a:rPr>
              <a:t>Assess</a:t>
            </a:r>
            <a:endParaRPr lang="en-US" sz="1000" dirty="0"/>
          </a:p>
        </p:txBody>
      </p:sp>
      <p:sp>
        <p:nvSpPr>
          <p:cNvPr id="21" name="Text 18"/>
          <p:cNvSpPr/>
          <p:nvPr/>
        </p:nvSpPr>
        <p:spPr>
          <a:xfrm>
            <a:off x="1911096" y="3154680"/>
            <a:ext cx="1234440" cy="658368"/>
          </a:xfrm>
          <a:prstGeom prst="rect">
            <a:avLst/>
          </a:prstGeom>
          <a:noFill/>
          <a:ln/>
        </p:spPr>
        <p:txBody>
          <a:bodyPr wrap="square" lIns="254" tIns="254" rIns="254" bIns="254" rtlCol="0" anchor="ctr"/>
          <a:lstStyle/>
          <a:p>
            <a:pPr algn="ctr" indent="0" marL="0">
              <a:buNone/>
            </a:pPr>
            <a:r>
              <a:rPr lang="en-US" sz="820" dirty="0">
                <a:solidFill>
                  <a:srgbClr val="51607B"/>
                </a:solidFill>
                <a:latin typeface="Aptos" pitchFamily="34" charset="0"/>
                <a:ea typeface="Aptos" pitchFamily="34" charset="-122"/>
                <a:cs typeface="Aptos" pitchFamily="34" charset="-120"/>
              </a:rPr>
              <a:t>Check feasibility, stability, rules, inputs, and exception volume.</a:t>
            </a:r>
            <a:endParaRPr lang="en-US" sz="820" dirty="0"/>
          </a:p>
        </p:txBody>
      </p:sp>
      <p:sp>
        <p:nvSpPr>
          <p:cNvPr id="22" name="Shape 19"/>
          <p:cNvSpPr/>
          <p:nvPr/>
        </p:nvSpPr>
        <p:spPr>
          <a:xfrm>
            <a:off x="3803904" y="2615184"/>
            <a:ext cx="411480" cy="411480"/>
          </a:xfrm>
          <a:prstGeom prst="ellipse">
            <a:avLst/>
          </a:prstGeom>
          <a:solidFill>
            <a:srgbClr val="FFFFFF"/>
          </a:solidFill>
          <a:ln w="12700">
            <a:solidFill>
              <a:srgbClr val="1F6FFF"/>
            </a:solidFill>
            <a:prstDash val="solid"/>
          </a:ln>
        </p:spPr>
      </p:sp>
      <p:sp>
        <p:nvSpPr>
          <p:cNvPr id="23" name="Text 20"/>
          <p:cNvSpPr/>
          <p:nvPr/>
        </p:nvSpPr>
        <p:spPr>
          <a:xfrm>
            <a:off x="3602736" y="2075688"/>
            <a:ext cx="841248" cy="164592"/>
          </a:xfrm>
          <a:prstGeom prst="rect">
            <a:avLst/>
          </a:prstGeom>
          <a:noFill/>
          <a:ln/>
        </p:spPr>
        <p:txBody>
          <a:bodyPr wrap="square" lIns="0" tIns="0" rIns="0" bIns="0" rtlCol="0" anchor="ctr"/>
          <a:lstStyle/>
          <a:p>
            <a:pPr algn="ctr" indent="0" marL="0">
              <a:buNone/>
            </a:pPr>
            <a:r>
              <a:rPr lang="en-US" sz="1000" b="1" dirty="0">
                <a:solidFill>
                  <a:srgbClr val="102749"/>
                </a:solidFill>
                <a:latin typeface="Aptos Display" pitchFamily="34" charset="0"/>
                <a:ea typeface="Aptos Display" pitchFamily="34" charset="-122"/>
                <a:cs typeface="Aptos Display" pitchFamily="34" charset="-120"/>
              </a:rPr>
              <a:t>Design</a:t>
            </a:r>
            <a:endParaRPr lang="en-US" sz="1000" dirty="0"/>
          </a:p>
        </p:txBody>
      </p:sp>
      <p:sp>
        <p:nvSpPr>
          <p:cNvPr id="24" name="Text 21"/>
          <p:cNvSpPr/>
          <p:nvPr/>
        </p:nvSpPr>
        <p:spPr>
          <a:xfrm>
            <a:off x="3392424" y="3154680"/>
            <a:ext cx="1234440" cy="658368"/>
          </a:xfrm>
          <a:prstGeom prst="rect">
            <a:avLst/>
          </a:prstGeom>
          <a:noFill/>
          <a:ln/>
        </p:spPr>
        <p:txBody>
          <a:bodyPr wrap="square" lIns="254" tIns="254" rIns="254" bIns="254" rtlCol="0" anchor="ctr"/>
          <a:lstStyle/>
          <a:p>
            <a:pPr algn="ctr" indent="0" marL="0">
              <a:buNone/>
            </a:pPr>
            <a:r>
              <a:rPr lang="en-US" sz="820" dirty="0">
                <a:solidFill>
                  <a:srgbClr val="51607B"/>
                </a:solidFill>
                <a:latin typeface="Aptos" pitchFamily="34" charset="0"/>
                <a:ea typeface="Aptos" pitchFamily="34" charset="-122"/>
                <a:cs typeface="Aptos" pitchFamily="34" charset="-120"/>
              </a:rPr>
              <a:t>Define workflow structure, controls, data handoffs, and success criteria.</a:t>
            </a:r>
            <a:endParaRPr lang="en-US" sz="820" dirty="0"/>
          </a:p>
        </p:txBody>
      </p:sp>
      <p:sp>
        <p:nvSpPr>
          <p:cNvPr id="25" name="Shape 22"/>
          <p:cNvSpPr/>
          <p:nvPr/>
        </p:nvSpPr>
        <p:spPr>
          <a:xfrm>
            <a:off x="5285232" y="2615184"/>
            <a:ext cx="411480" cy="411480"/>
          </a:xfrm>
          <a:prstGeom prst="ellipse">
            <a:avLst/>
          </a:prstGeom>
          <a:solidFill>
            <a:srgbClr val="EAF6F4"/>
          </a:solidFill>
          <a:ln w="12700">
            <a:solidFill>
              <a:srgbClr val="1F6FFF"/>
            </a:solidFill>
            <a:prstDash val="solid"/>
          </a:ln>
        </p:spPr>
      </p:sp>
      <p:sp>
        <p:nvSpPr>
          <p:cNvPr id="26" name="Text 23"/>
          <p:cNvSpPr/>
          <p:nvPr/>
        </p:nvSpPr>
        <p:spPr>
          <a:xfrm>
            <a:off x="5084064" y="2075688"/>
            <a:ext cx="841248" cy="164592"/>
          </a:xfrm>
          <a:prstGeom prst="rect">
            <a:avLst/>
          </a:prstGeom>
          <a:noFill/>
          <a:ln/>
        </p:spPr>
        <p:txBody>
          <a:bodyPr wrap="square" lIns="0" tIns="0" rIns="0" bIns="0" rtlCol="0" anchor="ctr"/>
          <a:lstStyle/>
          <a:p>
            <a:pPr algn="ctr" indent="0" marL="0">
              <a:buNone/>
            </a:pPr>
            <a:r>
              <a:rPr lang="en-US" sz="1000" b="1" dirty="0">
                <a:solidFill>
                  <a:srgbClr val="102749"/>
                </a:solidFill>
                <a:latin typeface="Aptos Display" pitchFamily="34" charset="0"/>
                <a:ea typeface="Aptos Display" pitchFamily="34" charset="-122"/>
                <a:cs typeface="Aptos Display" pitchFamily="34" charset="-120"/>
              </a:rPr>
              <a:t>Build</a:t>
            </a:r>
            <a:endParaRPr lang="en-US" sz="1000" dirty="0"/>
          </a:p>
        </p:txBody>
      </p:sp>
      <p:sp>
        <p:nvSpPr>
          <p:cNvPr id="27" name="Text 24"/>
          <p:cNvSpPr/>
          <p:nvPr/>
        </p:nvSpPr>
        <p:spPr>
          <a:xfrm>
            <a:off x="4873752" y="3154680"/>
            <a:ext cx="1234440" cy="658368"/>
          </a:xfrm>
          <a:prstGeom prst="rect">
            <a:avLst/>
          </a:prstGeom>
          <a:noFill/>
          <a:ln/>
        </p:spPr>
        <p:txBody>
          <a:bodyPr wrap="square" lIns="254" tIns="254" rIns="254" bIns="254" rtlCol="0" anchor="ctr"/>
          <a:lstStyle/>
          <a:p>
            <a:pPr algn="ctr" indent="0" marL="0">
              <a:buNone/>
            </a:pPr>
            <a:r>
              <a:rPr lang="en-US" sz="820" dirty="0">
                <a:solidFill>
                  <a:srgbClr val="51607B"/>
                </a:solidFill>
                <a:latin typeface="Aptos" pitchFamily="34" charset="0"/>
                <a:ea typeface="Aptos" pitchFamily="34" charset="-122"/>
                <a:cs typeface="Aptos" pitchFamily="34" charset="-120"/>
              </a:rPr>
              <a:t>Develop modular components with configuration, logging, and recovery.</a:t>
            </a:r>
            <a:endParaRPr lang="en-US" sz="820" dirty="0"/>
          </a:p>
        </p:txBody>
      </p:sp>
      <p:sp>
        <p:nvSpPr>
          <p:cNvPr id="28" name="Shape 25"/>
          <p:cNvSpPr/>
          <p:nvPr/>
        </p:nvSpPr>
        <p:spPr>
          <a:xfrm>
            <a:off x="6766560" y="2615184"/>
            <a:ext cx="411480" cy="411480"/>
          </a:xfrm>
          <a:prstGeom prst="ellipse">
            <a:avLst/>
          </a:prstGeom>
          <a:solidFill>
            <a:srgbClr val="FFFFFF"/>
          </a:solidFill>
          <a:ln w="12700">
            <a:solidFill>
              <a:srgbClr val="1F6FFF"/>
            </a:solidFill>
            <a:prstDash val="solid"/>
          </a:ln>
        </p:spPr>
      </p:sp>
      <p:sp>
        <p:nvSpPr>
          <p:cNvPr id="29" name="Text 26"/>
          <p:cNvSpPr/>
          <p:nvPr/>
        </p:nvSpPr>
        <p:spPr>
          <a:xfrm>
            <a:off x="6565392" y="2075688"/>
            <a:ext cx="841248" cy="164592"/>
          </a:xfrm>
          <a:prstGeom prst="rect">
            <a:avLst/>
          </a:prstGeom>
          <a:noFill/>
          <a:ln/>
        </p:spPr>
        <p:txBody>
          <a:bodyPr wrap="square" lIns="0" tIns="0" rIns="0" bIns="0" rtlCol="0" anchor="ctr"/>
          <a:lstStyle/>
          <a:p>
            <a:pPr algn="ctr" indent="0" marL="0">
              <a:buNone/>
            </a:pPr>
            <a:r>
              <a:rPr lang="en-US" sz="1000" b="1" dirty="0">
                <a:solidFill>
                  <a:srgbClr val="102749"/>
                </a:solidFill>
                <a:latin typeface="Aptos Display" pitchFamily="34" charset="0"/>
                <a:ea typeface="Aptos Display" pitchFamily="34" charset="-122"/>
                <a:cs typeface="Aptos Display" pitchFamily="34" charset="-120"/>
              </a:rPr>
              <a:t>Test</a:t>
            </a:r>
            <a:endParaRPr lang="en-US" sz="1000" dirty="0"/>
          </a:p>
        </p:txBody>
      </p:sp>
      <p:sp>
        <p:nvSpPr>
          <p:cNvPr id="30" name="Text 27"/>
          <p:cNvSpPr/>
          <p:nvPr/>
        </p:nvSpPr>
        <p:spPr>
          <a:xfrm>
            <a:off x="6355080" y="3154680"/>
            <a:ext cx="1234440" cy="658368"/>
          </a:xfrm>
          <a:prstGeom prst="rect">
            <a:avLst/>
          </a:prstGeom>
          <a:noFill/>
          <a:ln/>
        </p:spPr>
        <p:txBody>
          <a:bodyPr wrap="square" lIns="254" tIns="254" rIns="254" bIns="254" rtlCol="0" anchor="ctr"/>
          <a:lstStyle/>
          <a:p>
            <a:pPr algn="ctr" indent="0" marL="0">
              <a:buNone/>
            </a:pPr>
            <a:r>
              <a:rPr lang="en-US" sz="820" dirty="0">
                <a:solidFill>
                  <a:srgbClr val="51607B"/>
                </a:solidFill>
                <a:latin typeface="Aptos" pitchFamily="34" charset="0"/>
                <a:ea typeface="Aptos" pitchFamily="34" charset="-122"/>
                <a:cs typeface="Aptos" pitchFamily="34" charset="-120"/>
              </a:rPr>
              <a:t>Validate paths, outputs, exception handling, and user acceptance.</a:t>
            </a:r>
            <a:endParaRPr lang="en-US" sz="820" dirty="0"/>
          </a:p>
        </p:txBody>
      </p:sp>
      <p:sp>
        <p:nvSpPr>
          <p:cNvPr id="31" name="Shape 28"/>
          <p:cNvSpPr/>
          <p:nvPr/>
        </p:nvSpPr>
        <p:spPr>
          <a:xfrm>
            <a:off x="8247888" y="2615184"/>
            <a:ext cx="411480" cy="411480"/>
          </a:xfrm>
          <a:prstGeom prst="ellipse">
            <a:avLst/>
          </a:prstGeom>
          <a:solidFill>
            <a:srgbClr val="EAF6F4"/>
          </a:solidFill>
          <a:ln w="12700">
            <a:solidFill>
              <a:srgbClr val="1F6FFF"/>
            </a:solidFill>
            <a:prstDash val="solid"/>
          </a:ln>
        </p:spPr>
      </p:sp>
      <p:sp>
        <p:nvSpPr>
          <p:cNvPr id="32" name="Text 29"/>
          <p:cNvSpPr/>
          <p:nvPr/>
        </p:nvSpPr>
        <p:spPr>
          <a:xfrm>
            <a:off x="8046720" y="2075688"/>
            <a:ext cx="841248" cy="164592"/>
          </a:xfrm>
          <a:prstGeom prst="rect">
            <a:avLst/>
          </a:prstGeom>
          <a:noFill/>
          <a:ln/>
        </p:spPr>
        <p:txBody>
          <a:bodyPr wrap="square" lIns="0" tIns="0" rIns="0" bIns="0" rtlCol="0" anchor="ctr"/>
          <a:lstStyle/>
          <a:p>
            <a:pPr algn="ctr" indent="0" marL="0">
              <a:buNone/>
            </a:pPr>
            <a:r>
              <a:rPr lang="en-US" sz="1000" b="1" dirty="0">
                <a:solidFill>
                  <a:srgbClr val="102749"/>
                </a:solidFill>
                <a:latin typeface="Aptos Display" pitchFamily="34" charset="0"/>
                <a:ea typeface="Aptos Display" pitchFamily="34" charset="-122"/>
                <a:cs typeface="Aptos Display" pitchFamily="34" charset="-120"/>
              </a:rPr>
              <a:t>Deploy</a:t>
            </a:r>
            <a:endParaRPr lang="en-US" sz="1000" dirty="0"/>
          </a:p>
        </p:txBody>
      </p:sp>
      <p:sp>
        <p:nvSpPr>
          <p:cNvPr id="33" name="Text 30"/>
          <p:cNvSpPr/>
          <p:nvPr/>
        </p:nvSpPr>
        <p:spPr>
          <a:xfrm>
            <a:off x="7836408" y="3154680"/>
            <a:ext cx="1234440" cy="658368"/>
          </a:xfrm>
          <a:prstGeom prst="rect">
            <a:avLst/>
          </a:prstGeom>
          <a:noFill/>
          <a:ln/>
        </p:spPr>
        <p:txBody>
          <a:bodyPr wrap="square" lIns="254" tIns="254" rIns="254" bIns="254" rtlCol="0" anchor="ctr"/>
          <a:lstStyle/>
          <a:p>
            <a:pPr algn="ctr" indent="0" marL="0">
              <a:buNone/>
            </a:pPr>
            <a:r>
              <a:rPr lang="en-US" sz="820" dirty="0">
                <a:solidFill>
                  <a:srgbClr val="51607B"/>
                </a:solidFill>
                <a:latin typeface="Aptos" pitchFamily="34" charset="0"/>
                <a:ea typeface="Aptos" pitchFamily="34" charset="-122"/>
                <a:cs typeface="Aptos" pitchFamily="34" charset="-120"/>
              </a:rPr>
              <a:t>Move into controlled operation with schedules, credentials, and support setup.</a:t>
            </a:r>
            <a:endParaRPr lang="en-US" sz="820" dirty="0"/>
          </a:p>
        </p:txBody>
      </p:sp>
      <p:sp>
        <p:nvSpPr>
          <p:cNvPr id="34" name="Shape 31"/>
          <p:cNvSpPr/>
          <p:nvPr/>
        </p:nvSpPr>
        <p:spPr>
          <a:xfrm>
            <a:off x="9729216" y="2615184"/>
            <a:ext cx="411480" cy="411480"/>
          </a:xfrm>
          <a:prstGeom prst="ellipse">
            <a:avLst/>
          </a:prstGeom>
          <a:solidFill>
            <a:srgbClr val="FFFFFF"/>
          </a:solidFill>
          <a:ln w="12700">
            <a:solidFill>
              <a:srgbClr val="1F6FFF"/>
            </a:solidFill>
            <a:prstDash val="solid"/>
          </a:ln>
        </p:spPr>
      </p:sp>
      <p:sp>
        <p:nvSpPr>
          <p:cNvPr id="35" name="Text 32"/>
          <p:cNvSpPr/>
          <p:nvPr/>
        </p:nvSpPr>
        <p:spPr>
          <a:xfrm>
            <a:off x="9528048" y="2075688"/>
            <a:ext cx="841248" cy="164592"/>
          </a:xfrm>
          <a:prstGeom prst="rect">
            <a:avLst/>
          </a:prstGeom>
          <a:noFill/>
          <a:ln/>
        </p:spPr>
        <p:txBody>
          <a:bodyPr wrap="square" lIns="0" tIns="0" rIns="0" bIns="0" rtlCol="0" anchor="ctr"/>
          <a:lstStyle/>
          <a:p>
            <a:pPr algn="ctr" indent="0" marL="0">
              <a:buNone/>
            </a:pPr>
            <a:r>
              <a:rPr lang="en-US" sz="1000" b="1" dirty="0">
                <a:solidFill>
                  <a:srgbClr val="102749"/>
                </a:solidFill>
                <a:latin typeface="Aptos Display" pitchFamily="34" charset="0"/>
                <a:ea typeface="Aptos Display" pitchFamily="34" charset="-122"/>
                <a:cs typeface="Aptos Display" pitchFamily="34" charset="-120"/>
              </a:rPr>
              <a:t>Operate</a:t>
            </a:r>
            <a:endParaRPr lang="en-US" sz="1000" dirty="0"/>
          </a:p>
        </p:txBody>
      </p:sp>
      <p:sp>
        <p:nvSpPr>
          <p:cNvPr id="36" name="Text 33"/>
          <p:cNvSpPr/>
          <p:nvPr/>
        </p:nvSpPr>
        <p:spPr>
          <a:xfrm>
            <a:off x="9317736" y="3154680"/>
            <a:ext cx="1234440" cy="658368"/>
          </a:xfrm>
          <a:prstGeom prst="rect">
            <a:avLst/>
          </a:prstGeom>
          <a:noFill/>
          <a:ln/>
        </p:spPr>
        <p:txBody>
          <a:bodyPr wrap="square" lIns="254" tIns="254" rIns="254" bIns="254" rtlCol="0" anchor="ctr"/>
          <a:lstStyle/>
          <a:p>
            <a:pPr algn="ctr" indent="0" marL="0">
              <a:buNone/>
            </a:pPr>
            <a:r>
              <a:rPr lang="en-US" sz="820" dirty="0">
                <a:solidFill>
                  <a:srgbClr val="51607B"/>
                </a:solidFill>
                <a:latin typeface="Aptos" pitchFamily="34" charset="0"/>
                <a:ea typeface="Aptos" pitchFamily="34" charset="-122"/>
                <a:cs typeface="Aptos" pitchFamily="34" charset="-120"/>
              </a:rPr>
              <a:t>Monitor, review, tune, and improve based on performance and exception trends.</a:t>
            </a:r>
            <a:endParaRPr lang="en-US" sz="820" dirty="0"/>
          </a:p>
        </p:txBody>
      </p:sp>
      <p:sp>
        <p:nvSpPr>
          <p:cNvPr id="37" name="Shape 34"/>
          <p:cNvSpPr/>
          <p:nvPr/>
        </p:nvSpPr>
        <p:spPr>
          <a:xfrm>
            <a:off x="749808" y="4983480"/>
            <a:ext cx="10744200" cy="868680"/>
          </a:xfrm>
          <a:prstGeom prst="roundRect">
            <a:avLst>
              <a:gd name="adj" fmla="val 5263"/>
            </a:avLst>
          </a:prstGeom>
          <a:solidFill>
            <a:srgbClr val="FFFFFF"/>
          </a:solidFill>
          <a:ln w="12700">
            <a:solidFill>
              <a:srgbClr val="C7D5EA"/>
            </a:solidFill>
            <a:prstDash val="solid"/>
          </a:ln>
        </p:spPr>
      </p:sp>
      <p:sp>
        <p:nvSpPr>
          <p:cNvPr id="38" name="Shape 35"/>
          <p:cNvSpPr/>
          <p:nvPr/>
        </p:nvSpPr>
        <p:spPr>
          <a:xfrm>
            <a:off x="932688" y="5239512"/>
            <a:ext cx="100584" cy="100584"/>
          </a:xfrm>
          <a:prstGeom prst="ellipse">
            <a:avLst/>
          </a:prstGeom>
          <a:solidFill>
            <a:srgbClr val="1F6FFF"/>
          </a:solidFill>
          <a:ln w="12700">
            <a:solidFill>
              <a:srgbClr val="1F6FFF">
                <a:alpha val="0"/>
              </a:srgbClr>
            </a:solidFill>
            <a:prstDash val="solid"/>
          </a:ln>
        </p:spPr>
      </p:sp>
      <p:sp>
        <p:nvSpPr>
          <p:cNvPr id="39" name="Text 36"/>
          <p:cNvSpPr/>
          <p:nvPr/>
        </p:nvSpPr>
        <p:spPr>
          <a:xfrm>
            <a:off x="1097280" y="5166360"/>
            <a:ext cx="10332720"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Business involvement does not stop when build begins</a:t>
            </a:r>
            <a:endParaRPr lang="en-US" sz="965" dirty="0"/>
          </a:p>
        </p:txBody>
      </p:sp>
      <p:sp>
        <p:nvSpPr>
          <p:cNvPr id="40" name="Shape 37"/>
          <p:cNvSpPr/>
          <p:nvPr/>
        </p:nvSpPr>
        <p:spPr>
          <a:xfrm>
            <a:off x="932688" y="5449824"/>
            <a:ext cx="100584" cy="100584"/>
          </a:xfrm>
          <a:prstGeom prst="ellipse">
            <a:avLst/>
          </a:prstGeom>
          <a:solidFill>
            <a:srgbClr val="1F6FFF"/>
          </a:solidFill>
          <a:ln w="12700">
            <a:solidFill>
              <a:srgbClr val="1F6FFF">
                <a:alpha val="0"/>
              </a:srgbClr>
            </a:solidFill>
            <a:prstDash val="solid"/>
          </a:ln>
        </p:spPr>
      </p:sp>
      <p:sp>
        <p:nvSpPr>
          <p:cNvPr id="41" name="Text 38"/>
          <p:cNvSpPr/>
          <p:nvPr/>
        </p:nvSpPr>
        <p:spPr>
          <a:xfrm>
            <a:off x="1097280" y="5376672"/>
            <a:ext cx="10332720"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Success criteria should be visible before go-live, not invented after deployment</a:t>
            </a:r>
            <a:endParaRPr lang="en-US" sz="965" dirty="0"/>
          </a:p>
        </p:txBody>
      </p:sp>
      <p:sp>
        <p:nvSpPr>
          <p:cNvPr id="42" name="Shape 39"/>
          <p:cNvSpPr/>
          <p:nvPr/>
        </p:nvSpPr>
        <p:spPr>
          <a:xfrm>
            <a:off x="932688" y="5660136"/>
            <a:ext cx="100584" cy="100584"/>
          </a:xfrm>
          <a:prstGeom prst="ellipse">
            <a:avLst/>
          </a:prstGeom>
          <a:solidFill>
            <a:srgbClr val="1F6FFF"/>
          </a:solidFill>
          <a:ln w="12700">
            <a:solidFill>
              <a:srgbClr val="1F6FFF">
                <a:alpha val="0"/>
              </a:srgbClr>
            </a:solidFill>
            <a:prstDash val="solid"/>
          </a:ln>
        </p:spPr>
      </p:sp>
      <p:sp>
        <p:nvSpPr>
          <p:cNvPr id="43" name="Text 40"/>
          <p:cNvSpPr/>
          <p:nvPr/>
        </p:nvSpPr>
        <p:spPr>
          <a:xfrm>
            <a:off x="1097280" y="5586984"/>
            <a:ext cx="10332720"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Monitoring and reporting are part of delivery, not a separate optional step</a:t>
            </a:r>
            <a:endParaRPr lang="en-US" sz="965" dirty="0"/>
          </a:p>
        </p:txBody>
      </p:sp>
      <p:sp>
        <p:nvSpPr>
          <p:cNvPr id="44" name="Text 41"/>
          <p:cNvSpPr/>
          <p:nvPr/>
        </p:nvSpPr>
        <p:spPr>
          <a:xfrm>
            <a:off x="658368" y="6510528"/>
            <a:ext cx="2560320" cy="164592"/>
          </a:xfrm>
          <a:prstGeom prst="rect">
            <a:avLst/>
          </a:prstGeom>
          <a:noFill/>
          <a:ln/>
        </p:spPr>
        <p:txBody>
          <a:bodyPr wrap="square" lIns="0" tIns="0" rIns="0" bIns="0" rtlCol="0" anchor="ctr"/>
          <a:lstStyle/>
          <a:p>
            <a:pPr indent="0" marL="0">
              <a:buNone/>
            </a:pPr>
            <a:r>
              <a:rPr lang="en-US" sz="850" dirty="0">
                <a:solidFill>
                  <a:srgbClr val="51607B"/>
                </a:solidFill>
                <a:latin typeface="Aptos" pitchFamily="34" charset="0"/>
                <a:ea typeface="Aptos" pitchFamily="34" charset="-122"/>
                <a:cs typeface="Aptos" pitchFamily="34" charset="-120"/>
              </a:rPr>
              <a:t>Innobot  |  Internal workshop</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F4F7FB"/>
          </a:solidFill>
          <a:ln/>
        </p:spPr>
      </p:sp>
      <p:sp>
        <p:nvSpPr>
          <p:cNvPr id="4" name="Shape 1"/>
          <p:cNvSpPr/>
          <p:nvPr/>
        </p:nvSpPr>
        <p:spPr>
          <a:xfrm>
            <a:off x="0" y="0"/>
            <a:ext cx="12191695" cy="411480"/>
          </a:xfrm>
          <a:prstGeom prst="rect">
            <a:avLst/>
          </a:prstGeom>
          <a:solidFill>
            <a:srgbClr val="0A1830"/>
          </a:solidFill>
          <a:ln/>
        </p:spPr>
      </p:sp>
      <p:sp>
        <p:nvSpPr>
          <p:cNvPr id="5" name="Shape 2"/>
          <p:cNvSpPr/>
          <p:nvPr/>
        </p:nvSpPr>
        <p:spPr>
          <a:xfrm>
            <a:off x="9509760" y="-137160"/>
            <a:ext cx="3200400" cy="2194560"/>
          </a:xfrm>
          <a:prstGeom prst="ellipse">
            <a:avLst/>
          </a:prstGeom>
          <a:solidFill>
            <a:srgbClr val="8AB8FF">
              <a:alpha val="16000"/>
            </a:srgbClr>
          </a:solidFill>
          <a:ln w="12700">
            <a:solidFill>
              <a:srgbClr val="8AB8FF">
                <a:alpha val="0"/>
              </a:srgbClr>
            </a:solidFill>
            <a:prstDash val="solid"/>
          </a:ln>
        </p:spPr>
      </p:sp>
      <p:sp>
        <p:nvSpPr>
          <p:cNvPr id="6" name="Shape 3"/>
          <p:cNvSpPr/>
          <p:nvPr/>
        </p:nvSpPr>
        <p:spPr>
          <a:xfrm>
            <a:off x="-731520" y="5394960"/>
            <a:ext cx="2560320" cy="1645920"/>
          </a:xfrm>
          <a:prstGeom prst="ellipse">
            <a:avLst/>
          </a:prstGeom>
          <a:solidFill>
            <a:srgbClr val="12B3A8">
              <a:alpha val="10000"/>
            </a:srgbClr>
          </a:solidFill>
          <a:ln w="12700">
            <a:solidFill>
              <a:srgbClr val="12B3A8">
                <a:alpha val="0"/>
              </a:srgbClr>
            </a:solidFill>
            <a:prstDash val="solid"/>
          </a:ln>
        </p:spPr>
      </p:sp>
      <p:sp>
        <p:nvSpPr>
          <p:cNvPr id="7" name="Text 4"/>
          <p:cNvSpPr/>
          <p:nvPr/>
        </p:nvSpPr>
        <p:spPr>
          <a:xfrm>
            <a:off x="658368" y="182880"/>
            <a:ext cx="2651760" cy="146304"/>
          </a:xfrm>
          <a:prstGeom prst="rect">
            <a:avLst/>
          </a:prstGeom>
          <a:noFill/>
          <a:ln/>
        </p:spPr>
        <p:txBody>
          <a:bodyPr wrap="square" lIns="0" tIns="0" rIns="0" bIns="0" rtlCol="0" anchor="ctr"/>
          <a:lstStyle/>
          <a:p>
            <a:pPr indent="0" marL="0">
              <a:buNone/>
            </a:pPr>
            <a:r>
              <a:rPr lang="en-US" sz="850" b="1" dirty="0">
                <a:solidFill>
                  <a:srgbClr val="8AB8FF"/>
                </a:solidFill>
                <a:latin typeface="Aptos" pitchFamily="34" charset="0"/>
                <a:ea typeface="Aptos" pitchFamily="34" charset="-122"/>
                <a:cs typeface="Aptos" pitchFamily="34" charset="-120"/>
              </a:rPr>
              <a:t>DELIVERY AND GOVERNANCE</a:t>
            </a:r>
            <a:endParaRPr lang="en-US" sz="850" dirty="0"/>
          </a:p>
        </p:txBody>
      </p:sp>
      <p:sp>
        <p:nvSpPr>
          <p:cNvPr id="8" name="Text 5"/>
          <p:cNvSpPr/>
          <p:nvPr/>
        </p:nvSpPr>
        <p:spPr>
          <a:xfrm>
            <a:off x="658368" y="612648"/>
            <a:ext cx="7223760" cy="411480"/>
          </a:xfrm>
          <a:prstGeom prst="rect">
            <a:avLst/>
          </a:prstGeom>
          <a:noFill/>
          <a:ln/>
        </p:spPr>
        <p:txBody>
          <a:bodyPr wrap="square" lIns="0" tIns="0" rIns="0" bIns="0" rtlCol="0" anchor="ctr"/>
          <a:lstStyle/>
          <a:p>
            <a:pPr indent="0" marL="0">
              <a:buNone/>
            </a:pPr>
            <a:r>
              <a:rPr lang="en-US" sz="2400" b="1" dirty="0">
                <a:solidFill>
                  <a:srgbClr val="102749"/>
                </a:solidFill>
                <a:latin typeface="Aptos Display" pitchFamily="34" charset="0"/>
                <a:ea typeface="Aptos Display" pitchFamily="34" charset="-122"/>
                <a:cs typeface="Aptos Display" pitchFamily="34" charset="-120"/>
              </a:rPr>
              <a:t>BA Role Across the Lifecycle</a:t>
            </a:r>
            <a:endParaRPr lang="en-US" sz="2400" dirty="0"/>
          </a:p>
        </p:txBody>
      </p:sp>
      <p:sp>
        <p:nvSpPr>
          <p:cNvPr id="9" name="Text 6"/>
          <p:cNvSpPr/>
          <p:nvPr/>
        </p:nvSpPr>
        <p:spPr>
          <a:xfrm>
            <a:off x="658368" y="1069848"/>
            <a:ext cx="7863840" cy="310896"/>
          </a:xfrm>
          <a:prstGeom prst="rect">
            <a:avLst/>
          </a:prstGeom>
          <a:noFill/>
          <a:ln/>
        </p:spPr>
        <p:txBody>
          <a:bodyPr wrap="square" lIns="0" tIns="0" rIns="0" bIns="0" rtlCol="0" anchor="ctr"/>
          <a:lstStyle/>
          <a:p>
            <a:pPr indent="0" marL="0">
              <a:buNone/>
            </a:pPr>
            <a:r>
              <a:rPr lang="en-US" sz="1100" dirty="0">
                <a:solidFill>
                  <a:srgbClr val="51607B"/>
                </a:solidFill>
                <a:latin typeface="Aptos" pitchFamily="34" charset="0"/>
                <a:ea typeface="Aptos" pitchFamily="34" charset="-122"/>
                <a:cs typeface="Aptos" pitchFamily="34" charset="-120"/>
              </a:rPr>
              <a:t>The BA anchors process truth, rule clarity, validation criteria, and operational readiness</a:t>
            </a:r>
            <a:endParaRPr lang="en-US" sz="1100" dirty="0"/>
          </a:p>
        </p:txBody>
      </p:sp>
      <p:sp>
        <p:nvSpPr>
          <p:cNvPr id="10" name="Text 7"/>
          <p:cNvSpPr/>
          <p:nvPr/>
        </p:nvSpPr>
        <p:spPr>
          <a:xfrm>
            <a:off x="11155680" y="530352"/>
            <a:ext cx="365760" cy="201168"/>
          </a:xfrm>
          <a:prstGeom prst="rect">
            <a:avLst/>
          </a:prstGeom>
          <a:noFill/>
          <a:ln/>
        </p:spPr>
        <p:txBody>
          <a:bodyPr wrap="square" lIns="0" tIns="0" rIns="0" bIns="0" rtlCol="0" anchor="ctr"/>
          <a:lstStyle/>
          <a:p>
            <a:pPr algn="r" indent="0" marL="0">
              <a:buNone/>
            </a:pPr>
            <a:r>
              <a:rPr lang="en-US" sz="950" dirty="0">
                <a:solidFill>
                  <a:srgbClr val="51607B"/>
                </a:solidFill>
                <a:latin typeface="Consolas" pitchFamily="34" charset="0"/>
                <a:ea typeface="Consolas" pitchFamily="34" charset="-122"/>
                <a:cs typeface="Consolas" pitchFamily="34" charset="-120"/>
              </a:rPr>
              <a:t>15</a:t>
            </a:r>
            <a:endParaRPr lang="en-US" sz="950" dirty="0"/>
          </a:p>
        </p:txBody>
      </p:sp>
      <p:sp>
        <p:nvSpPr>
          <p:cNvPr id="11" name="Shape 8"/>
          <p:cNvSpPr/>
          <p:nvPr/>
        </p:nvSpPr>
        <p:spPr>
          <a:xfrm>
            <a:off x="8366760" y="676656"/>
            <a:ext cx="3154680" cy="822960"/>
          </a:xfrm>
          <a:prstGeom prst="roundRect">
            <a:avLst>
              <a:gd name="adj" fmla="val 8889"/>
            </a:avLst>
          </a:prstGeom>
          <a:solidFill>
            <a:srgbClr val="FFFFFF"/>
          </a:solidFill>
          <a:ln w="12700">
            <a:solidFill>
              <a:srgbClr val="12B3A8">
                <a:alpha val="0"/>
              </a:srgbClr>
            </a:solidFill>
            <a:prstDash val="solid"/>
          </a:ln>
        </p:spPr>
      </p:sp>
      <p:sp>
        <p:nvSpPr>
          <p:cNvPr id="12" name="Shape 9"/>
          <p:cNvSpPr/>
          <p:nvPr/>
        </p:nvSpPr>
        <p:spPr>
          <a:xfrm>
            <a:off x="8366760" y="676656"/>
            <a:ext cx="73152" cy="822960"/>
          </a:xfrm>
          <a:prstGeom prst="rect">
            <a:avLst/>
          </a:prstGeom>
          <a:solidFill>
            <a:srgbClr val="12B3A8"/>
          </a:solidFill>
          <a:ln w="12700">
            <a:solidFill>
              <a:srgbClr val="12B3A8">
                <a:alpha val="0"/>
              </a:srgbClr>
            </a:solidFill>
            <a:prstDash val="solid"/>
          </a:ln>
        </p:spPr>
      </p:sp>
      <p:sp>
        <p:nvSpPr>
          <p:cNvPr id="13" name="Text 10"/>
          <p:cNvSpPr/>
          <p:nvPr/>
        </p:nvSpPr>
        <p:spPr>
          <a:xfrm>
            <a:off x="8531352" y="786384"/>
            <a:ext cx="1097280" cy="164592"/>
          </a:xfrm>
          <a:prstGeom prst="rect">
            <a:avLst/>
          </a:prstGeom>
          <a:noFill/>
          <a:ln/>
        </p:spPr>
        <p:txBody>
          <a:bodyPr wrap="square" lIns="0" tIns="0" rIns="0" bIns="0" rtlCol="0" anchor="ctr"/>
          <a:lstStyle/>
          <a:p>
            <a:pPr indent="0" marL="0">
              <a:buNone/>
            </a:pPr>
            <a:r>
              <a:rPr lang="en-US" sz="800" b="1" dirty="0">
                <a:solidFill>
                  <a:srgbClr val="12B3A8"/>
                </a:solidFill>
                <a:latin typeface="Aptos" pitchFamily="34" charset="0"/>
                <a:ea typeface="Aptos" pitchFamily="34" charset="-122"/>
                <a:cs typeface="Aptos" pitchFamily="34" charset="-120"/>
              </a:rPr>
              <a:t>Key takeaway</a:t>
            </a:r>
            <a:endParaRPr lang="en-US" sz="800" dirty="0"/>
          </a:p>
        </p:txBody>
      </p:sp>
      <p:sp>
        <p:nvSpPr>
          <p:cNvPr id="14" name="Text 11"/>
          <p:cNvSpPr/>
          <p:nvPr/>
        </p:nvSpPr>
        <p:spPr>
          <a:xfrm>
            <a:off x="8531352" y="932688"/>
            <a:ext cx="2880360" cy="521208"/>
          </a:xfrm>
          <a:prstGeom prst="rect">
            <a:avLst/>
          </a:prstGeom>
          <a:noFill/>
          <a:ln/>
        </p:spPr>
        <p:txBody>
          <a:bodyPr wrap="square" lIns="254" tIns="254" rIns="254" bIns="254" rtlCol="0" anchor="ctr"/>
          <a:lstStyle/>
          <a:p>
            <a:pPr indent="0" marL="0">
              <a:buNone/>
            </a:pPr>
            <a:r>
              <a:rPr lang="en-US" sz="920" dirty="0">
                <a:solidFill>
                  <a:srgbClr val="102749"/>
                </a:solidFill>
                <a:latin typeface="Aptos" pitchFamily="34" charset="0"/>
                <a:ea typeface="Aptos" pitchFamily="34" charset="-122"/>
                <a:cs typeface="Aptos" pitchFamily="34" charset="-120"/>
              </a:rPr>
              <a:t>Automation quality improves when the BA stays engaged from assessment through go-live review rather than handing off early and disappearing.</a:t>
            </a:r>
            <a:endParaRPr lang="en-US" sz="920" dirty="0"/>
          </a:p>
        </p:txBody>
      </p:sp>
      <p:sp>
        <p:nvSpPr>
          <p:cNvPr id="15" name="Shape 12"/>
          <p:cNvSpPr/>
          <p:nvPr/>
        </p:nvSpPr>
        <p:spPr>
          <a:xfrm>
            <a:off x="749808" y="1783080"/>
            <a:ext cx="1737360" cy="502920"/>
          </a:xfrm>
          <a:prstGeom prst="roundRect">
            <a:avLst>
              <a:gd name="adj" fmla="val 9091"/>
            </a:avLst>
          </a:prstGeom>
          <a:solidFill>
            <a:srgbClr val="0A1830"/>
          </a:solidFill>
          <a:ln w="12700">
            <a:solidFill>
              <a:srgbClr val="0A1830">
                <a:alpha val="0"/>
              </a:srgbClr>
            </a:solidFill>
            <a:prstDash val="solid"/>
          </a:ln>
        </p:spPr>
      </p:sp>
      <p:sp>
        <p:nvSpPr>
          <p:cNvPr id="16" name="Text 13"/>
          <p:cNvSpPr/>
          <p:nvPr/>
        </p:nvSpPr>
        <p:spPr>
          <a:xfrm>
            <a:off x="749808" y="1929384"/>
            <a:ext cx="1737360" cy="146304"/>
          </a:xfrm>
          <a:prstGeom prst="rect">
            <a:avLst/>
          </a:prstGeom>
          <a:noFill/>
          <a:ln/>
        </p:spPr>
        <p:txBody>
          <a:bodyPr wrap="square" lIns="0" tIns="0" rIns="0" bIns="0" rtlCol="0" anchor="ctr"/>
          <a:lstStyle/>
          <a:p>
            <a:pPr algn="ctr" indent="0" marL="0">
              <a:buNone/>
            </a:pPr>
            <a:r>
              <a:rPr lang="en-US" sz="920" b="1" dirty="0">
                <a:solidFill>
                  <a:srgbClr val="FFFFFF"/>
                </a:solidFill>
                <a:latin typeface="Aptos" pitchFamily="34" charset="0"/>
                <a:ea typeface="Aptos" pitchFamily="34" charset="-122"/>
                <a:cs typeface="Aptos" pitchFamily="34" charset="-120"/>
              </a:rPr>
              <a:t>Assess</a:t>
            </a:r>
            <a:endParaRPr lang="en-US" sz="920" dirty="0"/>
          </a:p>
        </p:txBody>
      </p:sp>
      <p:sp>
        <p:nvSpPr>
          <p:cNvPr id="17" name="Shape 14"/>
          <p:cNvSpPr/>
          <p:nvPr/>
        </p:nvSpPr>
        <p:spPr>
          <a:xfrm>
            <a:off x="2779776" y="1783080"/>
            <a:ext cx="1737360" cy="502920"/>
          </a:xfrm>
          <a:prstGeom prst="roundRect">
            <a:avLst>
              <a:gd name="adj" fmla="val 9091"/>
            </a:avLst>
          </a:prstGeom>
          <a:solidFill>
            <a:srgbClr val="102749"/>
          </a:solidFill>
          <a:ln w="12700">
            <a:solidFill>
              <a:srgbClr val="0A1830">
                <a:alpha val="0"/>
              </a:srgbClr>
            </a:solidFill>
            <a:prstDash val="solid"/>
          </a:ln>
        </p:spPr>
      </p:sp>
      <p:sp>
        <p:nvSpPr>
          <p:cNvPr id="18" name="Text 15"/>
          <p:cNvSpPr/>
          <p:nvPr/>
        </p:nvSpPr>
        <p:spPr>
          <a:xfrm>
            <a:off x="2779776" y="1929384"/>
            <a:ext cx="1737360" cy="146304"/>
          </a:xfrm>
          <a:prstGeom prst="rect">
            <a:avLst/>
          </a:prstGeom>
          <a:noFill/>
          <a:ln/>
        </p:spPr>
        <p:txBody>
          <a:bodyPr wrap="square" lIns="0" tIns="0" rIns="0" bIns="0" rtlCol="0" anchor="ctr"/>
          <a:lstStyle/>
          <a:p>
            <a:pPr algn="ctr" indent="0" marL="0">
              <a:buNone/>
            </a:pPr>
            <a:r>
              <a:rPr lang="en-US" sz="920" b="1" dirty="0">
                <a:solidFill>
                  <a:srgbClr val="FFFFFF"/>
                </a:solidFill>
                <a:latin typeface="Aptos" pitchFamily="34" charset="0"/>
                <a:ea typeface="Aptos" pitchFamily="34" charset="-122"/>
                <a:cs typeface="Aptos" pitchFamily="34" charset="-120"/>
              </a:rPr>
              <a:t>Design</a:t>
            </a:r>
            <a:endParaRPr lang="en-US" sz="920" dirty="0"/>
          </a:p>
        </p:txBody>
      </p:sp>
      <p:sp>
        <p:nvSpPr>
          <p:cNvPr id="19" name="Shape 16"/>
          <p:cNvSpPr/>
          <p:nvPr/>
        </p:nvSpPr>
        <p:spPr>
          <a:xfrm>
            <a:off x="4809744" y="1783080"/>
            <a:ext cx="1737360" cy="502920"/>
          </a:xfrm>
          <a:prstGeom prst="roundRect">
            <a:avLst>
              <a:gd name="adj" fmla="val 9091"/>
            </a:avLst>
          </a:prstGeom>
          <a:solidFill>
            <a:srgbClr val="0A1830"/>
          </a:solidFill>
          <a:ln w="12700">
            <a:solidFill>
              <a:srgbClr val="0A1830">
                <a:alpha val="0"/>
              </a:srgbClr>
            </a:solidFill>
            <a:prstDash val="solid"/>
          </a:ln>
        </p:spPr>
      </p:sp>
      <p:sp>
        <p:nvSpPr>
          <p:cNvPr id="20" name="Text 17"/>
          <p:cNvSpPr/>
          <p:nvPr/>
        </p:nvSpPr>
        <p:spPr>
          <a:xfrm>
            <a:off x="4809744" y="1929384"/>
            <a:ext cx="1737360" cy="146304"/>
          </a:xfrm>
          <a:prstGeom prst="rect">
            <a:avLst/>
          </a:prstGeom>
          <a:noFill/>
          <a:ln/>
        </p:spPr>
        <p:txBody>
          <a:bodyPr wrap="square" lIns="0" tIns="0" rIns="0" bIns="0" rtlCol="0" anchor="ctr"/>
          <a:lstStyle/>
          <a:p>
            <a:pPr algn="ctr" indent="0" marL="0">
              <a:buNone/>
            </a:pPr>
            <a:r>
              <a:rPr lang="en-US" sz="920" b="1" dirty="0">
                <a:solidFill>
                  <a:srgbClr val="FFFFFF"/>
                </a:solidFill>
                <a:latin typeface="Aptos" pitchFamily="34" charset="0"/>
                <a:ea typeface="Aptos" pitchFamily="34" charset="-122"/>
                <a:cs typeface="Aptos" pitchFamily="34" charset="-120"/>
              </a:rPr>
              <a:t>Build</a:t>
            </a:r>
            <a:endParaRPr lang="en-US" sz="920" dirty="0"/>
          </a:p>
        </p:txBody>
      </p:sp>
      <p:sp>
        <p:nvSpPr>
          <p:cNvPr id="21" name="Shape 18"/>
          <p:cNvSpPr/>
          <p:nvPr/>
        </p:nvSpPr>
        <p:spPr>
          <a:xfrm>
            <a:off x="6839712" y="1783080"/>
            <a:ext cx="1737360" cy="502920"/>
          </a:xfrm>
          <a:prstGeom prst="roundRect">
            <a:avLst>
              <a:gd name="adj" fmla="val 9091"/>
            </a:avLst>
          </a:prstGeom>
          <a:solidFill>
            <a:srgbClr val="102749"/>
          </a:solidFill>
          <a:ln w="12700">
            <a:solidFill>
              <a:srgbClr val="0A1830">
                <a:alpha val="0"/>
              </a:srgbClr>
            </a:solidFill>
            <a:prstDash val="solid"/>
          </a:ln>
        </p:spPr>
      </p:sp>
      <p:sp>
        <p:nvSpPr>
          <p:cNvPr id="22" name="Text 19"/>
          <p:cNvSpPr/>
          <p:nvPr/>
        </p:nvSpPr>
        <p:spPr>
          <a:xfrm>
            <a:off x="6839712" y="1929384"/>
            <a:ext cx="1737360" cy="146304"/>
          </a:xfrm>
          <a:prstGeom prst="rect">
            <a:avLst/>
          </a:prstGeom>
          <a:noFill/>
          <a:ln/>
        </p:spPr>
        <p:txBody>
          <a:bodyPr wrap="square" lIns="0" tIns="0" rIns="0" bIns="0" rtlCol="0" anchor="ctr"/>
          <a:lstStyle/>
          <a:p>
            <a:pPr algn="ctr" indent="0" marL="0">
              <a:buNone/>
            </a:pPr>
            <a:r>
              <a:rPr lang="en-US" sz="920" b="1" dirty="0">
                <a:solidFill>
                  <a:srgbClr val="FFFFFF"/>
                </a:solidFill>
                <a:latin typeface="Aptos" pitchFamily="34" charset="0"/>
                <a:ea typeface="Aptos" pitchFamily="34" charset="-122"/>
                <a:cs typeface="Aptos" pitchFamily="34" charset="-120"/>
              </a:rPr>
              <a:t>Test</a:t>
            </a:r>
            <a:endParaRPr lang="en-US" sz="920" dirty="0"/>
          </a:p>
        </p:txBody>
      </p:sp>
      <p:sp>
        <p:nvSpPr>
          <p:cNvPr id="23" name="Shape 20"/>
          <p:cNvSpPr/>
          <p:nvPr/>
        </p:nvSpPr>
        <p:spPr>
          <a:xfrm>
            <a:off x="8869680" y="1783080"/>
            <a:ext cx="1737360" cy="502920"/>
          </a:xfrm>
          <a:prstGeom prst="roundRect">
            <a:avLst>
              <a:gd name="adj" fmla="val 9091"/>
            </a:avLst>
          </a:prstGeom>
          <a:solidFill>
            <a:srgbClr val="0A1830"/>
          </a:solidFill>
          <a:ln w="12700">
            <a:solidFill>
              <a:srgbClr val="0A1830">
                <a:alpha val="0"/>
              </a:srgbClr>
            </a:solidFill>
            <a:prstDash val="solid"/>
          </a:ln>
        </p:spPr>
      </p:sp>
      <p:sp>
        <p:nvSpPr>
          <p:cNvPr id="24" name="Text 21"/>
          <p:cNvSpPr/>
          <p:nvPr/>
        </p:nvSpPr>
        <p:spPr>
          <a:xfrm>
            <a:off x="8869680" y="1929384"/>
            <a:ext cx="1737360" cy="146304"/>
          </a:xfrm>
          <a:prstGeom prst="rect">
            <a:avLst/>
          </a:prstGeom>
          <a:noFill/>
          <a:ln/>
        </p:spPr>
        <p:txBody>
          <a:bodyPr wrap="square" lIns="0" tIns="0" rIns="0" bIns="0" rtlCol="0" anchor="ctr"/>
          <a:lstStyle/>
          <a:p>
            <a:pPr algn="ctr" indent="0" marL="0">
              <a:buNone/>
            </a:pPr>
            <a:r>
              <a:rPr lang="en-US" sz="920" b="1" dirty="0">
                <a:solidFill>
                  <a:srgbClr val="FFFFFF"/>
                </a:solidFill>
                <a:latin typeface="Aptos" pitchFamily="34" charset="0"/>
                <a:ea typeface="Aptos" pitchFamily="34" charset="-122"/>
                <a:cs typeface="Aptos" pitchFamily="34" charset="-120"/>
              </a:rPr>
              <a:t>Operate</a:t>
            </a:r>
            <a:endParaRPr lang="en-US" sz="920" dirty="0"/>
          </a:p>
        </p:txBody>
      </p:sp>
      <p:sp>
        <p:nvSpPr>
          <p:cNvPr id="25" name="Shape 22"/>
          <p:cNvSpPr/>
          <p:nvPr/>
        </p:nvSpPr>
        <p:spPr>
          <a:xfrm>
            <a:off x="749808" y="2697480"/>
            <a:ext cx="3611880" cy="1097280"/>
          </a:xfrm>
          <a:prstGeom prst="roundRect">
            <a:avLst>
              <a:gd name="adj" fmla="val 5000"/>
            </a:avLst>
          </a:prstGeom>
          <a:solidFill>
            <a:srgbClr val="FFFFFF"/>
          </a:solidFill>
          <a:ln w="12700">
            <a:solidFill>
              <a:srgbClr val="C7D5EA"/>
            </a:solidFill>
            <a:prstDash val="solid"/>
          </a:ln>
        </p:spPr>
      </p:sp>
      <p:sp>
        <p:nvSpPr>
          <p:cNvPr id="26" name="Shape 23"/>
          <p:cNvSpPr/>
          <p:nvPr/>
        </p:nvSpPr>
        <p:spPr>
          <a:xfrm>
            <a:off x="749808" y="2697480"/>
            <a:ext cx="3611880" cy="64008"/>
          </a:xfrm>
          <a:prstGeom prst="rect">
            <a:avLst/>
          </a:prstGeom>
          <a:solidFill>
            <a:srgbClr val="1F6FFF"/>
          </a:solidFill>
          <a:ln w="12700">
            <a:solidFill>
              <a:srgbClr val="1F6FFF">
                <a:alpha val="0"/>
              </a:srgbClr>
            </a:solidFill>
            <a:prstDash val="solid"/>
          </a:ln>
        </p:spPr>
      </p:sp>
      <p:sp>
        <p:nvSpPr>
          <p:cNvPr id="27" name="Text 24"/>
          <p:cNvSpPr/>
          <p:nvPr/>
        </p:nvSpPr>
        <p:spPr>
          <a:xfrm>
            <a:off x="914400" y="2862072"/>
            <a:ext cx="333756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Discovery</a:t>
            </a:r>
            <a:endParaRPr lang="en-US" sz="1150" dirty="0"/>
          </a:p>
        </p:txBody>
      </p:sp>
      <p:sp>
        <p:nvSpPr>
          <p:cNvPr id="28" name="Text 25"/>
          <p:cNvSpPr/>
          <p:nvPr/>
        </p:nvSpPr>
        <p:spPr>
          <a:xfrm>
            <a:off x="914400" y="3136392"/>
            <a:ext cx="3337560" cy="566928"/>
          </a:xfrm>
          <a:prstGeom prst="rect">
            <a:avLst/>
          </a:prstGeom>
          <a:noFill/>
          <a:ln/>
        </p:spPr>
        <p:txBody>
          <a:bodyPr wrap="square" lIns="254" tIns="254" rIns="254" bIns="254" rtlCol="0" anchor="t"/>
          <a:lstStyle/>
          <a:p>
            <a:pPr indent="0" marL="0">
              <a:buNone/>
            </a:pPr>
            <a:r>
              <a:rPr lang="en-US" sz="890" dirty="0">
                <a:solidFill>
                  <a:srgbClr val="51607B"/>
                </a:solidFill>
                <a:latin typeface="Aptos" pitchFamily="34" charset="0"/>
                <a:ea typeface="Aptos" pitchFamily="34" charset="-122"/>
                <a:cs typeface="Aptos" pitchFamily="34" charset="-120"/>
              </a:rPr>
              <a:t>Separate true business rules from undocumented habits and shortcuts.</a:t>
            </a:r>
            <a:endParaRPr lang="en-US" sz="890" dirty="0"/>
          </a:p>
        </p:txBody>
      </p:sp>
      <p:sp>
        <p:nvSpPr>
          <p:cNvPr id="29" name="Shape 26"/>
          <p:cNvSpPr/>
          <p:nvPr/>
        </p:nvSpPr>
        <p:spPr>
          <a:xfrm>
            <a:off x="4572000" y="2697480"/>
            <a:ext cx="3611880" cy="1097280"/>
          </a:xfrm>
          <a:prstGeom prst="roundRect">
            <a:avLst>
              <a:gd name="adj" fmla="val 5000"/>
            </a:avLst>
          </a:prstGeom>
          <a:solidFill>
            <a:srgbClr val="FFFFFF"/>
          </a:solidFill>
          <a:ln w="12700">
            <a:solidFill>
              <a:srgbClr val="C7D5EA"/>
            </a:solidFill>
            <a:prstDash val="solid"/>
          </a:ln>
        </p:spPr>
      </p:sp>
      <p:sp>
        <p:nvSpPr>
          <p:cNvPr id="30" name="Shape 27"/>
          <p:cNvSpPr/>
          <p:nvPr/>
        </p:nvSpPr>
        <p:spPr>
          <a:xfrm>
            <a:off x="4572000" y="2697480"/>
            <a:ext cx="3611880" cy="64008"/>
          </a:xfrm>
          <a:prstGeom prst="rect">
            <a:avLst/>
          </a:prstGeom>
          <a:solidFill>
            <a:srgbClr val="12B3A8"/>
          </a:solidFill>
          <a:ln w="12700">
            <a:solidFill>
              <a:srgbClr val="12B3A8">
                <a:alpha val="0"/>
              </a:srgbClr>
            </a:solidFill>
            <a:prstDash val="solid"/>
          </a:ln>
        </p:spPr>
      </p:sp>
      <p:sp>
        <p:nvSpPr>
          <p:cNvPr id="31" name="Text 28"/>
          <p:cNvSpPr/>
          <p:nvPr/>
        </p:nvSpPr>
        <p:spPr>
          <a:xfrm>
            <a:off x="4736592" y="2862072"/>
            <a:ext cx="333756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Documentation</a:t>
            </a:r>
            <a:endParaRPr lang="en-US" sz="1150" dirty="0"/>
          </a:p>
        </p:txBody>
      </p:sp>
      <p:sp>
        <p:nvSpPr>
          <p:cNvPr id="32" name="Text 29"/>
          <p:cNvSpPr/>
          <p:nvPr/>
        </p:nvSpPr>
        <p:spPr>
          <a:xfrm>
            <a:off x="4736592" y="3136392"/>
            <a:ext cx="3337560" cy="566928"/>
          </a:xfrm>
          <a:prstGeom prst="rect">
            <a:avLst/>
          </a:prstGeom>
          <a:noFill/>
          <a:ln/>
        </p:spPr>
        <p:txBody>
          <a:bodyPr wrap="square" lIns="254" tIns="254" rIns="254" bIns="254" rtlCol="0" anchor="t"/>
          <a:lstStyle/>
          <a:p>
            <a:pPr indent="0" marL="0">
              <a:buNone/>
            </a:pPr>
            <a:r>
              <a:rPr lang="en-US" sz="890" dirty="0">
                <a:solidFill>
                  <a:srgbClr val="51607B"/>
                </a:solidFill>
                <a:latin typeface="Aptos" pitchFamily="34" charset="0"/>
                <a:ea typeface="Aptos" pitchFamily="34" charset="-122"/>
                <a:cs typeface="Aptos" pitchFamily="34" charset="-120"/>
              </a:rPr>
              <a:t>Create process maps, rule sets, exception catalogues, and output definitions.</a:t>
            </a:r>
            <a:endParaRPr lang="en-US" sz="890" dirty="0"/>
          </a:p>
        </p:txBody>
      </p:sp>
      <p:sp>
        <p:nvSpPr>
          <p:cNvPr id="33" name="Shape 30"/>
          <p:cNvSpPr/>
          <p:nvPr/>
        </p:nvSpPr>
        <p:spPr>
          <a:xfrm>
            <a:off x="859536" y="4114800"/>
            <a:ext cx="3611880" cy="1097280"/>
          </a:xfrm>
          <a:prstGeom prst="roundRect">
            <a:avLst>
              <a:gd name="adj" fmla="val 5000"/>
            </a:avLst>
          </a:prstGeom>
          <a:solidFill>
            <a:srgbClr val="FFFFFF"/>
          </a:solidFill>
          <a:ln w="12700">
            <a:solidFill>
              <a:srgbClr val="C7D5EA"/>
            </a:solidFill>
            <a:prstDash val="solid"/>
          </a:ln>
        </p:spPr>
      </p:sp>
      <p:sp>
        <p:nvSpPr>
          <p:cNvPr id="34" name="Shape 31"/>
          <p:cNvSpPr/>
          <p:nvPr/>
        </p:nvSpPr>
        <p:spPr>
          <a:xfrm>
            <a:off x="859536" y="4114800"/>
            <a:ext cx="3611880" cy="64008"/>
          </a:xfrm>
          <a:prstGeom prst="rect">
            <a:avLst/>
          </a:prstGeom>
          <a:solidFill>
            <a:srgbClr val="1F6FFF"/>
          </a:solidFill>
          <a:ln w="12700">
            <a:solidFill>
              <a:srgbClr val="1F6FFF">
                <a:alpha val="0"/>
              </a:srgbClr>
            </a:solidFill>
            <a:prstDash val="solid"/>
          </a:ln>
        </p:spPr>
      </p:sp>
      <p:sp>
        <p:nvSpPr>
          <p:cNvPr id="35" name="Text 32"/>
          <p:cNvSpPr/>
          <p:nvPr/>
        </p:nvSpPr>
        <p:spPr>
          <a:xfrm>
            <a:off x="1024128" y="4279392"/>
            <a:ext cx="333756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Validation</a:t>
            </a:r>
            <a:endParaRPr lang="en-US" sz="1150" dirty="0"/>
          </a:p>
        </p:txBody>
      </p:sp>
      <p:sp>
        <p:nvSpPr>
          <p:cNvPr id="36" name="Text 33"/>
          <p:cNvSpPr/>
          <p:nvPr/>
        </p:nvSpPr>
        <p:spPr>
          <a:xfrm>
            <a:off x="1024128" y="4553712"/>
            <a:ext cx="3337560" cy="566928"/>
          </a:xfrm>
          <a:prstGeom prst="rect">
            <a:avLst/>
          </a:prstGeom>
          <a:noFill/>
          <a:ln/>
        </p:spPr>
        <p:txBody>
          <a:bodyPr wrap="square" lIns="254" tIns="254" rIns="254" bIns="254" rtlCol="0" anchor="t"/>
          <a:lstStyle/>
          <a:p>
            <a:pPr indent="0" marL="0">
              <a:buNone/>
            </a:pPr>
            <a:r>
              <a:rPr lang="en-US" sz="890" dirty="0">
                <a:solidFill>
                  <a:srgbClr val="51607B"/>
                </a:solidFill>
                <a:latin typeface="Aptos" pitchFamily="34" charset="0"/>
                <a:ea typeface="Aptos" pitchFamily="34" charset="-122"/>
                <a:cs typeface="Aptos" pitchFamily="34" charset="-120"/>
              </a:rPr>
              <a:t>Define expected outcomes, review rules, and test evidence.</a:t>
            </a:r>
            <a:endParaRPr lang="en-US" sz="890" dirty="0"/>
          </a:p>
        </p:txBody>
      </p:sp>
      <p:sp>
        <p:nvSpPr>
          <p:cNvPr id="37" name="Shape 34"/>
          <p:cNvSpPr/>
          <p:nvPr/>
        </p:nvSpPr>
        <p:spPr>
          <a:xfrm>
            <a:off x="4681728" y="4114800"/>
            <a:ext cx="3611880" cy="1097280"/>
          </a:xfrm>
          <a:prstGeom prst="roundRect">
            <a:avLst>
              <a:gd name="adj" fmla="val 5000"/>
            </a:avLst>
          </a:prstGeom>
          <a:solidFill>
            <a:srgbClr val="FFFFFF"/>
          </a:solidFill>
          <a:ln w="12700">
            <a:solidFill>
              <a:srgbClr val="C7D5EA"/>
            </a:solidFill>
            <a:prstDash val="solid"/>
          </a:ln>
        </p:spPr>
      </p:sp>
      <p:sp>
        <p:nvSpPr>
          <p:cNvPr id="38" name="Shape 35"/>
          <p:cNvSpPr/>
          <p:nvPr/>
        </p:nvSpPr>
        <p:spPr>
          <a:xfrm>
            <a:off x="4681728" y="4114800"/>
            <a:ext cx="3611880" cy="64008"/>
          </a:xfrm>
          <a:prstGeom prst="rect">
            <a:avLst/>
          </a:prstGeom>
          <a:solidFill>
            <a:srgbClr val="12B3A8"/>
          </a:solidFill>
          <a:ln w="12700">
            <a:solidFill>
              <a:srgbClr val="12B3A8">
                <a:alpha val="0"/>
              </a:srgbClr>
            </a:solidFill>
            <a:prstDash val="solid"/>
          </a:ln>
        </p:spPr>
      </p:sp>
      <p:sp>
        <p:nvSpPr>
          <p:cNvPr id="39" name="Text 36"/>
          <p:cNvSpPr/>
          <p:nvPr/>
        </p:nvSpPr>
        <p:spPr>
          <a:xfrm>
            <a:off x="4846320" y="4279392"/>
            <a:ext cx="333756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Support</a:t>
            </a:r>
            <a:endParaRPr lang="en-US" sz="1150" dirty="0"/>
          </a:p>
        </p:txBody>
      </p:sp>
      <p:sp>
        <p:nvSpPr>
          <p:cNvPr id="40" name="Text 37"/>
          <p:cNvSpPr/>
          <p:nvPr/>
        </p:nvSpPr>
        <p:spPr>
          <a:xfrm>
            <a:off x="4846320" y="4553712"/>
            <a:ext cx="3337560" cy="566928"/>
          </a:xfrm>
          <a:prstGeom prst="rect">
            <a:avLst/>
          </a:prstGeom>
          <a:noFill/>
          <a:ln/>
        </p:spPr>
        <p:txBody>
          <a:bodyPr wrap="square" lIns="254" tIns="254" rIns="254" bIns="254" rtlCol="0" anchor="t"/>
          <a:lstStyle/>
          <a:p>
            <a:pPr indent="0" marL="0">
              <a:buNone/>
            </a:pPr>
            <a:r>
              <a:rPr lang="en-US" sz="890" dirty="0">
                <a:solidFill>
                  <a:srgbClr val="51607B"/>
                </a:solidFill>
                <a:latin typeface="Aptos" pitchFamily="34" charset="0"/>
                <a:ea typeface="Aptos" pitchFamily="34" charset="-122"/>
                <a:cs typeface="Aptos" pitchFamily="34" charset="-120"/>
              </a:rPr>
              <a:t>Help interpret edge cases, review reports, and refine the process after go-live.</a:t>
            </a:r>
            <a:endParaRPr lang="en-US" sz="890" dirty="0"/>
          </a:p>
        </p:txBody>
      </p:sp>
      <p:sp>
        <p:nvSpPr>
          <p:cNvPr id="41" name="Shape 38"/>
          <p:cNvSpPr/>
          <p:nvPr/>
        </p:nvSpPr>
        <p:spPr>
          <a:xfrm>
            <a:off x="8183880" y="2770632"/>
            <a:ext cx="100584" cy="100584"/>
          </a:xfrm>
          <a:prstGeom prst="ellipse">
            <a:avLst/>
          </a:prstGeom>
          <a:solidFill>
            <a:srgbClr val="1F6FFF"/>
          </a:solidFill>
          <a:ln w="12700">
            <a:solidFill>
              <a:srgbClr val="1F6FFF">
                <a:alpha val="0"/>
              </a:srgbClr>
            </a:solidFill>
            <a:prstDash val="solid"/>
          </a:ln>
        </p:spPr>
      </p:sp>
      <p:sp>
        <p:nvSpPr>
          <p:cNvPr id="42" name="Text 39"/>
          <p:cNvSpPr/>
          <p:nvPr/>
        </p:nvSpPr>
        <p:spPr>
          <a:xfrm>
            <a:off x="8348472" y="2697480"/>
            <a:ext cx="2971800" cy="301752"/>
          </a:xfrm>
          <a:prstGeom prst="rect">
            <a:avLst/>
          </a:prstGeom>
          <a:noFill/>
          <a:ln/>
        </p:spPr>
        <p:txBody>
          <a:bodyPr wrap="square" lIns="0" tIns="0" rIns="0" bIns="0" rtlCol="0" anchor="ctr"/>
          <a:lstStyle/>
          <a:p>
            <a:pPr indent="0" marL="0">
              <a:buNone/>
            </a:pPr>
            <a:r>
              <a:rPr lang="en-US" sz="990" dirty="0">
                <a:solidFill>
                  <a:srgbClr val="102749"/>
                </a:solidFill>
                <a:latin typeface="Aptos" pitchFamily="34" charset="0"/>
                <a:ea typeface="Aptos" pitchFamily="34" charset="-122"/>
                <a:cs typeface="Aptos" pitchFamily="34" charset="-120"/>
              </a:rPr>
              <a:t>During identification and assessment, the BA clarifies goals, rules, volumes, variants, and business dependencies</a:t>
            </a:r>
            <a:endParaRPr lang="en-US" sz="990" dirty="0"/>
          </a:p>
        </p:txBody>
      </p:sp>
      <p:sp>
        <p:nvSpPr>
          <p:cNvPr id="43" name="Shape 40"/>
          <p:cNvSpPr/>
          <p:nvPr/>
        </p:nvSpPr>
        <p:spPr>
          <a:xfrm>
            <a:off x="8183880" y="3282696"/>
            <a:ext cx="100584" cy="100584"/>
          </a:xfrm>
          <a:prstGeom prst="ellipse">
            <a:avLst/>
          </a:prstGeom>
          <a:solidFill>
            <a:srgbClr val="1F6FFF"/>
          </a:solidFill>
          <a:ln w="12700">
            <a:solidFill>
              <a:srgbClr val="1F6FFF">
                <a:alpha val="0"/>
              </a:srgbClr>
            </a:solidFill>
            <a:prstDash val="solid"/>
          </a:ln>
        </p:spPr>
      </p:sp>
      <p:sp>
        <p:nvSpPr>
          <p:cNvPr id="44" name="Text 41"/>
          <p:cNvSpPr/>
          <p:nvPr/>
        </p:nvSpPr>
        <p:spPr>
          <a:xfrm>
            <a:off x="8348472" y="3209544"/>
            <a:ext cx="2971800" cy="301752"/>
          </a:xfrm>
          <a:prstGeom prst="rect">
            <a:avLst/>
          </a:prstGeom>
          <a:noFill/>
          <a:ln/>
        </p:spPr>
        <p:txBody>
          <a:bodyPr wrap="square" lIns="0" tIns="0" rIns="0" bIns="0" rtlCol="0" anchor="ctr"/>
          <a:lstStyle/>
          <a:p>
            <a:pPr indent="0" marL="0">
              <a:buNone/>
            </a:pPr>
            <a:r>
              <a:rPr lang="en-US" sz="990" dirty="0">
                <a:solidFill>
                  <a:srgbClr val="102749"/>
                </a:solidFill>
                <a:latin typeface="Aptos" pitchFamily="34" charset="0"/>
                <a:ea typeface="Aptos" pitchFamily="34" charset="-122"/>
                <a:cs typeface="Aptos" pitchFamily="34" charset="-120"/>
              </a:rPr>
              <a:t>During design, the BA helps define triggers, inputs, output expectations, and exception categories in business language</a:t>
            </a:r>
            <a:endParaRPr lang="en-US" sz="990" dirty="0"/>
          </a:p>
        </p:txBody>
      </p:sp>
      <p:sp>
        <p:nvSpPr>
          <p:cNvPr id="45" name="Shape 42"/>
          <p:cNvSpPr/>
          <p:nvPr/>
        </p:nvSpPr>
        <p:spPr>
          <a:xfrm>
            <a:off x="8183880" y="3794760"/>
            <a:ext cx="100584" cy="100584"/>
          </a:xfrm>
          <a:prstGeom prst="ellipse">
            <a:avLst/>
          </a:prstGeom>
          <a:solidFill>
            <a:srgbClr val="1F6FFF"/>
          </a:solidFill>
          <a:ln w="12700">
            <a:solidFill>
              <a:srgbClr val="1F6FFF">
                <a:alpha val="0"/>
              </a:srgbClr>
            </a:solidFill>
            <a:prstDash val="solid"/>
          </a:ln>
        </p:spPr>
      </p:sp>
      <p:sp>
        <p:nvSpPr>
          <p:cNvPr id="46" name="Text 43"/>
          <p:cNvSpPr/>
          <p:nvPr/>
        </p:nvSpPr>
        <p:spPr>
          <a:xfrm>
            <a:off x="8348472" y="3721608"/>
            <a:ext cx="2971800" cy="301752"/>
          </a:xfrm>
          <a:prstGeom prst="rect">
            <a:avLst/>
          </a:prstGeom>
          <a:noFill/>
          <a:ln/>
        </p:spPr>
        <p:txBody>
          <a:bodyPr wrap="square" lIns="0" tIns="0" rIns="0" bIns="0" rtlCol="0" anchor="ctr"/>
          <a:lstStyle/>
          <a:p>
            <a:pPr indent="0" marL="0">
              <a:buNone/>
            </a:pPr>
            <a:r>
              <a:rPr lang="en-US" sz="990" dirty="0">
                <a:solidFill>
                  <a:srgbClr val="102749"/>
                </a:solidFill>
                <a:latin typeface="Aptos" pitchFamily="34" charset="0"/>
                <a:ea typeface="Aptos" pitchFamily="34" charset="-122"/>
                <a:cs typeface="Aptos" pitchFamily="34" charset="-120"/>
              </a:rPr>
              <a:t>During build and testing, the BA supports scenario coverage, UAT packs, acceptance criteria, and output review logic</a:t>
            </a:r>
            <a:endParaRPr lang="en-US" sz="990" dirty="0"/>
          </a:p>
        </p:txBody>
      </p:sp>
      <p:sp>
        <p:nvSpPr>
          <p:cNvPr id="47" name="Shape 44"/>
          <p:cNvSpPr/>
          <p:nvPr/>
        </p:nvSpPr>
        <p:spPr>
          <a:xfrm>
            <a:off x="8183880" y="4306824"/>
            <a:ext cx="100584" cy="100584"/>
          </a:xfrm>
          <a:prstGeom prst="ellipse">
            <a:avLst/>
          </a:prstGeom>
          <a:solidFill>
            <a:srgbClr val="1F6FFF"/>
          </a:solidFill>
          <a:ln w="12700">
            <a:solidFill>
              <a:srgbClr val="1F6FFF">
                <a:alpha val="0"/>
              </a:srgbClr>
            </a:solidFill>
            <a:prstDash val="solid"/>
          </a:ln>
        </p:spPr>
      </p:sp>
      <p:sp>
        <p:nvSpPr>
          <p:cNvPr id="48" name="Text 45"/>
          <p:cNvSpPr/>
          <p:nvPr/>
        </p:nvSpPr>
        <p:spPr>
          <a:xfrm>
            <a:off x="8348472" y="4233672"/>
            <a:ext cx="2971800" cy="301752"/>
          </a:xfrm>
          <a:prstGeom prst="rect">
            <a:avLst/>
          </a:prstGeom>
          <a:noFill/>
          <a:ln/>
        </p:spPr>
        <p:txBody>
          <a:bodyPr wrap="square" lIns="0" tIns="0" rIns="0" bIns="0" rtlCol="0" anchor="ctr"/>
          <a:lstStyle/>
          <a:p>
            <a:pPr indent="0" marL="0">
              <a:buNone/>
            </a:pPr>
            <a:r>
              <a:rPr lang="en-US" sz="990" dirty="0">
                <a:solidFill>
                  <a:srgbClr val="102749"/>
                </a:solidFill>
                <a:latin typeface="Aptos" pitchFamily="34" charset="0"/>
                <a:ea typeface="Aptos" pitchFamily="34" charset="-122"/>
                <a:cs typeface="Aptos" pitchFamily="34" charset="-120"/>
              </a:rPr>
              <a:t>During deployment and operation, the BA helps review outcomes, interpret business exceptions, and refine success measures</a:t>
            </a:r>
            <a:endParaRPr lang="en-US" sz="990" dirty="0"/>
          </a:p>
        </p:txBody>
      </p:sp>
      <p:sp>
        <p:nvSpPr>
          <p:cNvPr id="49" name="Shape 46"/>
          <p:cNvSpPr/>
          <p:nvPr/>
        </p:nvSpPr>
        <p:spPr>
          <a:xfrm>
            <a:off x="8183880" y="4919472"/>
            <a:ext cx="3108960" cy="841248"/>
          </a:xfrm>
          <a:prstGeom prst="roundRect">
            <a:avLst>
              <a:gd name="adj" fmla="val 5435"/>
            </a:avLst>
          </a:prstGeom>
          <a:solidFill>
            <a:srgbClr val="FFF9EE"/>
          </a:solidFill>
          <a:ln w="12700">
            <a:solidFill>
              <a:srgbClr val="D6455D"/>
            </a:solidFill>
            <a:prstDash val="solid"/>
          </a:ln>
        </p:spPr>
      </p:sp>
      <p:sp>
        <p:nvSpPr>
          <p:cNvPr id="50" name="Text 47"/>
          <p:cNvSpPr/>
          <p:nvPr/>
        </p:nvSpPr>
        <p:spPr>
          <a:xfrm>
            <a:off x="8348472" y="5047488"/>
            <a:ext cx="2834640" cy="164592"/>
          </a:xfrm>
          <a:prstGeom prst="rect">
            <a:avLst/>
          </a:prstGeom>
          <a:noFill/>
          <a:ln/>
        </p:spPr>
        <p:txBody>
          <a:bodyPr wrap="square" lIns="0" tIns="0" rIns="0" bIns="0" rtlCol="0" anchor="ctr"/>
          <a:lstStyle/>
          <a:p>
            <a:pPr indent="0" marL="0">
              <a:buNone/>
            </a:pPr>
            <a:r>
              <a:rPr lang="en-US" sz="850" b="1" dirty="0">
                <a:solidFill>
                  <a:srgbClr val="D6455D"/>
                </a:solidFill>
                <a:latin typeface="Aptos" pitchFamily="34" charset="0"/>
                <a:ea typeface="Aptos" pitchFamily="34" charset="-122"/>
                <a:cs typeface="Aptos" pitchFamily="34" charset="-120"/>
              </a:rPr>
              <a:t>Risk To Avoid</a:t>
            </a:r>
            <a:endParaRPr lang="en-US" sz="850" dirty="0"/>
          </a:p>
        </p:txBody>
      </p:sp>
      <p:sp>
        <p:nvSpPr>
          <p:cNvPr id="51" name="Text 48"/>
          <p:cNvSpPr/>
          <p:nvPr/>
        </p:nvSpPr>
        <p:spPr>
          <a:xfrm>
            <a:off x="8348472" y="5221224"/>
            <a:ext cx="2834640" cy="493776"/>
          </a:xfrm>
          <a:prstGeom prst="rect">
            <a:avLst/>
          </a:prstGeom>
          <a:noFill/>
          <a:ln/>
        </p:spPr>
        <p:txBody>
          <a:bodyPr wrap="square" lIns="254" tIns="254" rIns="254" bIns="254" rtlCol="0" anchor="ctr"/>
          <a:lstStyle/>
          <a:p>
            <a:pPr indent="0" marL="0">
              <a:buNone/>
            </a:pPr>
            <a:r>
              <a:rPr lang="en-US" sz="940" dirty="0">
                <a:solidFill>
                  <a:srgbClr val="102749"/>
                </a:solidFill>
                <a:latin typeface="Aptos" pitchFamily="34" charset="0"/>
                <a:ea typeface="Aptos" pitchFamily="34" charset="-122"/>
                <a:cs typeface="Aptos" pitchFamily="34" charset="-120"/>
              </a:rPr>
              <a:t>If process knowledge stays informal, automation quality suffers.</a:t>
            </a:r>
            <a:endParaRPr lang="en-US" sz="940" dirty="0"/>
          </a:p>
        </p:txBody>
      </p:sp>
      <p:sp>
        <p:nvSpPr>
          <p:cNvPr id="52" name="Text 49"/>
          <p:cNvSpPr/>
          <p:nvPr/>
        </p:nvSpPr>
        <p:spPr>
          <a:xfrm>
            <a:off x="658368" y="6510528"/>
            <a:ext cx="2560320" cy="164592"/>
          </a:xfrm>
          <a:prstGeom prst="rect">
            <a:avLst/>
          </a:prstGeom>
          <a:noFill/>
          <a:ln/>
        </p:spPr>
        <p:txBody>
          <a:bodyPr wrap="square" lIns="0" tIns="0" rIns="0" bIns="0" rtlCol="0" anchor="ctr"/>
          <a:lstStyle/>
          <a:p>
            <a:pPr indent="0" marL="0">
              <a:buNone/>
            </a:pPr>
            <a:r>
              <a:rPr lang="en-US" sz="850" dirty="0">
                <a:solidFill>
                  <a:srgbClr val="51607B"/>
                </a:solidFill>
                <a:latin typeface="Aptos" pitchFamily="34" charset="0"/>
                <a:ea typeface="Aptos" pitchFamily="34" charset="-122"/>
                <a:cs typeface="Aptos" pitchFamily="34" charset="-120"/>
              </a:rPr>
              <a:t>Innobot  |  Internal workshop</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B"/>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F4F7FB"/>
          </a:solidFill>
          <a:ln/>
        </p:spPr>
      </p:sp>
      <p:sp>
        <p:nvSpPr>
          <p:cNvPr id="4" name="Shape 1"/>
          <p:cNvSpPr/>
          <p:nvPr/>
        </p:nvSpPr>
        <p:spPr>
          <a:xfrm>
            <a:off x="0" y="0"/>
            <a:ext cx="12191695" cy="411480"/>
          </a:xfrm>
          <a:prstGeom prst="rect">
            <a:avLst/>
          </a:prstGeom>
          <a:solidFill>
            <a:srgbClr val="0A1830"/>
          </a:solidFill>
          <a:ln/>
        </p:spPr>
      </p:sp>
      <p:sp>
        <p:nvSpPr>
          <p:cNvPr id="5" name="Shape 2"/>
          <p:cNvSpPr/>
          <p:nvPr/>
        </p:nvSpPr>
        <p:spPr>
          <a:xfrm>
            <a:off x="9509760" y="-137160"/>
            <a:ext cx="3200400" cy="2194560"/>
          </a:xfrm>
          <a:prstGeom prst="ellipse">
            <a:avLst/>
          </a:prstGeom>
          <a:solidFill>
            <a:srgbClr val="8AB8FF">
              <a:alpha val="16000"/>
            </a:srgbClr>
          </a:solidFill>
          <a:ln w="12700">
            <a:solidFill>
              <a:srgbClr val="8AB8FF">
                <a:alpha val="0"/>
              </a:srgbClr>
            </a:solidFill>
            <a:prstDash val="solid"/>
          </a:ln>
        </p:spPr>
      </p:sp>
      <p:sp>
        <p:nvSpPr>
          <p:cNvPr id="6" name="Shape 3"/>
          <p:cNvSpPr/>
          <p:nvPr/>
        </p:nvSpPr>
        <p:spPr>
          <a:xfrm>
            <a:off x="-731520" y="5394960"/>
            <a:ext cx="2560320" cy="1645920"/>
          </a:xfrm>
          <a:prstGeom prst="ellipse">
            <a:avLst/>
          </a:prstGeom>
          <a:solidFill>
            <a:srgbClr val="12B3A8">
              <a:alpha val="10000"/>
            </a:srgbClr>
          </a:solidFill>
          <a:ln w="12700">
            <a:solidFill>
              <a:srgbClr val="12B3A8">
                <a:alpha val="0"/>
              </a:srgbClr>
            </a:solidFill>
            <a:prstDash val="solid"/>
          </a:ln>
        </p:spPr>
      </p:sp>
      <p:sp>
        <p:nvSpPr>
          <p:cNvPr id="7" name="Text 4"/>
          <p:cNvSpPr/>
          <p:nvPr/>
        </p:nvSpPr>
        <p:spPr>
          <a:xfrm>
            <a:off x="658368" y="182880"/>
            <a:ext cx="2651760" cy="146304"/>
          </a:xfrm>
          <a:prstGeom prst="rect">
            <a:avLst/>
          </a:prstGeom>
          <a:noFill/>
          <a:ln/>
        </p:spPr>
        <p:txBody>
          <a:bodyPr wrap="square" lIns="0" tIns="0" rIns="0" bIns="0" rtlCol="0" anchor="ctr"/>
          <a:lstStyle/>
          <a:p>
            <a:pPr indent="0" marL="0">
              <a:buNone/>
            </a:pPr>
            <a:r>
              <a:rPr lang="en-US" sz="850" b="1" dirty="0">
                <a:solidFill>
                  <a:srgbClr val="8AB8FF"/>
                </a:solidFill>
                <a:latin typeface="Aptos" pitchFamily="34" charset="0"/>
                <a:ea typeface="Aptos" pitchFamily="34" charset="-122"/>
                <a:cs typeface="Aptos" pitchFamily="34" charset="-120"/>
              </a:rPr>
              <a:t>DELIVERY AND GOVERNANCE</a:t>
            </a:r>
            <a:endParaRPr lang="en-US" sz="850" dirty="0"/>
          </a:p>
        </p:txBody>
      </p:sp>
      <p:sp>
        <p:nvSpPr>
          <p:cNvPr id="8" name="Text 5"/>
          <p:cNvSpPr/>
          <p:nvPr/>
        </p:nvSpPr>
        <p:spPr>
          <a:xfrm>
            <a:off x="658368" y="612648"/>
            <a:ext cx="7223760" cy="411480"/>
          </a:xfrm>
          <a:prstGeom prst="rect">
            <a:avLst/>
          </a:prstGeom>
          <a:noFill/>
          <a:ln/>
        </p:spPr>
        <p:txBody>
          <a:bodyPr wrap="square" lIns="0" tIns="0" rIns="0" bIns="0" rtlCol="0" anchor="ctr"/>
          <a:lstStyle/>
          <a:p>
            <a:pPr indent="0" marL="0">
              <a:buNone/>
            </a:pPr>
            <a:r>
              <a:rPr lang="en-US" sz="2400" b="1" dirty="0">
                <a:solidFill>
                  <a:srgbClr val="102749"/>
                </a:solidFill>
                <a:latin typeface="Aptos Display" pitchFamily="34" charset="0"/>
                <a:ea typeface="Aptos Display" pitchFamily="34" charset="-122"/>
                <a:cs typeface="Aptos Display" pitchFamily="34" charset="-120"/>
              </a:rPr>
              <a:t>Business Exceptions vs System Exceptions</a:t>
            </a:r>
            <a:endParaRPr lang="en-US" sz="2400" dirty="0"/>
          </a:p>
        </p:txBody>
      </p:sp>
      <p:sp>
        <p:nvSpPr>
          <p:cNvPr id="9" name="Text 6"/>
          <p:cNvSpPr/>
          <p:nvPr/>
        </p:nvSpPr>
        <p:spPr>
          <a:xfrm>
            <a:off x="658368" y="1069848"/>
            <a:ext cx="7863840" cy="310896"/>
          </a:xfrm>
          <a:prstGeom prst="rect">
            <a:avLst/>
          </a:prstGeom>
          <a:noFill/>
          <a:ln/>
        </p:spPr>
        <p:txBody>
          <a:bodyPr wrap="square" lIns="0" tIns="0" rIns="0" bIns="0" rtlCol="0" anchor="ctr"/>
          <a:lstStyle/>
          <a:p>
            <a:pPr indent="0" marL="0">
              <a:buNone/>
            </a:pPr>
            <a:r>
              <a:rPr lang="en-US" sz="1100" dirty="0">
                <a:solidFill>
                  <a:srgbClr val="51607B"/>
                </a:solidFill>
                <a:latin typeface="Aptos" pitchFamily="34" charset="0"/>
                <a:ea typeface="Aptos" pitchFamily="34" charset="-122"/>
                <a:cs typeface="Aptos" pitchFamily="34" charset="-120"/>
              </a:rPr>
              <a:t>These are different failure types and they must be treated differently on purpose</a:t>
            </a:r>
            <a:endParaRPr lang="en-US" sz="1100" dirty="0"/>
          </a:p>
        </p:txBody>
      </p:sp>
      <p:sp>
        <p:nvSpPr>
          <p:cNvPr id="10" name="Text 7"/>
          <p:cNvSpPr/>
          <p:nvPr/>
        </p:nvSpPr>
        <p:spPr>
          <a:xfrm>
            <a:off x="11155680" y="530352"/>
            <a:ext cx="365760" cy="201168"/>
          </a:xfrm>
          <a:prstGeom prst="rect">
            <a:avLst/>
          </a:prstGeom>
          <a:noFill/>
          <a:ln/>
        </p:spPr>
        <p:txBody>
          <a:bodyPr wrap="square" lIns="0" tIns="0" rIns="0" bIns="0" rtlCol="0" anchor="ctr"/>
          <a:lstStyle/>
          <a:p>
            <a:pPr algn="r" indent="0" marL="0">
              <a:buNone/>
            </a:pPr>
            <a:r>
              <a:rPr lang="en-US" sz="950" dirty="0">
                <a:solidFill>
                  <a:srgbClr val="51607B"/>
                </a:solidFill>
                <a:latin typeface="Consolas" pitchFamily="34" charset="0"/>
                <a:ea typeface="Consolas" pitchFamily="34" charset="-122"/>
                <a:cs typeface="Consolas" pitchFamily="34" charset="-120"/>
              </a:rPr>
              <a:t>16</a:t>
            </a:r>
            <a:endParaRPr lang="en-US" sz="950" dirty="0"/>
          </a:p>
        </p:txBody>
      </p:sp>
      <p:sp>
        <p:nvSpPr>
          <p:cNvPr id="11" name="Shape 8"/>
          <p:cNvSpPr/>
          <p:nvPr/>
        </p:nvSpPr>
        <p:spPr>
          <a:xfrm>
            <a:off x="8366760" y="676656"/>
            <a:ext cx="3154680" cy="822960"/>
          </a:xfrm>
          <a:prstGeom prst="roundRect">
            <a:avLst>
              <a:gd name="adj" fmla="val 8889"/>
            </a:avLst>
          </a:prstGeom>
          <a:solidFill>
            <a:srgbClr val="FFFFFF"/>
          </a:solidFill>
          <a:ln w="12700">
            <a:solidFill>
              <a:srgbClr val="1F6FFF">
                <a:alpha val="0"/>
              </a:srgbClr>
            </a:solidFill>
            <a:prstDash val="solid"/>
          </a:ln>
        </p:spPr>
      </p:sp>
      <p:sp>
        <p:nvSpPr>
          <p:cNvPr id="12" name="Shape 9"/>
          <p:cNvSpPr/>
          <p:nvPr/>
        </p:nvSpPr>
        <p:spPr>
          <a:xfrm>
            <a:off x="8366760" y="676656"/>
            <a:ext cx="73152" cy="822960"/>
          </a:xfrm>
          <a:prstGeom prst="rect">
            <a:avLst/>
          </a:prstGeom>
          <a:solidFill>
            <a:srgbClr val="1F6FFF"/>
          </a:solidFill>
          <a:ln w="12700">
            <a:solidFill>
              <a:srgbClr val="1F6FFF">
                <a:alpha val="0"/>
              </a:srgbClr>
            </a:solidFill>
            <a:prstDash val="solid"/>
          </a:ln>
        </p:spPr>
      </p:sp>
      <p:sp>
        <p:nvSpPr>
          <p:cNvPr id="13" name="Text 10"/>
          <p:cNvSpPr/>
          <p:nvPr/>
        </p:nvSpPr>
        <p:spPr>
          <a:xfrm>
            <a:off x="8531352" y="786384"/>
            <a:ext cx="1097280" cy="164592"/>
          </a:xfrm>
          <a:prstGeom prst="rect">
            <a:avLst/>
          </a:prstGeom>
          <a:noFill/>
          <a:ln/>
        </p:spPr>
        <p:txBody>
          <a:bodyPr wrap="square" lIns="0" tIns="0" rIns="0" bIns="0" rtlCol="0" anchor="ctr"/>
          <a:lstStyle/>
          <a:p>
            <a:pPr indent="0" marL="0">
              <a:buNone/>
            </a:pPr>
            <a:r>
              <a:rPr lang="en-US" sz="800" b="1" dirty="0">
                <a:solidFill>
                  <a:srgbClr val="1F6FFF"/>
                </a:solidFill>
                <a:latin typeface="Aptos" pitchFamily="34" charset="0"/>
                <a:ea typeface="Aptos" pitchFamily="34" charset="-122"/>
                <a:cs typeface="Aptos" pitchFamily="34" charset="-120"/>
              </a:rPr>
              <a:t>Key takeaway</a:t>
            </a:r>
            <a:endParaRPr lang="en-US" sz="800" dirty="0"/>
          </a:p>
        </p:txBody>
      </p:sp>
      <p:sp>
        <p:nvSpPr>
          <p:cNvPr id="14" name="Text 11"/>
          <p:cNvSpPr/>
          <p:nvPr/>
        </p:nvSpPr>
        <p:spPr>
          <a:xfrm>
            <a:off x="8531352" y="932688"/>
            <a:ext cx="2880360" cy="521208"/>
          </a:xfrm>
          <a:prstGeom prst="rect">
            <a:avLst/>
          </a:prstGeom>
          <a:noFill/>
          <a:ln/>
        </p:spPr>
        <p:txBody>
          <a:bodyPr wrap="square" lIns="254" tIns="254" rIns="254" bIns="254" rtlCol="0" anchor="ctr"/>
          <a:lstStyle/>
          <a:p>
            <a:pPr indent="0" marL="0">
              <a:buNone/>
            </a:pPr>
            <a:r>
              <a:rPr lang="en-US" sz="920" dirty="0">
                <a:solidFill>
                  <a:srgbClr val="102749"/>
                </a:solidFill>
                <a:latin typeface="Aptos" pitchFamily="34" charset="0"/>
                <a:ea typeface="Aptos" pitchFamily="34" charset="-122"/>
                <a:cs typeface="Aptos" pitchFamily="34" charset="-120"/>
              </a:rPr>
              <a:t>A strong automation distinguishes between a business condition that needs routing and a technical condition that may be recoverable through retry or support action.</a:t>
            </a:r>
            <a:endParaRPr lang="en-US" sz="920" dirty="0"/>
          </a:p>
        </p:txBody>
      </p:sp>
      <p:sp>
        <p:nvSpPr>
          <p:cNvPr id="15" name="Shape 12"/>
          <p:cNvSpPr/>
          <p:nvPr/>
        </p:nvSpPr>
        <p:spPr>
          <a:xfrm>
            <a:off x="749808" y="1783080"/>
            <a:ext cx="5074920" cy="2331720"/>
          </a:xfrm>
          <a:prstGeom prst="roundRect">
            <a:avLst>
              <a:gd name="adj" fmla="val 1961"/>
            </a:avLst>
          </a:prstGeom>
          <a:solidFill>
            <a:srgbClr val="FFFFFF"/>
          </a:solidFill>
          <a:ln w="12700">
            <a:solidFill>
              <a:srgbClr val="C7D5EA"/>
            </a:solidFill>
            <a:prstDash val="solid"/>
          </a:ln>
        </p:spPr>
      </p:sp>
      <p:sp>
        <p:nvSpPr>
          <p:cNvPr id="16" name="Shape 13"/>
          <p:cNvSpPr/>
          <p:nvPr/>
        </p:nvSpPr>
        <p:spPr>
          <a:xfrm>
            <a:off x="749808" y="1783080"/>
            <a:ext cx="5074920" cy="73152"/>
          </a:xfrm>
          <a:prstGeom prst="rect">
            <a:avLst/>
          </a:prstGeom>
          <a:solidFill>
            <a:srgbClr val="12B3A8"/>
          </a:solidFill>
          <a:ln w="12700">
            <a:solidFill>
              <a:srgbClr val="12B3A8">
                <a:alpha val="0"/>
              </a:srgbClr>
            </a:solidFill>
            <a:prstDash val="solid"/>
          </a:ln>
        </p:spPr>
      </p:sp>
      <p:sp>
        <p:nvSpPr>
          <p:cNvPr id="17" name="Text 14"/>
          <p:cNvSpPr/>
          <p:nvPr/>
        </p:nvSpPr>
        <p:spPr>
          <a:xfrm>
            <a:off x="914400" y="1965960"/>
            <a:ext cx="4709160" cy="182880"/>
          </a:xfrm>
          <a:prstGeom prst="rect">
            <a:avLst/>
          </a:prstGeom>
          <a:noFill/>
          <a:ln/>
        </p:spPr>
        <p:txBody>
          <a:bodyPr wrap="square" lIns="0" tIns="0" rIns="0" bIns="0" rtlCol="0" anchor="ctr"/>
          <a:lstStyle/>
          <a:p>
            <a:pPr indent="0" marL="0">
              <a:buNone/>
            </a:pPr>
            <a:r>
              <a:rPr lang="en-US" sz="1200" b="1" dirty="0">
                <a:solidFill>
                  <a:srgbClr val="102749"/>
                </a:solidFill>
                <a:latin typeface="Aptos Display" pitchFamily="34" charset="0"/>
                <a:ea typeface="Aptos Display" pitchFamily="34" charset="-122"/>
                <a:cs typeface="Aptos Display" pitchFamily="34" charset="-120"/>
              </a:rPr>
              <a:t>Business Exceptions</a:t>
            </a:r>
            <a:endParaRPr lang="en-US" sz="1200" dirty="0"/>
          </a:p>
        </p:txBody>
      </p:sp>
      <p:sp>
        <p:nvSpPr>
          <p:cNvPr id="18" name="Shape 15"/>
          <p:cNvSpPr/>
          <p:nvPr/>
        </p:nvSpPr>
        <p:spPr>
          <a:xfrm>
            <a:off x="932688" y="2340864"/>
            <a:ext cx="100584" cy="100584"/>
          </a:xfrm>
          <a:prstGeom prst="ellipse">
            <a:avLst/>
          </a:prstGeom>
          <a:solidFill>
            <a:srgbClr val="12B3A8"/>
          </a:solidFill>
          <a:ln w="12700">
            <a:solidFill>
              <a:srgbClr val="12B3A8">
                <a:alpha val="0"/>
              </a:srgbClr>
            </a:solidFill>
            <a:prstDash val="solid"/>
          </a:ln>
        </p:spPr>
      </p:sp>
      <p:sp>
        <p:nvSpPr>
          <p:cNvPr id="19" name="Text 16"/>
          <p:cNvSpPr/>
          <p:nvPr/>
        </p:nvSpPr>
        <p:spPr>
          <a:xfrm>
            <a:off x="1097280" y="2267712"/>
            <a:ext cx="4480560" cy="301752"/>
          </a:xfrm>
          <a:prstGeom prst="rect">
            <a:avLst/>
          </a:prstGeom>
          <a:noFill/>
          <a:ln/>
        </p:spPr>
        <p:txBody>
          <a:bodyPr wrap="square" lIns="0" tIns="0" rIns="0" bIns="0" rtlCol="0" anchor="ctr"/>
          <a:lstStyle/>
          <a:p>
            <a:pPr indent="0" marL="0">
              <a:buNone/>
            </a:pPr>
            <a:r>
              <a:rPr lang="en-US" sz="940" dirty="0">
                <a:solidFill>
                  <a:srgbClr val="102749"/>
                </a:solidFill>
                <a:latin typeface="Aptos" pitchFamily="34" charset="0"/>
                <a:ea typeface="Aptos" pitchFamily="34" charset="-122"/>
                <a:cs typeface="Aptos" pitchFamily="34" charset="-120"/>
              </a:rPr>
              <a:t>The application worked, but the case itself failed a business rule or reached an edge condition</a:t>
            </a:r>
            <a:endParaRPr lang="en-US" sz="940" dirty="0"/>
          </a:p>
        </p:txBody>
      </p:sp>
      <p:sp>
        <p:nvSpPr>
          <p:cNvPr id="20" name="Shape 17"/>
          <p:cNvSpPr/>
          <p:nvPr/>
        </p:nvSpPr>
        <p:spPr>
          <a:xfrm>
            <a:off x="932688" y="2907792"/>
            <a:ext cx="100584" cy="100584"/>
          </a:xfrm>
          <a:prstGeom prst="ellipse">
            <a:avLst/>
          </a:prstGeom>
          <a:solidFill>
            <a:srgbClr val="12B3A8"/>
          </a:solidFill>
          <a:ln w="12700">
            <a:solidFill>
              <a:srgbClr val="12B3A8">
                <a:alpha val="0"/>
              </a:srgbClr>
            </a:solidFill>
            <a:prstDash val="solid"/>
          </a:ln>
        </p:spPr>
      </p:sp>
      <p:sp>
        <p:nvSpPr>
          <p:cNvPr id="21" name="Text 18"/>
          <p:cNvSpPr/>
          <p:nvPr/>
        </p:nvSpPr>
        <p:spPr>
          <a:xfrm>
            <a:off x="1097280" y="2834640"/>
            <a:ext cx="4480560" cy="301752"/>
          </a:xfrm>
          <a:prstGeom prst="rect">
            <a:avLst/>
          </a:prstGeom>
          <a:noFill/>
          <a:ln/>
        </p:spPr>
        <p:txBody>
          <a:bodyPr wrap="square" lIns="0" tIns="0" rIns="0" bIns="0" rtlCol="0" anchor="ctr"/>
          <a:lstStyle/>
          <a:p>
            <a:pPr indent="0" marL="0">
              <a:buNone/>
            </a:pPr>
            <a:r>
              <a:rPr lang="en-US" sz="940" dirty="0">
                <a:solidFill>
                  <a:srgbClr val="102749"/>
                </a:solidFill>
                <a:latin typeface="Aptos" pitchFamily="34" charset="0"/>
                <a:ea typeface="Aptos" pitchFamily="34" charset="-122"/>
                <a:cs typeface="Aptos" pitchFamily="34" charset="-120"/>
              </a:rPr>
              <a:t>Examples: missing claim data, invalid status combination, no matching record, claim requires human judgment</a:t>
            </a:r>
            <a:endParaRPr lang="en-US" sz="940" dirty="0"/>
          </a:p>
        </p:txBody>
      </p:sp>
      <p:sp>
        <p:nvSpPr>
          <p:cNvPr id="22" name="Shape 19"/>
          <p:cNvSpPr/>
          <p:nvPr/>
        </p:nvSpPr>
        <p:spPr>
          <a:xfrm>
            <a:off x="932688" y="3474720"/>
            <a:ext cx="100584" cy="100584"/>
          </a:xfrm>
          <a:prstGeom prst="ellipse">
            <a:avLst/>
          </a:prstGeom>
          <a:solidFill>
            <a:srgbClr val="12B3A8"/>
          </a:solidFill>
          <a:ln w="12700">
            <a:solidFill>
              <a:srgbClr val="12B3A8">
                <a:alpha val="0"/>
              </a:srgbClr>
            </a:solidFill>
            <a:prstDash val="solid"/>
          </a:ln>
        </p:spPr>
      </p:sp>
      <p:sp>
        <p:nvSpPr>
          <p:cNvPr id="23" name="Text 20"/>
          <p:cNvSpPr/>
          <p:nvPr/>
        </p:nvSpPr>
        <p:spPr>
          <a:xfrm>
            <a:off x="1097280" y="3401568"/>
            <a:ext cx="4480560" cy="301752"/>
          </a:xfrm>
          <a:prstGeom prst="rect">
            <a:avLst/>
          </a:prstGeom>
          <a:noFill/>
          <a:ln/>
        </p:spPr>
        <p:txBody>
          <a:bodyPr wrap="square" lIns="0" tIns="0" rIns="0" bIns="0" rtlCol="0" anchor="ctr"/>
          <a:lstStyle/>
          <a:p>
            <a:pPr indent="0" marL="0">
              <a:buNone/>
            </a:pPr>
            <a:r>
              <a:rPr lang="en-US" sz="940" dirty="0">
                <a:solidFill>
                  <a:srgbClr val="102749"/>
                </a:solidFill>
                <a:latin typeface="Aptos" pitchFamily="34" charset="0"/>
                <a:ea typeface="Aptos" pitchFamily="34" charset="-122"/>
                <a:cs typeface="Aptos" pitchFamily="34" charset="-120"/>
              </a:rPr>
              <a:t>Typical treatment: tag clearly, log context, move to review queue, include in reporting, and continue with the next item</a:t>
            </a:r>
            <a:endParaRPr lang="en-US" sz="940" dirty="0"/>
          </a:p>
        </p:txBody>
      </p:sp>
      <p:sp>
        <p:nvSpPr>
          <p:cNvPr id="24" name="Shape 21"/>
          <p:cNvSpPr/>
          <p:nvPr/>
        </p:nvSpPr>
        <p:spPr>
          <a:xfrm>
            <a:off x="6217920" y="1783080"/>
            <a:ext cx="5074920" cy="2331720"/>
          </a:xfrm>
          <a:prstGeom prst="roundRect">
            <a:avLst>
              <a:gd name="adj" fmla="val 1961"/>
            </a:avLst>
          </a:prstGeom>
          <a:solidFill>
            <a:srgbClr val="FFFFFF"/>
          </a:solidFill>
          <a:ln w="12700">
            <a:solidFill>
              <a:srgbClr val="C7D5EA"/>
            </a:solidFill>
            <a:prstDash val="solid"/>
          </a:ln>
        </p:spPr>
      </p:sp>
      <p:sp>
        <p:nvSpPr>
          <p:cNvPr id="25" name="Shape 22"/>
          <p:cNvSpPr/>
          <p:nvPr/>
        </p:nvSpPr>
        <p:spPr>
          <a:xfrm>
            <a:off x="6217920" y="1783080"/>
            <a:ext cx="5074920" cy="73152"/>
          </a:xfrm>
          <a:prstGeom prst="rect">
            <a:avLst/>
          </a:prstGeom>
          <a:solidFill>
            <a:srgbClr val="D6455D"/>
          </a:solidFill>
          <a:ln w="12700">
            <a:solidFill>
              <a:srgbClr val="D6455D">
                <a:alpha val="0"/>
              </a:srgbClr>
            </a:solidFill>
            <a:prstDash val="solid"/>
          </a:ln>
        </p:spPr>
      </p:sp>
      <p:sp>
        <p:nvSpPr>
          <p:cNvPr id="26" name="Text 23"/>
          <p:cNvSpPr/>
          <p:nvPr/>
        </p:nvSpPr>
        <p:spPr>
          <a:xfrm>
            <a:off x="6382512" y="1965960"/>
            <a:ext cx="4709160" cy="182880"/>
          </a:xfrm>
          <a:prstGeom prst="rect">
            <a:avLst/>
          </a:prstGeom>
          <a:noFill/>
          <a:ln/>
        </p:spPr>
        <p:txBody>
          <a:bodyPr wrap="square" lIns="0" tIns="0" rIns="0" bIns="0" rtlCol="0" anchor="ctr"/>
          <a:lstStyle/>
          <a:p>
            <a:pPr indent="0" marL="0">
              <a:buNone/>
            </a:pPr>
            <a:r>
              <a:rPr lang="en-US" sz="1200" b="1" dirty="0">
                <a:solidFill>
                  <a:srgbClr val="102749"/>
                </a:solidFill>
                <a:latin typeface="Aptos Display" pitchFamily="34" charset="0"/>
                <a:ea typeface="Aptos Display" pitchFamily="34" charset="-122"/>
                <a:cs typeface="Aptos Display" pitchFamily="34" charset="-120"/>
              </a:rPr>
              <a:t>System Exceptions</a:t>
            </a:r>
            <a:endParaRPr lang="en-US" sz="1200" dirty="0"/>
          </a:p>
        </p:txBody>
      </p:sp>
      <p:sp>
        <p:nvSpPr>
          <p:cNvPr id="27" name="Shape 24"/>
          <p:cNvSpPr/>
          <p:nvPr/>
        </p:nvSpPr>
        <p:spPr>
          <a:xfrm>
            <a:off x="6400800" y="2340864"/>
            <a:ext cx="100584" cy="100584"/>
          </a:xfrm>
          <a:prstGeom prst="ellipse">
            <a:avLst/>
          </a:prstGeom>
          <a:solidFill>
            <a:srgbClr val="D6455D"/>
          </a:solidFill>
          <a:ln w="12700">
            <a:solidFill>
              <a:srgbClr val="D6455D">
                <a:alpha val="0"/>
              </a:srgbClr>
            </a:solidFill>
            <a:prstDash val="solid"/>
          </a:ln>
        </p:spPr>
      </p:sp>
      <p:sp>
        <p:nvSpPr>
          <p:cNvPr id="28" name="Text 25"/>
          <p:cNvSpPr/>
          <p:nvPr/>
        </p:nvSpPr>
        <p:spPr>
          <a:xfrm>
            <a:off x="6565392" y="2267712"/>
            <a:ext cx="4480560" cy="301752"/>
          </a:xfrm>
          <a:prstGeom prst="rect">
            <a:avLst/>
          </a:prstGeom>
          <a:noFill/>
          <a:ln/>
        </p:spPr>
        <p:txBody>
          <a:bodyPr wrap="square" lIns="0" tIns="0" rIns="0" bIns="0" rtlCol="0" anchor="ctr"/>
          <a:lstStyle/>
          <a:p>
            <a:pPr indent="0" marL="0">
              <a:buNone/>
            </a:pPr>
            <a:r>
              <a:rPr lang="en-US" sz="940" dirty="0">
                <a:solidFill>
                  <a:srgbClr val="102749"/>
                </a:solidFill>
                <a:latin typeface="Aptos" pitchFamily="34" charset="0"/>
                <a:ea typeface="Aptos" pitchFamily="34" charset="-122"/>
                <a:cs typeface="Aptos" pitchFamily="34" charset="-120"/>
              </a:rPr>
              <a:t>The process failed because of a technical problem rather than a business decision</a:t>
            </a:r>
            <a:endParaRPr lang="en-US" sz="940" dirty="0"/>
          </a:p>
        </p:txBody>
      </p:sp>
      <p:sp>
        <p:nvSpPr>
          <p:cNvPr id="29" name="Shape 26"/>
          <p:cNvSpPr/>
          <p:nvPr/>
        </p:nvSpPr>
        <p:spPr>
          <a:xfrm>
            <a:off x="6400800" y="2907792"/>
            <a:ext cx="100584" cy="100584"/>
          </a:xfrm>
          <a:prstGeom prst="ellipse">
            <a:avLst/>
          </a:prstGeom>
          <a:solidFill>
            <a:srgbClr val="D6455D"/>
          </a:solidFill>
          <a:ln w="12700">
            <a:solidFill>
              <a:srgbClr val="D6455D">
                <a:alpha val="0"/>
              </a:srgbClr>
            </a:solidFill>
            <a:prstDash val="solid"/>
          </a:ln>
        </p:spPr>
      </p:sp>
      <p:sp>
        <p:nvSpPr>
          <p:cNvPr id="30" name="Text 27"/>
          <p:cNvSpPr/>
          <p:nvPr/>
        </p:nvSpPr>
        <p:spPr>
          <a:xfrm>
            <a:off x="6565392" y="2834640"/>
            <a:ext cx="4480560" cy="301752"/>
          </a:xfrm>
          <a:prstGeom prst="rect">
            <a:avLst/>
          </a:prstGeom>
          <a:noFill/>
          <a:ln/>
        </p:spPr>
        <p:txBody>
          <a:bodyPr wrap="square" lIns="0" tIns="0" rIns="0" bIns="0" rtlCol="0" anchor="ctr"/>
          <a:lstStyle/>
          <a:p>
            <a:pPr indent="0" marL="0">
              <a:buNone/>
            </a:pPr>
            <a:r>
              <a:rPr lang="en-US" sz="940" dirty="0">
                <a:solidFill>
                  <a:srgbClr val="102749"/>
                </a:solidFill>
                <a:latin typeface="Aptos" pitchFamily="34" charset="0"/>
                <a:ea typeface="Aptos" pitchFamily="34" charset="-122"/>
                <a:cs typeface="Aptos" pitchFamily="34" charset="-120"/>
              </a:rPr>
              <a:t>Examples: application timeout, selector failure, login issue, download interruption, database lock</a:t>
            </a:r>
            <a:endParaRPr lang="en-US" sz="940" dirty="0"/>
          </a:p>
        </p:txBody>
      </p:sp>
      <p:sp>
        <p:nvSpPr>
          <p:cNvPr id="31" name="Shape 28"/>
          <p:cNvSpPr/>
          <p:nvPr/>
        </p:nvSpPr>
        <p:spPr>
          <a:xfrm>
            <a:off x="6400800" y="3474720"/>
            <a:ext cx="100584" cy="100584"/>
          </a:xfrm>
          <a:prstGeom prst="ellipse">
            <a:avLst/>
          </a:prstGeom>
          <a:solidFill>
            <a:srgbClr val="D6455D"/>
          </a:solidFill>
          <a:ln w="12700">
            <a:solidFill>
              <a:srgbClr val="D6455D">
                <a:alpha val="0"/>
              </a:srgbClr>
            </a:solidFill>
            <a:prstDash val="solid"/>
          </a:ln>
        </p:spPr>
      </p:sp>
      <p:sp>
        <p:nvSpPr>
          <p:cNvPr id="32" name="Text 29"/>
          <p:cNvSpPr/>
          <p:nvPr/>
        </p:nvSpPr>
        <p:spPr>
          <a:xfrm>
            <a:off x="6565392" y="3401568"/>
            <a:ext cx="4480560" cy="301752"/>
          </a:xfrm>
          <a:prstGeom prst="rect">
            <a:avLst/>
          </a:prstGeom>
          <a:noFill/>
          <a:ln/>
        </p:spPr>
        <p:txBody>
          <a:bodyPr wrap="square" lIns="0" tIns="0" rIns="0" bIns="0" rtlCol="0" anchor="ctr"/>
          <a:lstStyle/>
          <a:p>
            <a:pPr indent="0" marL="0">
              <a:buNone/>
            </a:pPr>
            <a:r>
              <a:rPr lang="en-US" sz="940" dirty="0">
                <a:solidFill>
                  <a:srgbClr val="102749"/>
                </a:solidFill>
                <a:latin typeface="Aptos" pitchFamily="34" charset="0"/>
                <a:ea typeface="Aptos" pitchFamily="34" charset="-122"/>
                <a:cs typeface="Aptos" pitchFamily="34" charset="-120"/>
              </a:rPr>
              <a:t>Typical treatment: retry when sensible, capture screenshots and logs, escalate if repeated, preserve recoverability</a:t>
            </a:r>
            <a:endParaRPr lang="en-US" sz="940" dirty="0"/>
          </a:p>
        </p:txBody>
      </p:sp>
      <p:sp>
        <p:nvSpPr>
          <p:cNvPr id="33" name="Shape 30"/>
          <p:cNvSpPr/>
          <p:nvPr/>
        </p:nvSpPr>
        <p:spPr>
          <a:xfrm>
            <a:off x="749808" y="4498848"/>
            <a:ext cx="7360920" cy="987552"/>
          </a:xfrm>
          <a:prstGeom prst="roundRect">
            <a:avLst>
              <a:gd name="adj" fmla="val 4630"/>
            </a:avLst>
          </a:prstGeom>
          <a:solidFill>
            <a:srgbClr val="FFFFFF"/>
          </a:solidFill>
          <a:ln w="12700">
            <a:solidFill>
              <a:srgbClr val="C7D5EA"/>
            </a:solidFill>
            <a:prstDash val="solid"/>
          </a:ln>
        </p:spPr>
      </p:sp>
      <p:sp>
        <p:nvSpPr>
          <p:cNvPr id="34" name="Shape 31"/>
          <p:cNvSpPr/>
          <p:nvPr/>
        </p:nvSpPr>
        <p:spPr>
          <a:xfrm>
            <a:off x="932688" y="4754880"/>
            <a:ext cx="100584" cy="100584"/>
          </a:xfrm>
          <a:prstGeom prst="ellipse">
            <a:avLst/>
          </a:prstGeom>
          <a:solidFill>
            <a:srgbClr val="1F6FFF"/>
          </a:solidFill>
          <a:ln w="12700">
            <a:solidFill>
              <a:srgbClr val="1F6FFF">
                <a:alpha val="0"/>
              </a:srgbClr>
            </a:solidFill>
            <a:prstDash val="solid"/>
          </a:ln>
        </p:spPr>
      </p:sp>
      <p:sp>
        <p:nvSpPr>
          <p:cNvPr id="35" name="Text 32"/>
          <p:cNvSpPr/>
          <p:nvPr/>
        </p:nvSpPr>
        <p:spPr>
          <a:xfrm>
            <a:off x="1097280" y="4681728"/>
            <a:ext cx="6949440"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Blind retry is useful only for some technical issues and usually makes no sense for genuine business exceptions</a:t>
            </a:r>
            <a:endParaRPr lang="en-US" sz="965" dirty="0"/>
          </a:p>
        </p:txBody>
      </p:sp>
      <p:sp>
        <p:nvSpPr>
          <p:cNvPr id="36" name="Shape 33"/>
          <p:cNvSpPr/>
          <p:nvPr/>
        </p:nvSpPr>
        <p:spPr>
          <a:xfrm>
            <a:off x="932688" y="4965192"/>
            <a:ext cx="100584" cy="100584"/>
          </a:xfrm>
          <a:prstGeom prst="ellipse">
            <a:avLst/>
          </a:prstGeom>
          <a:solidFill>
            <a:srgbClr val="1F6FFF"/>
          </a:solidFill>
          <a:ln w="12700">
            <a:solidFill>
              <a:srgbClr val="1F6FFF">
                <a:alpha val="0"/>
              </a:srgbClr>
            </a:solidFill>
            <a:prstDash val="solid"/>
          </a:ln>
        </p:spPr>
      </p:sp>
      <p:sp>
        <p:nvSpPr>
          <p:cNvPr id="37" name="Text 34"/>
          <p:cNvSpPr/>
          <p:nvPr/>
        </p:nvSpPr>
        <p:spPr>
          <a:xfrm>
            <a:off x="1097280" y="4892040"/>
            <a:ext cx="6949440"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Good exception design improves reporting quality because the business can see why work did not complete</a:t>
            </a:r>
            <a:endParaRPr lang="en-US" sz="965" dirty="0"/>
          </a:p>
        </p:txBody>
      </p:sp>
      <p:sp>
        <p:nvSpPr>
          <p:cNvPr id="38" name="Shape 35"/>
          <p:cNvSpPr/>
          <p:nvPr/>
        </p:nvSpPr>
        <p:spPr>
          <a:xfrm>
            <a:off x="932688" y="5175504"/>
            <a:ext cx="100584" cy="100584"/>
          </a:xfrm>
          <a:prstGeom prst="ellipse">
            <a:avLst/>
          </a:prstGeom>
          <a:solidFill>
            <a:srgbClr val="1F6FFF"/>
          </a:solidFill>
          <a:ln w="12700">
            <a:solidFill>
              <a:srgbClr val="1F6FFF">
                <a:alpha val="0"/>
              </a:srgbClr>
            </a:solidFill>
            <a:prstDash val="solid"/>
          </a:ln>
        </p:spPr>
      </p:sp>
      <p:sp>
        <p:nvSpPr>
          <p:cNvPr id="39" name="Text 36"/>
          <p:cNvSpPr/>
          <p:nvPr/>
        </p:nvSpPr>
        <p:spPr>
          <a:xfrm>
            <a:off x="1097280" y="5102352"/>
            <a:ext cx="6949440"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BAs help define what counts as a true business exception and what evidence should accompany it</a:t>
            </a:r>
            <a:endParaRPr lang="en-US" sz="965" dirty="0"/>
          </a:p>
        </p:txBody>
      </p:sp>
      <p:sp>
        <p:nvSpPr>
          <p:cNvPr id="40" name="Shape 37"/>
          <p:cNvSpPr/>
          <p:nvPr/>
        </p:nvSpPr>
        <p:spPr>
          <a:xfrm>
            <a:off x="8339328" y="4498848"/>
            <a:ext cx="3090672" cy="987552"/>
          </a:xfrm>
          <a:prstGeom prst="roundRect">
            <a:avLst>
              <a:gd name="adj" fmla="val 4630"/>
            </a:avLst>
          </a:prstGeom>
          <a:solidFill>
            <a:srgbClr val="FFF9EE"/>
          </a:solidFill>
          <a:ln w="12700">
            <a:solidFill>
              <a:srgbClr val="E6A019"/>
            </a:solidFill>
            <a:prstDash val="solid"/>
          </a:ln>
        </p:spPr>
      </p:sp>
      <p:sp>
        <p:nvSpPr>
          <p:cNvPr id="41" name="Text 38"/>
          <p:cNvSpPr/>
          <p:nvPr/>
        </p:nvSpPr>
        <p:spPr>
          <a:xfrm>
            <a:off x="8503920" y="4626864"/>
            <a:ext cx="2816352" cy="164592"/>
          </a:xfrm>
          <a:prstGeom prst="rect">
            <a:avLst/>
          </a:prstGeom>
          <a:noFill/>
          <a:ln/>
        </p:spPr>
        <p:txBody>
          <a:bodyPr wrap="square" lIns="0" tIns="0" rIns="0" bIns="0" rtlCol="0" anchor="ctr"/>
          <a:lstStyle/>
          <a:p>
            <a:pPr indent="0" marL="0">
              <a:buNone/>
            </a:pPr>
            <a:r>
              <a:rPr lang="en-US" sz="850" b="1" dirty="0">
                <a:solidFill>
                  <a:srgbClr val="E6A019"/>
                </a:solidFill>
                <a:latin typeface="Aptos" pitchFamily="34" charset="0"/>
                <a:ea typeface="Aptos" pitchFamily="34" charset="-122"/>
                <a:cs typeface="Aptos" pitchFamily="34" charset="-120"/>
              </a:rPr>
              <a:t>Critical Reminder</a:t>
            </a:r>
            <a:endParaRPr lang="en-US" sz="850" dirty="0"/>
          </a:p>
        </p:txBody>
      </p:sp>
      <p:sp>
        <p:nvSpPr>
          <p:cNvPr id="42" name="Text 39"/>
          <p:cNvSpPr/>
          <p:nvPr/>
        </p:nvSpPr>
        <p:spPr>
          <a:xfrm>
            <a:off x="8503920" y="4800600"/>
            <a:ext cx="2816352" cy="640080"/>
          </a:xfrm>
          <a:prstGeom prst="rect">
            <a:avLst/>
          </a:prstGeom>
          <a:noFill/>
          <a:ln/>
        </p:spPr>
        <p:txBody>
          <a:bodyPr wrap="square" lIns="254" tIns="254" rIns="254" bIns="254" rtlCol="0" anchor="ctr"/>
          <a:lstStyle/>
          <a:p>
            <a:pPr indent="0" marL="0">
              <a:buNone/>
            </a:pPr>
            <a:r>
              <a:rPr lang="en-US" sz="940" dirty="0">
                <a:solidFill>
                  <a:srgbClr val="102749"/>
                </a:solidFill>
                <a:latin typeface="Aptos" pitchFamily="34" charset="0"/>
                <a:ea typeface="Aptos" pitchFamily="34" charset="-122"/>
                <a:cs typeface="Aptos" pitchFamily="34" charset="-120"/>
              </a:rPr>
              <a:t>Exception handling is not optional.</a:t>
            </a:r>
            <a:endParaRPr lang="en-US" sz="940" dirty="0"/>
          </a:p>
        </p:txBody>
      </p:sp>
      <p:sp>
        <p:nvSpPr>
          <p:cNvPr id="43" name="Text 40"/>
          <p:cNvSpPr/>
          <p:nvPr/>
        </p:nvSpPr>
        <p:spPr>
          <a:xfrm>
            <a:off x="658368" y="6510528"/>
            <a:ext cx="2560320" cy="164592"/>
          </a:xfrm>
          <a:prstGeom prst="rect">
            <a:avLst/>
          </a:prstGeom>
          <a:noFill/>
          <a:ln/>
        </p:spPr>
        <p:txBody>
          <a:bodyPr wrap="square" lIns="0" tIns="0" rIns="0" bIns="0" rtlCol="0" anchor="ctr"/>
          <a:lstStyle/>
          <a:p>
            <a:pPr indent="0" marL="0">
              <a:buNone/>
            </a:pPr>
            <a:r>
              <a:rPr lang="en-US" sz="850" dirty="0">
                <a:solidFill>
                  <a:srgbClr val="51607B"/>
                </a:solidFill>
                <a:latin typeface="Aptos" pitchFamily="34" charset="0"/>
                <a:ea typeface="Aptos" pitchFamily="34" charset="-122"/>
                <a:cs typeface="Aptos" pitchFamily="34" charset="-120"/>
              </a:rPr>
              <a:t>Innobot  |  Internal workshop</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B"/>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F4F7FB"/>
          </a:solidFill>
          <a:ln/>
        </p:spPr>
      </p:sp>
      <p:sp>
        <p:nvSpPr>
          <p:cNvPr id="4" name="Shape 1"/>
          <p:cNvSpPr/>
          <p:nvPr/>
        </p:nvSpPr>
        <p:spPr>
          <a:xfrm>
            <a:off x="0" y="0"/>
            <a:ext cx="12191695" cy="411480"/>
          </a:xfrm>
          <a:prstGeom prst="rect">
            <a:avLst/>
          </a:prstGeom>
          <a:solidFill>
            <a:srgbClr val="0A1830"/>
          </a:solidFill>
          <a:ln/>
        </p:spPr>
      </p:sp>
      <p:sp>
        <p:nvSpPr>
          <p:cNvPr id="5" name="Shape 2"/>
          <p:cNvSpPr/>
          <p:nvPr/>
        </p:nvSpPr>
        <p:spPr>
          <a:xfrm>
            <a:off x="9509760" y="-137160"/>
            <a:ext cx="3200400" cy="2194560"/>
          </a:xfrm>
          <a:prstGeom prst="ellipse">
            <a:avLst/>
          </a:prstGeom>
          <a:solidFill>
            <a:srgbClr val="8AB8FF">
              <a:alpha val="16000"/>
            </a:srgbClr>
          </a:solidFill>
          <a:ln w="12700">
            <a:solidFill>
              <a:srgbClr val="8AB8FF">
                <a:alpha val="0"/>
              </a:srgbClr>
            </a:solidFill>
            <a:prstDash val="solid"/>
          </a:ln>
        </p:spPr>
      </p:sp>
      <p:sp>
        <p:nvSpPr>
          <p:cNvPr id="6" name="Shape 3"/>
          <p:cNvSpPr/>
          <p:nvPr/>
        </p:nvSpPr>
        <p:spPr>
          <a:xfrm>
            <a:off x="-731520" y="5394960"/>
            <a:ext cx="2560320" cy="1645920"/>
          </a:xfrm>
          <a:prstGeom prst="ellipse">
            <a:avLst/>
          </a:prstGeom>
          <a:solidFill>
            <a:srgbClr val="12B3A8">
              <a:alpha val="10000"/>
            </a:srgbClr>
          </a:solidFill>
          <a:ln w="12700">
            <a:solidFill>
              <a:srgbClr val="12B3A8">
                <a:alpha val="0"/>
              </a:srgbClr>
            </a:solidFill>
            <a:prstDash val="solid"/>
          </a:ln>
        </p:spPr>
      </p:sp>
      <p:sp>
        <p:nvSpPr>
          <p:cNvPr id="7" name="Text 4"/>
          <p:cNvSpPr/>
          <p:nvPr/>
        </p:nvSpPr>
        <p:spPr>
          <a:xfrm>
            <a:off x="658368" y="182880"/>
            <a:ext cx="2651760" cy="146304"/>
          </a:xfrm>
          <a:prstGeom prst="rect">
            <a:avLst/>
          </a:prstGeom>
          <a:noFill/>
          <a:ln/>
        </p:spPr>
        <p:txBody>
          <a:bodyPr wrap="square" lIns="0" tIns="0" rIns="0" bIns="0" rtlCol="0" anchor="ctr"/>
          <a:lstStyle/>
          <a:p>
            <a:pPr indent="0" marL="0">
              <a:buNone/>
            </a:pPr>
            <a:r>
              <a:rPr lang="en-US" sz="850" b="1" dirty="0">
                <a:solidFill>
                  <a:srgbClr val="8AB8FF"/>
                </a:solidFill>
                <a:latin typeface="Aptos" pitchFamily="34" charset="0"/>
                <a:ea typeface="Aptos" pitchFamily="34" charset="-122"/>
                <a:cs typeface="Aptos" pitchFamily="34" charset="-120"/>
              </a:rPr>
              <a:t>DELIVERY AND GOVERNANCE</a:t>
            </a:r>
            <a:endParaRPr lang="en-US" sz="850" dirty="0"/>
          </a:p>
        </p:txBody>
      </p:sp>
      <p:sp>
        <p:nvSpPr>
          <p:cNvPr id="8" name="Text 5"/>
          <p:cNvSpPr/>
          <p:nvPr/>
        </p:nvSpPr>
        <p:spPr>
          <a:xfrm>
            <a:off x="658368" y="612648"/>
            <a:ext cx="7223760" cy="411480"/>
          </a:xfrm>
          <a:prstGeom prst="rect">
            <a:avLst/>
          </a:prstGeom>
          <a:noFill/>
          <a:ln/>
        </p:spPr>
        <p:txBody>
          <a:bodyPr wrap="square" lIns="0" tIns="0" rIns="0" bIns="0" rtlCol="0" anchor="ctr"/>
          <a:lstStyle/>
          <a:p>
            <a:pPr indent="0" marL="0">
              <a:buNone/>
            </a:pPr>
            <a:r>
              <a:rPr lang="en-US" sz="2400" b="1" dirty="0">
                <a:solidFill>
                  <a:srgbClr val="102749"/>
                </a:solidFill>
                <a:latin typeface="Aptos Display" pitchFamily="34" charset="0"/>
                <a:ea typeface="Aptos Display" pitchFamily="34" charset="-122"/>
                <a:cs typeface="Aptos Display" pitchFamily="34" charset="-120"/>
              </a:rPr>
              <a:t>Why Process Stability Matters Before Automation</a:t>
            </a:r>
            <a:endParaRPr lang="en-US" sz="2400" dirty="0"/>
          </a:p>
        </p:txBody>
      </p:sp>
      <p:sp>
        <p:nvSpPr>
          <p:cNvPr id="9" name="Text 6"/>
          <p:cNvSpPr/>
          <p:nvPr/>
        </p:nvSpPr>
        <p:spPr>
          <a:xfrm>
            <a:off x="658368" y="1069848"/>
            <a:ext cx="7863840" cy="310896"/>
          </a:xfrm>
          <a:prstGeom prst="rect">
            <a:avLst/>
          </a:prstGeom>
          <a:noFill/>
          <a:ln/>
        </p:spPr>
        <p:txBody>
          <a:bodyPr wrap="square" lIns="0" tIns="0" rIns="0" bIns="0" rtlCol="0" anchor="ctr"/>
          <a:lstStyle/>
          <a:p>
            <a:pPr indent="0" marL="0">
              <a:buNone/>
            </a:pPr>
            <a:r>
              <a:rPr lang="en-US" sz="1100" dirty="0">
                <a:solidFill>
                  <a:srgbClr val="51607B"/>
                </a:solidFill>
                <a:latin typeface="Aptos" pitchFamily="34" charset="0"/>
                <a:ea typeface="Aptos" pitchFamily="34" charset="-122"/>
                <a:cs typeface="Aptos" pitchFamily="34" charset="-120"/>
              </a:rPr>
              <a:t>A weak or inconsistent process should be fixed before it is automated</a:t>
            </a:r>
            <a:endParaRPr lang="en-US" sz="1100" dirty="0"/>
          </a:p>
        </p:txBody>
      </p:sp>
      <p:sp>
        <p:nvSpPr>
          <p:cNvPr id="10" name="Text 7"/>
          <p:cNvSpPr/>
          <p:nvPr/>
        </p:nvSpPr>
        <p:spPr>
          <a:xfrm>
            <a:off x="11155680" y="530352"/>
            <a:ext cx="365760" cy="201168"/>
          </a:xfrm>
          <a:prstGeom prst="rect">
            <a:avLst/>
          </a:prstGeom>
          <a:noFill/>
          <a:ln/>
        </p:spPr>
        <p:txBody>
          <a:bodyPr wrap="square" lIns="0" tIns="0" rIns="0" bIns="0" rtlCol="0" anchor="ctr"/>
          <a:lstStyle/>
          <a:p>
            <a:pPr algn="r" indent="0" marL="0">
              <a:buNone/>
            </a:pPr>
            <a:r>
              <a:rPr lang="en-US" sz="950" dirty="0">
                <a:solidFill>
                  <a:srgbClr val="51607B"/>
                </a:solidFill>
                <a:latin typeface="Consolas" pitchFamily="34" charset="0"/>
                <a:ea typeface="Consolas" pitchFamily="34" charset="-122"/>
                <a:cs typeface="Consolas" pitchFamily="34" charset="-120"/>
              </a:rPr>
              <a:t>17</a:t>
            </a:r>
            <a:endParaRPr lang="en-US" sz="950" dirty="0"/>
          </a:p>
        </p:txBody>
      </p:sp>
      <p:sp>
        <p:nvSpPr>
          <p:cNvPr id="11" name="Shape 8"/>
          <p:cNvSpPr/>
          <p:nvPr/>
        </p:nvSpPr>
        <p:spPr>
          <a:xfrm>
            <a:off x="8366760" y="676656"/>
            <a:ext cx="3154680" cy="822960"/>
          </a:xfrm>
          <a:prstGeom prst="roundRect">
            <a:avLst>
              <a:gd name="adj" fmla="val 8889"/>
            </a:avLst>
          </a:prstGeom>
          <a:solidFill>
            <a:srgbClr val="FFFFFF"/>
          </a:solidFill>
          <a:ln w="12700">
            <a:solidFill>
              <a:srgbClr val="12B3A8">
                <a:alpha val="0"/>
              </a:srgbClr>
            </a:solidFill>
            <a:prstDash val="solid"/>
          </a:ln>
        </p:spPr>
      </p:sp>
      <p:sp>
        <p:nvSpPr>
          <p:cNvPr id="12" name="Shape 9"/>
          <p:cNvSpPr/>
          <p:nvPr/>
        </p:nvSpPr>
        <p:spPr>
          <a:xfrm>
            <a:off x="8366760" y="676656"/>
            <a:ext cx="73152" cy="822960"/>
          </a:xfrm>
          <a:prstGeom prst="rect">
            <a:avLst/>
          </a:prstGeom>
          <a:solidFill>
            <a:srgbClr val="12B3A8"/>
          </a:solidFill>
          <a:ln w="12700">
            <a:solidFill>
              <a:srgbClr val="12B3A8">
                <a:alpha val="0"/>
              </a:srgbClr>
            </a:solidFill>
            <a:prstDash val="solid"/>
          </a:ln>
        </p:spPr>
      </p:sp>
      <p:sp>
        <p:nvSpPr>
          <p:cNvPr id="13" name="Text 10"/>
          <p:cNvSpPr/>
          <p:nvPr/>
        </p:nvSpPr>
        <p:spPr>
          <a:xfrm>
            <a:off x="8531352" y="786384"/>
            <a:ext cx="1097280" cy="164592"/>
          </a:xfrm>
          <a:prstGeom prst="rect">
            <a:avLst/>
          </a:prstGeom>
          <a:noFill/>
          <a:ln/>
        </p:spPr>
        <p:txBody>
          <a:bodyPr wrap="square" lIns="0" tIns="0" rIns="0" bIns="0" rtlCol="0" anchor="ctr"/>
          <a:lstStyle/>
          <a:p>
            <a:pPr indent="0" marL="0">
              <a:buNone/>
            </a:pPr>
            <a:r>
              <a:rPr lang="en-US" sz="800" b="1" dirty="0">
                <a:solidFill>
                  <a:srgbClr val="12B3A8"/>
                </a:solidFill>
                <a:latin typeface="Aptos" pitchFamily="34" charset="0"/>
                <a:ea typeface="Aptos" pitchFamily="34" charset="-122"/>
                <a:cs typeface="Aptos" pitchFamily="34" charset="-120"/>
              </a:rPr>
              <a:t>Key takeaway</a:t>
            </a:r>
            <a:endParaRPr lang="en-US" sz="800" dirty="0"/>
          </a:p>
        </p:txBody>
      </p:sp>
      <p:sp>
        <p:nvSpPr>
          <p:cNvPr id="14" name="Text 11"/>
          <p:cNvSpPr/>
          <p:nvPr/>
        </p:nvSpPr>
        <p:spPr>
          <a:xfrm>
            <a:off x="8531352" y="932688"/>
            <a:ext cx="2880360" cy="521208"/>
          </a:xfrm>
          <a:prstGeom prst="rect">
            <a:avLst/>
          </a:prstGeom>
          <a:noFill/>
          <a:ln/>
        </p:spPr>
        <p:txBody>
          <a:bodyPr wrap="square" lIns="254" tIns="254" rIns="254" bIns="254" rtlCol="0" anchor="ctr"/>
          <a:lstStyle/>
          <a:p>
            <a:pPr indent="0" marL="0">
              <a:buNone/>
            </a:pPr>
            <a:r>
              <a:rPr lang="en-US" sz="920" dirty="0">
                <a:solidFill>
                  <a:srgbClr val="102749"/>
                </a:solidFill>
                <a:latin typeface="Aptos" pitchFamily="34" charset="0"/>
                <a:ea typeface="Aptos" pitchFamily="34" charset="-122"/>
                <a:cs typeface="Aptos" pitchFamily="34" charset="-120"/>
              </a:rPr>
              <a:t>Automation amplifies the quality of the underlying process. If the process is unstable, the bot becomes brittle, noisy, and expensive to support.</a:t>
            </a:r>
            <a:endParaRPr lang="en-US" sz="920" dirty="0"/>
          </a:p>
        </p:txBody>
      </p:sp>
      <p:sp>
        <p:nvSpPr>
          <p:cNvPr id="15" name="Shape 12"/>
          <p:cNvSpPr/>
          <p:nvPr/>
        </p:nvSpPr>
        <p:spPr>
          <a:xfrm>
            <a:off x="749808" y="1847088"/>
            <a:ext cx="3611880" cy="2011680"/>
          </a:xfrm>
          <a:prstGeom prst="roundRect">
            <a:avLst>
              <a:gd name="adj" fmla="val 2727"/>
            </a:avLst>
          </a:prstGeom>
          <a:solidFill>
            <a:srgbClr val="FFFFFF"/>
          </a:solidFill>
          <a:ln w="12700">
            <a:solidFill>
              <a:srgbClr val="C7D5EA"/>
            </a:solidFill>
            <a:prstDash val="solid"/>
          </a:ln>
        </p:spPr>
      </p:sp>
      <p:sp>
        <p:nvSpPr>
          <p:cNvPr id="16" name="Shape 13"/>
          <p:cNvSpPr/>
          <p:nvPr/>
        </p:nvSpPr>
        <p:spPr>
          <a:xfrm>
            <a:off x="749808" y="1847088"/>
            <a:ext cx="3611880" cy="64008"/>
          </a:xfrm>
          <a:prstGeom prst="rect">
            <a:avLst/>
          </a:prstGeom>
          <a:solidFill>
            <a:srgbClr val="D6455D"/>
          </a:solidFill>
          <a:ln w="12700">
            <a:solidFill>
              <a:srgbClr val="D6455D">
                <a:alpha val="0"/>
              </a:srgbClr>
            </a:solidFill>
            <a:prstDash val="solid"/>
          </a:ln>
        </p:spPr>
      </p:sp>
      <p:sp>
        <p:nvSpPr>
          <p:cNvPr id="17" name="Text 14"/>
          <p:cNvSpPr/>
          <p:nvPr/>
        </p:nvSpPr>
        <p:spPr>
          <a:xfrm>
            <a:off x="914400" y="2011680"/>
            <a:ext cx="333756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Warning Signs</a:t>
            </a:r>
            <a:endParaRPr lang="en-US" sz="1150" dirty="0"/>
          </a:p>
        </p:txBody>
      </p:sp>
      <p:sp>
        <p:nvSpPr>
          <p:cNvPr id="18" name="Text 15"/>
          <p:cNvSpPr/>
          <p:nvPr/>
        </p:nvSpPr>
        <p:spPr>
          <a:xfrm>
            <a:off x="914400" y="2286000"/>
            <a:ext cx="3337560" cy="1481328"/>
          </a:xfrm>
          <a:prstGeom prst="rect">
            <a:avLst/>
          </a:prstGeom>
          <a:noFill/>
          <a:ln/>
        </p:spPr>
        <p:txBody>
          <a:bodyPr wrap="square" lIns="254" tIns="254" rIns="254" bIns="254" rtlCol="0" anchor="t"/>
          <a:lstStyle/>
          <a:p>
            <a:pPr indent="0" marL="0">
              <a:buNone/>
            </a:pPr>
            <a:endParaRPr lang="en-US" sz="940" dirty="0"/>
          </a:p>
        </p:txBody>
      </p:sp>
      <p:sp>
        <p:nvSpPr>
          <p:cNvPr id="19" name="Shape 16"/>
          <p:cNvSpPr/>
          <p:nvPr/>
        </p:nvSpPr>
        <p:spPr>
          <a:xfrm>
            <a:off x="941832" y="2432304"/>
            <a:ext cx="100584" cy="100584"/>
          </a:xfrm>
          <a:prstGeom prst="ellipse">
            <a:avLst/>
          </a:prstGeom>
          <a:solidFill>
            <a:srgbClr val="D6455D"/>
          </a:solidFill>
          <a:ln w="12700">
            <a:solidFill>
              <a:srgbClr val="D6455D">
                <a:alpha val="0"/>
              </a:srgbClr>
            </a:solidFill>
            <a:prstDash val="solid"/>
          </a:ln>
        </p:spPr>
      </p:sp>
      <p:sp>
        <p:nvSpPr>
          <p:cNvPr id="20" name="Text 17"/>
          <p:cNvSpPr/>
          <p:nvPr/>
        </p:nvSpPr>
        <p:spPr>
          <a:xfrm>
            <a:off x="1106424" y="2359152"/>
            <a:ext cx="3017520" cy="301752"/>
          </a:xfrm>
          <a:prstGeom prst="rect">
            <a:avLst/>
          </a:prstGeom>
          <a:noFill/>
          <a:ln/>
        </p:spPr>
        <p:txBody>
          <a:bodyPr wrap="square" lIns="0" tIns="0" rIns="0" bIns="0" rtlCol="0" anchor="ctr"/>
          <a:lstStyle/>
          <a:p>
            <a:pPr indent="0" marL="0">
              <a:buNone/>
            </a:pPr>
            <a:r>
              <a:rPr lang="en-US" sz="950" dirty="0">
                <a:solidFill>
                  <a:srgbClr val="102749"/>
                </a:solidFill>
                <a:latin typeface="Aptos" pitchFamily="34" charset="0"/>
                <a:ea typeface="Aptos" pitchFamily="34" charset="-122"/>
                <a:cs typeface="Aptos" pitchFamily="34" charset="-120"/>
              </a:rPr>
              <a:t>Different teams perform the same step in different ways</a:t>
            </a:r>
            <a:endParaRPr lang="en-US" sz="950" dirty="0"/>
          </a:p>
        </p:txBody>
      </p:sp>
      <p:sp>
        <p:nvSpPr>
          <p:cNvPr id="21" name="Shape 18"/>
          <p:cNvSpPr/>
          <p:nvPr/>
        </p:nvSpPr>
        <p:spPr>
          <a:xfrm>
            <a:off x="941832" y="2798064"/>
            <a:ext cx="100584" cy="100584"/>
          </a:xfrm>
          <a:prstGeom prst="ellipse">
            <a:avLst/>
          </a:prstGeom>
          <a:solidFill>
            <a:srgbClr val="D6455D"/>
          </a:solidFill>
          <a:ln w="12700">
            <a:solidFill>
              <a:srgbClr val="D6455D">
                <a:alpha val="0"/>
              </a:srgbClr>
            </a:solidFill>
            <a:prstDash val="solid"/>
          </a:ln>
        </p:spPr>
      </p:sp>
      <p:sp>
        <p:nvSpPr>
          <p:cNvPr id="22" name="Text 19"/>
          <p:cNvSpPr/>
          <p:nvPr/>
        </p:nvSpPr>
        <p:spPr>
          <a:xfrm>
            <a:off x="1106424" y="2724912"/>
            <a:ext cx="3017520" cy="301752"/>
          </a:xfrm>
          <a:prstGeom prst="rect">
            <a:avLst/>
          </a:prstGeom>
          <a:noFill/>
          <a:ln/>
        </p:spPr>
        <p:txBody>
          <a:bodyPr wrap="square" lIns="0" tIns="0" rIns="0" bIns="0" rtlCol="0" anchor="ctr"/>
          <a:lstStyle/>
          <a:p>
            <a:pPr indent="0" marL="0">
              <a:buNone/>
            </a:pPr>
            <a:r>
              <a:rPr lang="en-US" sz="950" dirty="0">
                <a:solidFill>
                  <a:srgbClr val="102749"/>
                </a:solidFill>
                <a:latin typeface="Aptos" pitchFamily="34" charset="0"/>
                <a:ea typeface="Aptos" pitchFamily="34" charset="-122"/>
                <a:cs typeface="Aptos" pitchFamily="34" charset="-120"/>
              </a:rPr>
              <a:t>The business cannot agree on the correct output</a:t>
            </a:r>
            <a:endParaRPr lang="en-US" sz="950" dirty="0"/>
          </a:p>
        </p:txBody>
      </p:sp>
      <p:sp>
        <p:nvSpPr>
          <p:cNvPr id="23" name="Shape 20"/>
          <p:cNvSpPr/>
          <p:nvPr/>
        </p:nvSpPr>
        <p:spPr>
          <a:xfrm>
            <a:off x="941832" y="3163824"/>
            <a:ext cx="100584" cy="100584"/>
          </a:xfrm>
          <a:prstGeom prst="ellipse">
            <a:avLst/>
          </a:prstGeom>
          <a:solidFill>
            <a:srgbClr val="D6455D"/>
          </a:solidFill>
          <a:ln w="12700">
            <a:solidFill>
              <a:srgbClr val="D6455D">
                <a:alpha val="0"/>
              </a:srgbClr>
            </a:solidFill>
            <a:prstDash val="solid"/>
          </a:ln>
        </p:spPr>
      </p:sp>
      <p:sp>
        <p:nvSpPr>
          <p:cNvPr id="24" name="Text 21"/>
          <p:cNvSpPr/>
          <p:nvPr/>
        </p:nvSpPr>
        <p:spPr>
          <a:xfrm>
            <a:off x="1106424" y="3090672"/>
            <a:ext cx="3017520" cy="301752"/>
          </a:xfrm>
          <a:prstGeom prst="rect">
            <a:avLst/>
          </a:prstGeom>
          <a:noFill/>
          <a:ln/>
        </p:spPr>
        <p:txBody>
          <a:bodyPr wrap="square" lIns="0" tIns="0" rIns="0" bIns="0" rtlCol="0" anchor="ctr"/>
          <a:lstStyle/>
          <a:p>
            <a:pPr indent="0" marL="0">
              <a:buNone/>
            </a:pPr>
            <a:r>
              <a:rPr lang="en-US" sz="950" dirty="0">
                <a:solidFill>
                  <a:srgbClr val="102749"/>
                </a:solidFill>
                <a:latin typeface="Aptos" pitchFamily="34" charset="0"/>
                <a:ea typeface="Aptos" pitchFamily="34" charset="-122"/>
                <a:cs typeface="Aptos" pitchFamily="34" charset="-120"/>
              </a:rPr>
              <a:t>Exception volume is high and poorly understood</a:t>
            </a:r>
            <a:endParaRPr lang="en-US" sz="950" dirty="0"/>
          </a:p>
        </p:txBody>
      </p:sp>
      <p:sp>
        <p:nvSpPr>
          <p:cNvPr id="25" name="Shape 22"/>
          <p:cNvSpPr/>
          <p:nvPr/>
        </p:nvSpPr>
        <p:spPr>
          <a:xfrm>
            <a:off x="941832" y="3529584"/>
            <a:ext cx="100584" cy="100584"/>
          </a:xfrm>
          <a:prstGeom prst="ellipse">
            <a:avLst/>
          </a:prstGeom>
          <a:solidFill>
            <a:srgbClr val="D6455D"/>
          </a:solidFill>
          <a:ln w="12700">
            <a:solidFill>
              <a:srgbClr val="D6455D">
                <a:alpha val="0"/>
              </a:srgbClr>
            </a:solidFill>
            <a:prstDash val="solid"/>
          </a:ln>
        </p:spPr>
      </p:sp>
      <p:sp>
        <p:nvSpPr>
          <p:cNvPr id="26" name="Text 23"/>
          <p:cNvSpPr/>
          <p:nvPr/>
        </p:nvSpPr>
        <p:spPr>
          <a:xfrm>
            <a:off x="1106424" y="3456432"/>
            <a:ext cx="3017520" cy="301752"/>
          </a:xfrm>
          <a:prstGeom prst="rect">
            <a:avLst/>
          </a:prstGeom>
          <a:noFill/>
          <a:ln/>
        </p:spPr>
        <p:txBody>
          <a:bodyPr wrap="square" lIns="0" tIns="0" rIns="0" bIns="0" rtlCol="0" anchor="ctr"/>
          <a:lstStyle/>
          <a:p>
            <a:pPr indent="0" marL="0">
              <a:buNone/>
            </a:pPr>
            <a:r>
              <a:rPr lang="en-US" sz="950" dirty="0">
                <a:solidFill>
                  <a:srgbClr val="102749"/>
                </a:solidFill>
                <a:latin typeface="Aptos" pitchFamily="34" charset="0"/>
                <a:ea typeface="Aptos" pitchFamily="34" charset="-122"/>
                <a:cs typeface="Aptos" pitchFamily="34" charset="-120"/>
              </a:rPr>
              <a:t>Source reports or inputs change frequently</a:t>
            </a:r>
            <a:endParaRPr lang="en-US" sz="950" dirty="0"/>
          </a:p>
        </p:txBody>
      </p:sp>
      <p:sp>
        <p:nvSpPr>
          <p:cNvPr id="27" name="Shape 24"/>
          <p:cNvSpPr/>
          <p:nvPr/>
        </p:nvSpPr>
        <p:spPr>
          <a:xfrm>
            <a:off x="4681728" y="1847088"/>
            <a:ext cx="3611880" cy="2011680"/>
          </a:xfrm>
          <a:prstGeom prst="roundRect">
            <a:avLst>
              <a:gd name="adj" fmla="val 2727"/>
            </a:avLst>
          </a:prstGeom>
          <a:solidFill>
            <a:srgbClr val="FFFFFF"/>
          </a:solidFill>
          <a:ln w="12700">
            <a:solidFill>
              <a:srgbClr val="C7D5EA"/>
            </a:solidFill>
            <a:prstDash val="solid"/>
          </a:ln>
        </p:spPr>
      </p:sp>
      <p:sp>
        <p:nvSpPr>
          <p:cNvPr id="28" name="Shape 25"/>
          <p:cNvSpPr/>
          <p:nvPr/>
        </p:nvSpPr>
        <p:spPr>
          <a:xfrm>
            <a:off x="4681728" y="1847088"/>
            <a:ext cx="3611880" cy="64008"/>
          </a:xfrm>
          <a:prstGeom prst="rect">
            <a:avLst/>
          </a:prstGeom>
          <a:solidFill>
            <a:srgbClr val="12B3A8"/>
          </a:solidFill>
          <a:ln w="12700">
            <a:solidFill>
              <a:srgbClr val="12B3A8">
                <a:alpha val="0"/>
              </a:srgbClr>
            </a:solidFill>
            <a:prstDash val="solid"/>
          </a:ln>
        </p:spPr>
      </p:sp>
      <p:sp>
        <p:nvSpPr>
          <p:cNvPr id="29" name="Text 26"/>
          <p:cNvSpPr/>
          <p:nvPr/>
        </p:nvSpPr>
        <p:spPr>
          <a:xfrm>
            <a:off x="4846320" y="2011680"/>
            <a:ext cx="333756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Readiness Signals</a:t>
            </a:r>
            <a:endParaRPr lang="en-US" sz="1150" dirty="0"/>
          </a:p>
        </p:txBody>
      </p:sp>
      <p:sp>
        <p:nvSpPr>
          <p:cNvPr id="30" name="Text 27"/>
          <p:cNvSpPr/>
          <p:nvPr/>
        </p:nvSpPr>
        <p:spPr>
          <a:xfrm>
            <a:off x="4846320" y="2286000"/>
            <a:ext cx="3337560" cy="1481328"/>
          </a:xfrm>
          <a:prstGeom prst="rect">
            <a:avLst/>
          </a:prstGeom>
          <a:noFill/>
          <a:ln/>
        </p:spPr>
        <p:txBody>
          <a:bodyPr wrap="square" lIns="254" tIns="254" rIns="254" bIns="254" rtlCol="0" anchor="t"/>
          <a:lstStyle/>
          <a:p>
            <a:pPr indent="0" marL="0">
              <a:buNone/>
            </a:pPr>
            <a:endParaRPr lang="en-US" sz="940" dirty="0"/>
          </a:p>
        </p:txBody>
      </p:sp>
      <p:sp>
        <p:nvSpPr>
          <p:cNvPr id="31" name="Shape 28"/>
          <p:cNvSpPr/>
          <p:nvPr/>
        </p:nvSpPr>
        <p:spPr>
          <a:xfrm>
            <a:off x="4873752" y="2432304"/>
            <a:ext cx="100584" cy="100584"/>
          </a:xfrm>
          <a:prstGeom prst="ellipse">
            <a:avLst/>
          </a:prstGeom>
          <a:solidFill>
            <a:srgbClr val="12B3A8"/>
          </a:solidFill>
          <a:ln w="12700">
            <a:solidFill>
              <a:srgbClr val="12B3A8">
                <a:alpha val="0"/>
              </a:srgbClr>
            </a:solidFill>
            <a:prstDash val="solid"/>
          </a:ln>
        </p:spPr>
      </p:sp>
      <p:sp>
        <p:nvSpPr>
          <p:cNvPr id="32" name="Text 29"/>
          <p:cNvSpPr/>
          <p:nvPr/>
        </p:nvSpPr>
        <p:spPr>
          <a:xfrm>
            <a:off x="5038344" y="2359152"/>
            <a:ext cx="3017520" cy="301752"/>
          </a:xfrm>
          <a:prstGeom prst="rect">
            <a:avLst/>
          </a:prstGeom>
          <a:noFill/>
          <a:ln/>
        </p:spPr>
        <p:txBody>
          <a:bodyPr wrap="square" lIns="0" tIns="0" rIns="0" bIns="0" rtlCol="0" anchor="ctr"/>
          <a:lstStyle/>
          <a:p>
            <a:pPr indent="0" marL="0">
              <a:buNone/>
            </a:pPr>
            <a:r>
              <a:rPr lang="en-US" sz="950" dirty="0">
                <a:solidFill>
                  <a:srgbClr val="102749"/>
                </a:solidFill>
                <a:latin typeface="Aptos" pitchFamily="34" charset="0"/>
                <a:ea typeface="Aptos" pitchFamily="34" charset="-122"/>
                <a:cs typeface="Aptos" pitchFamily="34" charset="-120"/>
              </a:rPr>
              <a:t>Rules are explicit and agreed</a:t>
            </a:r>
            <a:endParaRPr lang="en-US" sz="950" dirty="0"/>
          </a:p>
        </p:txBody>
      </p:sp>
      <p:sp>
        <p:nvSpPr>
          <p:cNvPr id="33" name="Shape 30"/>
          <p:cNvSpPr/>
          <p:nvPr/>
        </p:nvSpPr>
        <p:spPr>
          <a:xfrm>
            <a:off x="4873752" y="2798064"/>
            <a:ext cx="100584" cy="100584"/>
          </a:xfrm>
          <a:prstGeom prst="ellipse">
            <a:avLst/>
          </a:prstGeom>
          <a:solidFill>
            <a:srgbClr val="12B3A8"/>
          </a:solidFill>
          <a:ln w="12700">
            <a:solidFill>
              <a:srgbClr val="12B3A8">
                <a:alpha val="0"/>
              </a:srgbClr>
            </a:solidFill>
            <a:prstDash val="solid"/>
          </a:ln>
        </p:spPr>
      </p:sp>
      <p:sp>
        <p:nvSpPr>
          <p:cNvPr id="34" name="Text 31"/>
          <p:cNvSpPr/>
          <p:nvPr/>
        </p:nvSpPr>
        <p:spPr>
          <a:xfrm>
            <a:off x="5038344" y="2724912"/>
            <a:ext cx="3017520" cy="301752"/>
          </a:xfrm>
          <a:prstGeom prst="rect">
            <a:avLst/>
          </a:prstGeom>
          <a:noFill/>
          <a:ln/>
        </p:spPr>
        <p:txBody>
          <a:bodyPr wrap="square" lIns="0" tIns="0" rIns="0" bIns="0" rtlCol="0" anchor="ctr"/>
          <a:lstStyle/>
          <a:p>
            <a:pPr indent="0" marL="0">
              <a:buNone/>
            </a:pPr>
            <a:r>
              <a:rPr lang="en-US" sz="950" dirty="0">
                <a:solidFill>
                  <a:srgbClr val="102749"/>
                </a:solidFill>
                <a:latin typeface="Aptos" pitchFamily="34" charset="0"/>
                <a:ea typeface="Aptos" pitchFamily="34" charset="-122"/>
                <a:cs typeface="Aptos" pitchFamily="34" charset="-120"/>
              </a:rPr>
              <a:t>Inputs are stable and accessible</a:t>
            </a:r>
            <a:endParaRPr lang="en-US" sz="950" dirty="0"/>
          </a:p>
        </p:txBody>
      </p:sp>
      <p:sp>
        <p:nvSpPr>
          <p:cNvPr id="35" name="Shape 32"/>
          <p:cNvSpPr/>
          <p:nvPr/>
        </p:nvSpPr>
        <p:spPr>
          <a:xfrm>
            <a:off x="4873752" y="3163824"/>
            <a:ext cx="100584" cy="100584"/>
          </a:xfrm>
          <a:prstGeom prst="ellipse">
            <a:avLst/>
          </a:prstGeom>
          <a:solidFill>
            <a:srgbClr val="12B3A8"/>
          </a:solidFill>
          <a:ln w="12700">
            <a:solidFill>
              <a:srgbClr val="12B3A8">
                <a:alpha val="0"/>
              </a:srgbClr>
            </a:solidFill>
            <a:prstDash val="solid"/>
          </a:ln>
        </p:spPr>
      </p:sp>
      <p:sp>
        <p:nvSpPr>
          <p:cNvPr id="36" name="Text 33"/>
          <p:cNvSpPr/>
          <p:nvPr/>
        </p:nvSpPr>
        <p:spPr>
          <a:xfrm>
            <a:off x="5038344" y="3090672"/>
            <a:ext cx="3017520" cy="301752"/>
          </a:xfrm>
          <a:prstGeom prst="rect">
            <a:avLst/>
          </a:prstGeom>
          <a:noFill/>
          <a:ln/>
        </p:spPr>
        <p:txBody>
          <a:bodyPr wrap="square" lIns="0" tIns="0" rIns="0" bIns="0" rtlCol="0" anchor="ctr"/>
          <a:lstStyle/>
          <a:p>
            <a:pPr indent="0" marL="0">
              <a:buNone/>
            </a:pPr>
            <a:r>
              <a:rPr lang="en-US" sz="950" dirty="0">
                <a:solidFill>
                  <a:srgbClr val="102749"/>
                </a:solidFill>
                <a:latin typeface="Aptos" pitchFamily="34" charset="0"/>
                <a:ea typeface="Aptos" pitchFamily="34" charset="-122"/>
                <a:cs typeface="Aptos" pitchFamily="34" charset="-120"/>
              </a:rPr>
              <a:t>Outputs are measurable and reviewable</a:t>
            </a:r>
            <a:endParaRPr lang="en-US" sz="950" dirty="0"/>
          </a:p>
        </p:txBody>
      </p:sp>
      <p:sp>
        <p:nvSpPr>
          <p:cNvPr id="37" name="Shape 34"/>
          <p:cNvSpPr/>
          <p:nvPr/>
        </p:nvSpPr>
        <p:spPr>
          <a:xfrm>
            <a:off x="4873752" y="3529584"/>
            <a:ext cx="100584" cy="100584"/>
          </a:xfrm>
          <a:prstGeom prst="ellipse">
            <a:avLst/>
          </a:prstGeom>
          <a:solidFill>
            <a:srgbClr val="12B3A8"/>
          </a:solidFill>
          <a:ln w="12700">
            <a:solidFill>
              <a:srgbClr val="12B3A8">
                <a:alpha val="0"/>
              </a:srgbClr>
            </a:solidFill>
            <a:prstDash val="solid"/>
          </a:ln>
        </p:spPr>
      </p:sp>
      <p:sp>
        <p:nvSpPr>
          <p:cNvPr id="38" name="Text 35"/>
          <p:cNvSpPr/>
          <p:nvPr/>
        </p:nvSpPr>
        <p:spPr>
          <a:xfrm>
            <a:off x="5038344" y="3456432"/>
            <a:ext cx="3017520" cy="301752"/>
          </a:xfrm>
          <a:prstGeom prst="rect">
            <a:avLst/>
          </a:prstGeom>
          <a:noFill/>
          <a:ln/>
        </p:spPr>
        <p:txBody>
          <a:bodyPr wrap="square" lIns="0" tIns="0" rIns="0" bIns="0" rtlCol="0" anchor="ctr"/>
          <a:lstStyle/>
          <a:p>
            <a:pPr indent="0" marL="0">
              <a:buNone/>
            </a:pPr>
            <a:r>
              <a:rPr lang="en-US" sz="950" dirty="0">
                <a:solidFill>
                  <a:srgbClr val="102749"/>
                </a:solidFill>
                <a:latin typeface="Aptos" pitchFamily="34" charset="0"/>
                <a:ea typeface="Aptos" pitchFamily="34" charset="-122"/>
                <a:cs typeface="Aptos" pitchFamily="34" charset="-120"/>
              </a:rPr>
              <a:t>Exceptions have known owners and routes</a:t>
            </a:r>
            <a:endParaRPr lang="en-US" sz="950" dirty="0"/>
          </a:p>
        </p:txBody>
      </p:sp>
      <p:sp>
        <p:nvSpPr>
          <p:cNvPr id="39" name="Shape 36"/>
          <p:cNvSpPr/>
          <p:nvPr/>
        </p:nvSpPr>
        <p:spPr>
          <a:xfrm>
            <a:off x="8211312" y="1847088"/>
            <a:ext cx="3200400" cy="2011680"/>
          </a:xfrm>
          <a:prstGeom prst="roundRect">
            <a:avLst>
              <a:gd name="adj" fmla="val 2273"/>
            </a:avLst>
          </a:prstGeom>
          <a:solidFill>
            <a:srgbClr val="FFFFFF"/>
          </a:solidFill>
          <a:ln w="12700">
            <a:solidFill>
              <a:srgbClr val="C7D5EA"/>
            </a:solidFill>
            <a:prstDash val="solid"/>
          </a:ln>
        </p:spPr>
      </p:sp>
      <p:sp>
        <p:nvSpPr>
          <p:cNvPr id="40" name="Shape 37"/>
          <p:cNvSpPr/>
          <p:nvPr/>
        </p:nvSpPr>
        <p:spPr>
          <a:xfrm>
            <a:off x="8394192" y="2103120"/>
            <a:ext cx="100584" cy="100584"/>
          </a:xfrm>
          <a:prstGeom prst="ellipse">
            <a:avLst/>
          </a:prstGeom>
          <a:solidFill>
            <a:srgbClr val="1F6FFF"/>
          </a:solidFill>
          <a:ln w="12700">
            <a:solidFill>
              <a:srgbClr val="1F6FFF">
                <a:alpha val="0"/>
              </a:srgbClr>
            </a:solidFill>
            <a:prstDash val="solid"/>
          </a:ln>
        </p:spPr>
      </p:sp>
      <p:sp>
        <p:nvSpPr>
          <p:cNvPr id="41" name="Text 38"/>
          <p:cNvSpPr/>
          <p:nvPr/>
        </p:nvSpPr>
        <p:spPr>
          <a:xfrm>
            <a:off x="8558784" y="2029968"/>
            <a:ext cx="2788920"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Frequent policy changes, undocumented variants, inconsistent user workarounds, and unclear ownership are signs that the process is not automation-ready</a:t>
            </a:r>
            <a:endParaRPr lang="en-US" sz="965" dirty="0"/>
          </a:p>
        </p:txBody>
      </p:sp>
      <p:sp>
        <p:nvSpPr>
          <p:cNvPr id="42" name="Shape 39"/>
          <p:cNvSpPr/>
          <p:nvPr/>
        </p:nvSpPr>
        <p:spPr>
          <a:xfrm>
            <a:off x="8394192" y="2313432"/>
            <a:ext cx="100584" cy="100584"/>
          </a:xfrm>
          <a:prstGeom prst="ellipse">
            <a:avLst/>
          </a:prstGeom>
          <a:solidFill>
            <a:srgbClr val="1F6FFF"/>
          </a:solidFill>
          <a:ln w="12700">
            <a:solidFill>
              <a:srgbClr val="1F6FFF">
                <a:alpha val="0"/>
              </a:srgbClr>
            </a:solidFill>
            <a:prstDash val="solid"/>
          </a:ln>
        </p:spPr>
      </p:sp>
      <p:sp>
        <p:nvSpPr>
          <p:cNvPr id="43" name="Text 40"/>
          <p:cNvSpPr/>
          <p:nvPr/>
        </p:nvSpPr>
        <p:spPr>
          <a:xfrm>
            <a:off x="8558784" y="2240280"/>
            <a:ext cx="2788920"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Poor input quality, missing reference data, or uncertain completion criteria lead to avoidable defects and repeated exception handling</a:t>
            </a:r>
            <a:endParaRPr lang="en-US" sz="965" dirty="0"/>
          </a:p>
        </p:txBody>
      </p:sp>
      <p:sp>
        <p:nvSpPr>
          <p:cNvPr id="44" name="Shape 41"/>
          <p:cNvSpPr/>
          <p:nvPr/>
        </p:nvSpPr>
        <p:spPr>
          <a:xfrm>
            <a:off x="8394192" y="2523744"/>
            <a:ext cx="100584" cy="100584"/>
          </a:xfrm>
          <a:prstGeom prst="ellipse">
            <a:avLst/>
          </a:prstGeom>
          <a:solidFill>
            <a:srgbClr val="1F6FFF"/>
          </a:solidFill>
          <a:ln w="12700">
            <a:solidFill>
              <a:srgbClr val="1F6FFF">
                <a:alpha val="0"/>
              </a:srgbClr>
            </a:solidFill>
            <a:prstDash val="solid"/>
          </a:ln>
        </p:spPr>
      </p:sp>
      <p:sp>
        <p:nvSpPr>
          <p:cNvPr id="45" name="Text 42"/>
          <p:cNvSpPr/>
          <p:nvPr/>
        </p:nvSpPr>
        <p:spPr>
          <a:xfrm>
            <a:off x="8558784" y="2450592"/>
            <a:ext cx="2788920"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Stabilizing the process first often creates more value than rushing into development</a:t>
            </a:r>
            <a:endParaRPr lang="en-US" sz="965" dirty="0"/>
          </a:p>
        </p:txBody>
      </p:sp>
      <p:sp>
        <p:nvSpPr>
          <p:cNvPr id="46" name="Shape 43"/>
          <p:cNvSpPr/>
          <p:nvPr/>
        </p:nvSpPr>
        <p:spPr>
          <a:xfrm>
            <a:off x="8394192" y="2734056"/>
            <a:ext cx="100584" cy="100584"/>
          </a:xfrm>
          <a:prstGeom prst="ellipse">
            <a:avLst/>
          </a:prstGeom>
          <a:solidFill>
            <a:srgbClr val="1F6FFF"/>
          </a:solidFill>
          <a:ln w="12700">
            <a:solidFill>
              <a:srgbClr val="1F6FFF">
                <a:alpha val="0"/>
              </a:srgbClr>
            </a:solidFill>
            <a:prstDash val="solid"/>
          </a:ln>
        </p:spPr>
      </p:sp>
      <p:sp>
        <p:nvSpPr>
          <p:cNvPr id="47" name="Text 44"/>
          <p:cNvSpPr/>
          <p:nvPr/>
        </p:nvSpPr>
        <p:spPr>
          <a:xfrm>
            <a:off x="8558784" y="2660904"/>
            <a:ext cx="2788920"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Not every manual task is a good automation candidate, especially when judgment, ambiguity, or constant change dominate the work</a:t>
            </a:r>
            <a:endParaRPr lang="en-US" sz="965" dirty="0"/>
          </a:p>
        </p:txBody>
      </p:sp>
      <p:sp>
        <p:nvSpPr>
          <p:cNvPr id="48" name="Shape 45"/>
          <p:cNvSpPr/>
          <p:nvPr/>
        </p:nvSpPr>
        <p:spPr>
          <a:xfrm>
            <a:off x="749808" y="4572000"/>
            <a:ext cx="10661904" cy="841248"/>
          </a:xfrm>
          <a:prstGeom prst="roundRect">
            <a:avLst>
              <a:gd name="adj" fmla="val 5435"/>
            </a:avLst>
          </a:prstGeom>
          <a:solidFill>
            <a:srgbClr val="FFF9EE"/>
          </a:solidFill>
          <a:ln w="12700">
            <a:solidFill>
              <a:srgbClr val="E6A019"/>
            </a:solidFill>
            <a:prstDash val="solid"/>
          </a:ln>
        </p:spPr>
      </p:sp>
      <p:sp>
        <p:nvSpPr>
          <p:cNvPr id="49" name="Text 46"/>
          <p:cNvSpPr/>
          <p:nvPr/>
        </p:nvSpPr>
        <p:spPr>
          <a:xfrm>
            <a:off x="914400" y="4700016"/>
            <a:ext cx="10387584" cy="164592"/>
          </a:xfrm>
          <a:prstGeom prst="rect">
            <a:avLst/>
          </a:prstGeom>
          <a:noFill/>
          <a:ln/>
        </p:spPr>
        <p:txBody>
          <a:bodyPr wrap="square" lIns="0" tIns="0" rIns="0" bIns="0" rtlCol="0" anchor="ctr"/>
          <a:lstStyle/>
          <a:p>
            <a:pPr indent="0" marL="0">
              <a:buNone/>
            </a:pPr>
            <a:r>
              <a:rPr lang="en-US" sz="850" b="1" dirty="0">
                <a:solidFill>
                  <a:srgbClr val="E6A019"/>
                </a:solidFill>
                <a:latin typeface="Aptos" pitchFamily="34" charset="0"/>
                <a:ea typeface="Aptos" pitchFamily="34" charset="-122"/>
                <a:cs typeface="Aptos" pitchFamily="34" charset="-120"/>
              </a:rPr>
              <a:t>Do Not Automate Chaos</a:t>
            </a:r>
            <a:endParaRPr lang="en-US" sz="850" dirty="0"/>
          </a:p>
        </p:txBody>
      </p:sp>
      <p:sp>
        <p:nvSpPr>
          <p:cNvPr id="50" name="Text 47"/>
          <p:cNvSpPr/>
          <p:nvPr/>
        </p:nvSpPr>
        <p:spPr>
          <a:xfrm>
            <a:off x="914400" y="4873752"/>
            <a:ext cx="10387584" cy="493776"/>
          </a:xfrm>
          <a:prstGeom prst="rect">
            <a:avLst/>
          </a:prstGeom>
          <a:noFill/>
          <a:ln/>
        </p:spPr>
        <p:txBody>
          <a:bodyPr wrap="square" lIns="254" tIns="254" rIns="254" bIns="254" rtlCol="0" anchor="ctr"/>
          <a:lstStyle/>
          <a:p>
            <a:pPr indent="0" marL="0">
              <a:buNone/>
            </a:pPr>
            <a:r>
              <a:rPr lang="en-US" sz="940" dirty="0">
                <a:solidFill>
                  <a:srgbClr val="102749"/>
                </a:solidFill>
                <a:latin typeface="Aptos" pitchFamily="34" charset="0"/>
                <a:ea typeface="Aptos" pitchFamily="34" charset="-122"/>
                <a:cs typeface="Aptos" pitchFamily="34" charset="-120"/>
              </a:rPr>
              <a:t>Stabilize first, then automate with confidence.</a:t>
            </a:r>
            <a:endParaRPr lang="en-US" sz="940" dirty="0"/>
          </a:p>
        </p:txBody>
      </p:sp>
      <p:sp>
        <p:nvSpPr>
          <p:cNvPr id="51" name="Text 48"/>
          <p:cNvSpPr/>
          <p:nvPr/>
        </p:nvSpPr>
        <p:spPr>
          <a:xfrm>
            <a:off x="658368" y="6510528"/>
            <a:ext cx="2560320" cy="164592"/>
          </a:xfrm>
          <a:prstGeom prst="rect">
            <a:avLst/>
          </a:prstGeom>
          <a:noFill/>
          <a:ln/>
        </p:spPr>
        <p:txBody>
          <a:bodyPr wrap="square" lIns="0" tIns="0" rIns="0" bIns="0" rtlCol="0" anchor="ctr"/>
          <a:lstStyle/>
          <a:p>
            <a:pPr indent="0" marL="0">
              <a:buNone/>
            </a:pPr>
            <a:r>
              <a:rPr lang="en-US" sz="850" dirty="0">
                <a:solidFill>
                  <a:srgbClr val="51607B"/>
                </a:solidFill>
                <a:latin typeface="Aptos" pitchFamily="34" charset="0"/>
                <a:ea typeface="Aptos" pitchFamily="34" charset="-122"/>
                <a:cs typeface="Aptos" pitchFamily="34" charset="-120"/>
              </a:rPr>
              <a:t>Innobot  |  Internal workshop</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B"/>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F4F7FB"/>
          </a:solidFill>
          <a:ln/>
        </p:spPr>
      </p:sp>
      <p:sp>
        <p:nvSpPr>
          <p:cNvPr id="4" name="Shape 1"/>
          <p:cNvSpPr/>
          <p:nvPr/>
        </p:nvSpPr>
        <p:spPr>
          <a:xfrm>
            <a:off x="0" y="0"/>
            <a:ext cx="12191695" cy="411480"/>
          </a:xfrm>
          <a:prstGeom prst="rect">
            <a:avLst/>
          </a:prstGeom>
          <a:solidFill>
            <a:srgbClr val="0A1830"/>
          </a:solidFill>
          <a:ln/>
        </p:spPr>
      </p:sp>
      <p:sp>
        <p:nvSpPr>
          <p:cNvPr id="5" name="Shape 2"/>
          <p:cNvSpPr/>
          <p:nvPr/>
        </p:nvSpPr>
        <p:spPr>
          <a:xfrm>
            <a:off x="9509760" y="-137160"/>
            <a:ext cx="3200400" cy="2194560"/>
          </a:xfrm>
          <a:prstGeom prst="ellipse">
            <a:avLst/>
          </a:prstGeom>
          <a:solidFill>
            <a:srgbClr val="8AB8FF">
              <a:alpha val="16000"/>
            </a:srgbClr>
          </a:solidFill>
          <a:ln w="12700">
            <a:solidFill>
              <a:srgbClr val="8AB8FF">
                <a:alpha val="0"/>
              </a:srgbClr>
            </a:solidFill>
            <a:prstDash val="solid"/>
          </a:ln>
        </p:spPr>
      </p:sp>
      <p:sp>
        <p:nvSpPr>
          <p:cNvPr id="6" name="Shape 3"/>
          <p:cNvSpPr/>
          <p:nvPr/>
        </p:nvSpPr>
        <p:spPr>
          <a:xfrm>
            <a:off x="-731520" y="5394960"/>
            <a:ext cx="2560320" cy="1645920"/>
          </a:xfrm>
          <a:prstGeom prst="ellipse">
            <a:avLst/>
          </a:prstGeom>
          <a:solidFill>
            <a:srgbClr val="12B3A8">
              <a:alpha val="10000"/>
            </a:srgbClr>
          </a:solidFill>
          <a:ln w="12700">
            <a:solidFill>
              <a:srgbClr val="12B3A8">
                <a:alpha val="0"/>
              </a:srgbClr>
            </a:solidFill>
            <a:prstDash val="solid"/>
          </a:ln>
        </p:spPr>
      </p:sp>
      <p:sp>
        <p:nvSpPr>
          <p:cNvPr id="7" name="Shape 4"/>
          <p:cNvSpPr/>
          <p:nvPr/>
        </p:nvSpPr>
        <p:spPr>
          <a:xfrm>
            <a:off x="0" y="411480"/>
            <a:ext cx="12191695" cy="146304"/>
          </a:xfrm>
          <a:prstGeom prst="rect">
            <a:avLst/>
          </a:prstGeom>
          <a:solidFill>
            <a:srgbClr val="12B3A8"/>
          </a:solidFill>
          <a:ln/>
        </p:spPr>
      </p:sp>
      <p:sp>
        <p:nvSpPr>
          <p:cNvPr id="8" name="Text 5"/>
          <p:cNvSpPr/>
          <p:nvPr/>
        </p:nvSpPr>
        <p:spPr>
          <a:xfrm>
            <a:off x="658368" y="182880"/>
            <a:ext cx="2651760" cy="146304"/>
          </a:xfrm>
          <a:prstGeom prst="rect">
            <a:avLst/>
          </a:prstGeom>
          <a:noFill/>
          <a:ln/>
        </p:spPr>
        <p:txBody>
          <a:bodyPr wrap="square" lIns="0" tIns="0" rIns="0" bIns="0" rtlCol="0" anchor="ctr"/>
          <a:lstStyle/>
          <a:p>
            <a:pPr indent="0" marL="0">
              <a:buNone/>
            </a:pPr>
            <a:r>
              <a:rPr lang="en-US" sz="850" b="1" dirty="0">
                <a:solidFill>
                  <a:srgbClr val="8AB8FF"/>
                </a:solidFill>
                <a:latin typeface="Aptos" pitchFamily="34" charset="0"/>
                <a:ea typeface="Aptos" pitchFamily="34" charset="-122"/>
                <a:cs typeface="Aptos" pitchFamily="34" charset="-120"/>
              </a:rPr>
              <a:t>PART IV  TOOLS AND PRACTICE</a:t>
            </a:r>
            <a:endParaRPr lang="en-US" sz="850" dirty="0"/>
          </a:p>
        </p:txBody>
      </p:sp>
      <p:sp>
        <p:nvSpPr>
          <p:cNvPr id="9" name="Text 6"/>
          <p:cNvSpPr/>
          <p:nvPr/>
        </p:nvSpPr>
        <p:spPr>
          <a:xfrm>
            <a:off x="658368" y="612648"/>
            <a:ext cx="7223760" cy="411480"/>
          </a:xfrm>
          <a:prstGeom prst="rect">
            <a:avLst/>
          </a:prstGeom>
          <a:noFill/>
          <a:ln/>
        </p:spPr>
        <p:txBody>
          <a:bodyPr wrap="square" lIns="0" tIns="0" rIns="0" bIns="0" rtlCol="0" anchor="ctr"/>
          <a:lstStyle/>
          <a:p>
            <a:pPr indent="0" marL="0">
              <a:buNone/>
            </a:pPr>
            <a:r>
              <a:rPr lang="en-US" sz="2400" b="1" dirty="0">
                <a:solidFill>
                  <a:srgbClr val="102749"/>
                </a:solidFill>
                <a:latin typeface="Aptos Display" pitchFamily="34" charset="0"/>
                <a:ea typeface="Aptos Display" pitchFamily="34" charset="-122"/>
                <a:cs typeface="Aptos Display" pitchFamily="34" charset="-120"/>
              </a:rPr>
              <a:t>Brief Tools Overview</a:t>
            </a:r>
            <a:endParaRPr lang="en-US" sz="2400" dirty="0"/>
          </a:p>
        </p:txBody>
      </p:sp>
      <p:sp>
        <p:nvSpPr>
          <p:cNvPr id="10" name="Text 7"/>
          <p:cNvSpPr/>
          <p:nvPr/>
        </p:nvSpPr>
        <p:spPr>
          <a:xfrm>
            <a:off x="658368" y="1069848"/>
            <a:ext cx="7863840" cy="310896"/>
          </a:xfrm>
          <a:prstGeom prst="rect">
            <a:avLst/>
          </a:prstGeom>
          <a:noFill/>
          <a:ln/>
        </p:spPr>
        <p:txBody>
          <a:bodyPr wrap="square" lIns="0" tIns="0" rIns="0" bIns="0" rtlCol="0" anchor="ctr"/>
          <a:lstStyle/>
          <a:p>
            <a:pPr indent="0" marL="0">
              <a:buNone/>
            </a:pPr>
            <a:r>
              <a:rPr lang="en-US" sz="1100" dirty="0">
                <a:solidFill>
                  <a:srgbClr val="51607B"/>
                </a:solidFill>
                <a:latin typeface="Aptos" pitchFamily="34" charset="0"/>
                <a:ea typeface="Aptos" pitchFamily="34" charset="-122"/>
                <a:cs typeface="Aptos" pitchFamily="34" charset="-120"/>
              </a:rPr>
              <a:t>Tools enable automation, but architecture, controls, and operating discipline make it succeed</a:t>
            </a:r>
            <a:endParaRPr lang="en-US" sz="1100" dirty="0"/>
          </a:p>
        </p:txBody>
      </p:sp>
      <p:sp>
        <p:nvSpPr>
          <p:cNvPr id="11" name="Text 8"/>
          <p:cNvSpPr/>
          <p:nvPr/>
        </p:nvSpPr>
        <p:spPr>
          <a:xfrm>
            <a:off x="11155680" y="530352"/>
            <a:ext cx="365760" cy="201168"/>
          </a:xfrm>
          <a:prstGeom prst="rect">
            <a:avLst/>
          </a:prstGeom>
          <a:noFill/>
          <a:ln/>
        </p:spPr>
        <p:txBody>
          <a:bodyPr wrap="square" lIns="0" tIns="0" rIns="0" bIns="0" rtlCol="0" anchor="ctr"/>
          <a:lstStyle/>
          <a:p>
            <a:pPr algn="r" indent="0" marL="0">
              <a:buNone/>
            </a:pPr>
            <a:r>
              <a:rPr lang="en-US" sz="950" dirty="0">
                <a:solidFill>
                  <a:srgbClr val="51607B"/>
                </a:solidFill>
                <a:latin typeface="Consolas" pitchFamily="34" charset="0"/>
                <a:ea typeface="Consolas" pitchFamily="34" charset="-122"/>
                <a:cs typeface="Consolas" pitchFamily="34" charset="-120"/>
              </a:rPr>
              <a:t>18</a:t>
            </a:r>
            <a:endParaRPr lang="en-US" sz="950" dirty="0"/>
          </a:p>
        </p:txBody>
      </p:sp>
      <p:sp>
        <p:nvSpPr>
          <p:cNvPr id="12" name="Shape 9"/>
          <p:cNvSpPr/>
          <p:nvPr/>
        </p:nvSpPr>
        <p:spPr>
          <a:xfrm>
            <a:off x="8366760" y="676656"/>
            <a:ext cx="3154680" cy="822960"/>
          </a:xfrm>
          <a:prstGeom prst="roundRect">
            <a:avLst>
              <a:gd name="adj" fmla="val 8889"/>
            </a:avLst>
          </a:prstGeom>
          <a:solidFill>
            <a:srgbClr val="FFFFFF"/>
          </a:solidFill>
          <a:ln w="12700">
            <a:solidFill>
              <a:srgbClr val="1F6FFF">
                <a:alpha val="0"/>
              </a:srgbClr>
            </a:solidFill>
            <a:prstDash val="solid"/>
          </a:ln>
        </p:spPr>
      </p:sp>
      <p:sp>
        <p:nvSpPr>
          <p:cNvPr id="13" name="Shape 10"/>
          <p:cNvSpPr/>
          <p:nvPr/>
        </p:nvSpPr>
        <p:spPr>
          <a:xfrm>
            <a:off x="8366760" y="676656"/>
            <a:ext cx="73152" cy="822960"/>
          </a:xfrm>
          <a:prstGeom prst="rect">
            <a:avLst/>
          </a:prstGeom>
          <a:solidFill>
            <a:srgbClr val="1F6FFF"/>
          </a:solidFill>
          <a:ln w="12700">
            <a:solidFill>
              <a:srgbClr val="1F6FFF">
                <a:alpha val="0"/>
              </a:srgbClr>
            </a:solidFill>
            <a:prstDash val="solid"/>
          </a:ln>
        </p:spPr>
      </p:sp>
      <p:sp>
        <p:nvSpPr>
          <p:cNvPr id="14" name="Text 11"/>
          <p:cNvSpPr/>
          <p:nvPr/>
        </p:nvSpPr>
        <p:spPr>
          <a:xfrm>
            <a:off x="8531352" y="786384"/>
            <a:ext cx="1097280" cy="164592"/>
          </a:xfrm>
          <a:prstGeom prst="rect">
            <a:avLst/>
          </a:prstGeom>
          <a:noFill/>
          <a:ln/>
        </p:spPr>
        <p:txBody>
          <a:bodyPr wrap="square" lIns="0" tIns="0" rIns="0" bIns="0" rtlCol="0" anchor="ctr"/>
          <a:lstStyle/>
          <a:p>
            <a:pPr indent="0" marL="0">
              <a:buNone/>
            </a:pPr>
            <a:r>
              <a:rPr lang="en-US" sz="800" b="1" dirty="0">
                <a:solidFill>
                  <a:srgbClr val="1F6FFF"/>
                </a:solidFill>
                <a:latin typeface="Aptos" pitchFamily="34" charset="0"/>
                <a:ea typeface="Aptos" pitchFamily="34" charset="-122"/>
                <a:cs typeface="Aptos" pitchFamily="34" charset="-120"/>
              </a:rPr>
              <a:t>Key takeaway</a:t>
            </a:r>
            <a:endParaRPr lang="en-US" sz="800" dirty="0"/>
          </a:p>
        </p:txBody>
      </p:sp>
      <p:sp>
        <p:nvSpPr>
          <p:cNvPr id="15" name="Text 12"/>
          <p:cNvSpPr/>
          <p:nvPr/>
        </p:nvSpPr>
        <p:spPr>
          <a:xfrm>
            <a:off x="8531352" y="932688"/>
            <a:ext cx="2880360" cy="521208"/>
          </a:xfrm>
          <a:prstGeom prst="rect">
            <a:avLst/>
          </a:prstGeom>
          <a:noFill/>
          <a:ln/>
        </p:spPr>
        <p:txBody>
          <a:bodyPr wrap="square" lIns="254" tIns="254" rIns="254" bIns="254" rtlCol="0" anchor="ctr"/>
          <a:lstStyle/>
          <a:p>
            <a:pPr indent="0" marL="0">
              <a:buNone/>
            </a:pPr>
            <a:r>
              <a:rPr lang="en-US" sz="920" dirty="0">
                <a:solidFill>
                  <a:srgbClr val="102749"/>
                </a:solidFill>
                <a:latin typeface="Aptos" pitchFamily="34" charset="0"/>
                <a:ea typeface="Aptos" pitchFamily="34" charset="-122"/>
                <a:cs typeface="Aptos" pitchFamily="34" charset="-120"/>
              </a:rPr>
              <a:t>A delivery solution typically combines development tools, runtime robots, orchestration, applications, data stores, and reporting rather than one magic platform screen.</a:t>
            </a:r>
            <a:endParaRPr lang="en-US" sz="920" dirty="0"/>
          </a:p>
        </p:txBody>
      </p:sp>
      <p:sp>
        <p:nvSpPr>
          <p:cNvPr id="16" name="Shape 13"/>
          <p:cNvSpPr/>
          <p:nvPr/>
        </p:nvSpPr>
        <p:spPr>
          <a:xfrm>
            <a:off x="749808" y="1847088"/>
            <a:ext cx="3017520" cy="786384"/>
          </a:xfrm>
          <a:prstGeom prst="roundRect">
            <a:avLst>
              <a:gd name="adj" fmla="val 6977"/>
            </a:avLst>
          </a:prstGeom>
          <a:solidFill>
            <a:srgbClr val="FFFFFF"/>
          </a:solidFill>
          <a:ln w="12700">
            <a:solidFill>
              <a:srgbClr val="C7D5EA"/>
            </a:solidFill>
            <a:prstDash val="solid"/>
          </a:ln>
        </p:spPr>
      </p:sp>
      <p:sp>
        <p:nvSpPr>
          <p:cNvPr id="17" name="Shape 14"/>
          <p:cNvSpPr/>
          <p:nvPr/>
        </p:nvSpPr>
        <p:spPr>
          <a:xfrm>
            <a:off x="749808" y="1847088"/>
            <a:ext cx="3017520" cy="64008"/>
          </a:xfrm>
          <a:prstGeom prst="rect">
            <a:avLst/>
          </a:prstGeom>
          <a:solidFill>
            <a:srgbClr val="1F6FFF"/>
          </a:solidFill>
          <a:ln w="12700">
            <a:solidFill>
              <a:srgbClr val="1F6FFF">
                <a:alpha val="0"/>
              </a:srgbClr>
            </a:solidFill>
            <a:prstDash val="solid"/>
          </a:ln>
        </p:spPr>
      </p:sp>
      <p:sp>
        <p:nvSpPr>
          <p:cNvPr id="18" name="Text 15"/>
          <p:cNvSpPr/>
          <p:nvPr/>
        </p:nvSpPr>
        <p:spPr>
          <a:xfrm>
            <a:off x="914400" y="2011680"/>
            <a:ext cx="274320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Studio / Build Layer</a:t>
            </a:r>
            <a:endParaRPr lang="en-US" sz="1150" dirty="0"/>
          </a:p>
        </p:txBody>
      </p:sp>
      <p:sp>
        <p:nvSpPr>
          <p:cNvPr id="19" name="Text 16"/>
          <p:cNvSpPr/>
          <p:nvPr/>
        </p:nvSpPr>
        <p:spPr>
          <a:xfrm>
            <a:off x="914400" y="2286000"/>
            <a:ext cx="2743200" cy="256032"/>
          </a:xfrm>
          <a:prstGeom prst="rect">
            <a:avLst/>
          </a:prstGeom>
          <a:noFill/>
          <a:ln/>
        </p:spPr>
        <p:txBody>
          <a:bodyPr wrap="square" lIns="254" tIns="254" rIns="254" bIns="254" rtlCol="0" anchor="t"/>
          <a:lstStyle/>
          <a:p>
            <a:pPr indent="0" marL="0">
              <a:buNone/>
            </a:pPr>
            <a:r>
              <a:rPr lang="en-US" sz="820" dirty="0">
                <a:solidFill>
                  <a:srgbClr val="51607B"/>
                </a:solidFill>
                <a:latin typeface="Aptos" pitchFamily="34" charset="0"/>
                <a:ea typeface="Aptos" pitchFamily="34" charset="-122"/>
                <a:cs typeface="Aptos" pitchFamily="34" charset="-120"/>
              </a:rPr>
              <a:t>Where workflows, reusable components, and configuration patterns are created and maintained.</a:t>
            </a:r>
            <a:endParaRPr lang="en-US" sz="820" dirty="0"/>
          </a:p>
        </p:txBody>
      </p:sp>
      <p:sp>
        <p:nvSpPr>
          <p:cNvPr id="20" name="Shape 17"/>
          <p:cNvSpPr/>
          <p:nvPr/>
        </p:nvSpPr>
        <p:spPr>
          <a:xfrm>
            <a:off x="1115568" y="2395728"/>
            <a:ext cx="2743200" cy="786384"/>
          </a:xfrm>
          <a:prstGeom prst="roundRect">
            <a:avLst>
              <a:gd name="adj" fmla="val 6977"/>
            </a:avLst>
          </a:prstGeom>
          <a:solidFill>
            <a:srgbClr val="FFFFFF"/>
          </a:solidFill>
          <a:ln w="12700">
            <a:solidFill>
              <a:srgbClr val="C7D5EA"/>
            </a:solidFill>
            <a:prstDash val="solid"/>
          </a:ln>
        </p:spPr>
      </p:sp>
      <p:sp>
        <p:nvSpPr>
          <p:cNvPr id="21" name="Shape 18"/>
          <p:cNvSpPr/>
          <p:nvPr/>
        </p:nvSpPr>
        <p:spPr>
          <a:xfrm>
            <a:off x="1115568" y="2395728"/>
            <a:ext cx="2743200" cy="64008"/>
          </a:xfrm>
          <a:prstGeom prst="rect">
            <a:avLst/>
          </a:prstGeom>
          <a:solidFill>
            <a:srgbClr val="1F6FFF"/>
          </a:solidFill>
          <a:ln w="12700">
            <a:solidFill>
              <a:srgbClr val="1F6FFF">
                <a:alpha val="0"/>
              </a:srgbClr>
            </a:solidFill>
            <a:prstDash val="solid"/>
          </a:ln>
        </p:spPr>
      </p:sp>
      <p:sp>
        <p:nvSpPr>
          <p:cNvPr id="22" name="Text 19"/>
          <p:cNvSpPr/>
          <p:nvPr/>
        </p:nvSpPr>
        <p:spPr>
          <a:xfrm>
            <a:off x="1280160" y="2560320"/>
            <a:ext cx="246888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Robot / Runtime Layer</a:t>
            </a:r>
            <a:endParaRPr lang="en-US" sz="1150" dirty="0"/>
          </a:p>
        </p:txBody>
      </p:sp>
      <p:sp>
        <p:nvSpPr>
          <p:cNvPr id="23" name="Text 20"/>
          <p:cNvSpPr/>
          <p:nvPr/>
        </p:nvSpPr>
        <p:spPr>
          <a:xfrm>
            <a:off x="1280160" y="2834640"/>
            <a:ext cx="2468880" cy="256032"/>
          </a:xfrm>
          <a:prstGeom prst="rect">
            <a:avLst/>
          </a:prstGeom>
          <a:noFill/>
          <a:ln/>
        </p:spPr>
        <p:txBody>
          <a:bodyPr wrap="square" lIns="254" tIns="254" rIns="254" bIns="254" rtlCol="0" anchor="t"/>
          <a:lstStyle/>
          <a:p>
            <a:pPr indent="0" marL="0">
              <a:buNone/>
            </a:pPr>
            <a:r>
              <a:rPr lang="en-US" sz="820" dirty="0">
                <a:solidFill>
                  <a:srgbClr val="51607B"/>
                </a:solidFill>
                <a:latin typeface="Aptos" pitchFamily="34" charset="0"/>
                <a:ea typeface="Aptos" pitchFamily="34" charset="-122"/>
                <a:cs typeface="Aptos" pitchFamily="34" charset="-120"/>
              </a:rPr>
              <a:t>Where attended or unattended processes actually execute against applications and data.</a:t>
            </a:r>
            <a:endParaRPr lang="en-US" sz="820" dirty="0"/>
          </a:p>
        </p:txBody>
      </p:sp>
      <p:sp>
        <p:nvSpPr>
          <p:cNvPr id="24" name="Shape 21"/>
          <p:cNvSpPr/>
          <p:nvPr/>
        </p:nvSpPr>
        <p:spPr>
          <a:xfrm>
            <a:off x="1481328" y="2944368"/>
            <a:ext cx="2560320" cy="786384"/>
          </a:xfrm>
          <a:prstGeom prst="roundRect">
            <a:avLst>
              <a:gd name="adj" fmla="val 6977"/>
            </a:avLst>
          </a:prstGeom>
          <a:solidFill>
            <a:srgbClr val="FFFFFF"/>
          </a:solidFill>
          <a:ln w="12700">
            <a:solidFill>
              <a:srgbClr val="C7D5EA"/>
            </a:solidFill>
            <a:prstDash val="solid"/>
          </a:ln>
        </p:spPr>
      </p:sp>
      <p:sp>
        <p:nvSpPr>
          <p:cNvPr id="25" name="Shape 22"/>
          <p:cNvSpPr/>
          <p:nvPr/>
        </p:nvSpPr>
        <p:spPr>
          <a:xfrm>
            <a:off x="1481328" y="2944368"/>
            <a:ext cx="2560320" cy="64008"/>
          </a:xfrm>
          <a:prstGeom prst="rect">
            <a:avLst/>
          </a:prstGeom>
          <a:solidFill>
            <a:srgbClr val="12B3A8"/>
          </a:solidFill>
          <a:ln w="12700">
            <a:solidFill>
              <a:srgbClr val="12B3A8">
                <a:alpha val="0"/>
              </a:srgbClr>
            </a:solidFill>
            <a:prstDash val="solid"/>
          </a:ln>
        </p:spPr>
      </p:sp>
      <p:sp>
        <p:nvSpPr>
          <p:cNvPr id="26" name="Text 23"/>
          <p:cNvSpPr/>
          <p:nvPr/>
        </p:nvSpPr>
        <p:spPr>
          <a:xfrm>
            <a:off x="1645920" y="3108960"/>
            <a:ext cx="228600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Orchestration Layer</a:t>
            </a:r>
            <a:endParaRPr lang="en-US" sz="1150" dirty="0"/>
          </a:p>
        </p:txBody>
      </p:sp>
      <p:sp>
        <p:nvSpPr>
          <p:cNvPr id="27" name="Text 24"/>
          <p:cNvSpPr/>
          <p:nvPr/>
        </p:nvSpPr>
        <p:spPr>
          <a:xfrm>
            <a:off x="1645920" y="3383280"/>
            <a:ext cx="2286000" cy="256032"/>
          </a:xfrm>
          <a:prstGeom prst="rect">
            <a:avLst/>
          </a:prstGeom>
          <a:noFill/>
          <a:ln/>
        </p:spPr>
        <p:txBody>
          <a:bodyPr wrap="square" lIns="254" tIns="254" rIns="254" bIns="254" rtlCol="0" anchor="t"/>
          <a:lstStyle/>
          <a:p>
            <a:pPr indent="0" marL="0">
              <a:buNone/>
            </a:pPr>
            <a:r>
              <a:rPr lang="en-US" sz="820" dirty="0">
                <a:solidFill>
                  <a:srgbClr val="51607B"/>
                </a:solidFill>
                <a:latin typeface="Aptos" pitchFamily="34" charset="0"/>
                <a:ea typeface="Aptos" pitchFamily="34" charset="-122"/>
                <a:cs typeface="Aptos" pitchFamily="34" charset="-120"/>
              </a:rPr>
              <a:t>Where schedules, queues, credentials, assets, monitoring, and alerts are controlled.</a:t>
            </a:r>
            <a:endParaRPr lang="en-US" sz="820" dirty="0"/>
          </a:p>
        </p:txBody>
      </p:sp>
      <p:sp>
        <p:nvSpPr>
          <p:cNvPr id="28" name="Shape 25"/>
          <p:cNvSpPr/>
          <p:nvPr/>
        </p:nvSpPr>
        <p:spPr>
          <a:xfrm>
            <a:off x="1847088" y="3493008"/>
            <a:ext cx="2743200" cy="786384"/>
          </a:xfrm>
          <a:prstGeom prst="roundRect">
            <a:avLst>
              <a:gd name="adj" fmla="val 6977"/>
            </a:avLst>
          </a:prstGeom>
          <a:solidFill>
            <a:srgbClr val="FFFFFF"/>
          </a:solidFill>
          <a:ln w="12700">
            <a:solidFill>
              <a:srgbClr val="C7D5EA"/>
            </a:solidFill>
            <a:prstDash val="solid"/>
          </a:ln>
        </p:spPr>
      </p:sp>
      <p:sp>
        <p:nvSpPr>
          <p:cNvPr id="29" name="Shape 26"/>
          <p:cNvSpPr/>
          <p:nvPr/>
        </p:nvSpPr>
        <p:spPr>
          <a:xfrm>
            <a:off x="1847088" y="3493008"/>
            <a:ext cx="2743200" cy="64008"/>
          </a:xfrm>
          <a:prstGeom prst="rect">
            <a:avLst/>
          </a:prstGeom>
          <a:solidFill>
            <a:srgbClr val="1F6FFF"/>
          </a:solidFill>
          <a:ln w="12700">
            <a:solidFill>
              <a:srgbClr val="1F6FFF">
                <a:alpha val="0"/>
              </a:srgbClr>
            </a:solidFill>
            <a:prstDash val="solid"/>
          </a:ln>
        </p:spPr>
      </p:sp>
      <p:sp>
        <p:nvSpPr>
          <p:cNvPr id="30" name="Text 27"/>
          <p:cNvSpPr/>
          <p:nvPr/>
        </p:nvSpPr>
        <p:spPr>
          <a:xfrm>
            <a:off x="2011680" y="3657600"/>
            <a:ext cx="246888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Business Systems</a:t>
            </a:r>
            <a:endParaRPr lang="en-US" sz="1150" dirty="0"/>
          </a:p>
        </p:txBody>
      </p:sp>
      <p:sp>
        <p:nvSpPr>
          <p:cNvPr id="31" name="Text 28"/>
          <p:cNvSpPr/>
          <p:nvPr/>
        </p:nvSpPr>
        <p:spPr>
          <a:xfrm>
            <a:off x="2011680" y="3931920"/>
            <a:ext cx="2468880" cy="256032"/>
          </a:xfrm>
          <a:prstGeom prst="rect">
            <a:avLst/>
          </a:prstGeom>
          <a:noFill/>
          <a:ln/>
        </p:spPr>
        <p:txBody>
          <a:bodyPr wrap="square" lIns="254" tIns="254" rIns="254" bIns="254" rtlCol="0" anchor="t"/>
          <a:lstStyle/>
          <a:p>
            <a:pPr indent="0" marL="0">
              <a:buNone/>
            </a:pPr>
            <a:r>
              <a:rPr lang="en-US" sz="820" dirty="0">
                <a:solidFill>
                  <a:srgbClr val="51607B"/>
                </a:solidFill>
                <a:latin typeface="Aptos" pitchFamily="34" charset="0"/>
                <a:ea typeface="Aptos" pitchFamily="34" charset="-122"/>
                <a:cs typeface="Aptos" pitchFamily="34" charset="-120"/>
              </a:rPr>
              <a:t>Applications such as ECW, Availity, Excel, databases, and email that the automation interacts with.</a:t>
            </a:r>
            <a:endParaRPr lang="en-US" sz="820" dirty="0"/>
          </a:p>
        </p:txBody>
      </p:sp>
      <p:sp>
        <p:nvSpPr>
          <p:cNvPr id="32" name="Shape 29"/>
          <p:cNvSpPr/>
          <p:nvPr/>
        </p:nvSpPr>
        <p:spPr>
          <a:xfrm>
            <a:off x="2212848" y="4041648"/>
            <a:ext cx="3108960" cy="786384"/>
          </a:xfrm>
          <a:prstGeom prst="roundRect">
            <a:avLst>
              <a:gd name="adj" fmla="val 6977"/>
            </a:avLst>
          </a:prstGeom>
          <a:solidFill>
            <a:srgbClr val="FFFFFF"/>
          </a:solidFill>
          <a:ln w="12700">
            <a:solidFill>
              <a:srgbClr val="C7D5EA"/>
            </a:solidFill>
            <a:prstDash val="solid"/>
          </a:ln>
        </p:spPr>
      </p:sp>
      <p:sp>
        <p:nvSpPr>
          <p:cNvPr id="33" name="Shape 30"/>
          <p:cNvSpPr/>
          <p:nvPr/>
        </p:nvSpPr>
        <p:spPr>
          <a:xfrm>
            <a:off x="2212848" y="4041648"/>
            <a:ext cx="3108960" cy="64008"/>
          </a:xfrm>
          <a:prstGeom prst="rect">
            <a:avLst/>
          </a:prstGeom>
          <a:solidFill>
            <a:srgbClr val="1F6FFF"/>
          </a:solidFill>
          <a:ln w="12700">
            <a:solidFill>
              <a:srgbClr val="1F6FFF">
                <a:alpha val="0"/>
              </a:srgbClr>
            </a:solidFill>
            <a:prstDash val="solid"/>
          </a:ln>
        </p:spPr>
      </p:sp>
      <p:sp>
        <p:nvSpPr>
          <p:cNvPr id="34" name="Text 31"/>
          <p:cNvSpPr/>
          <p:nvPr/>
        </p:nvSpPr>
        <p:spPr>
          <a:xfrm>
            <a:off x="2377440" y="4206240"/>
            <a:ext cx="2834640"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Reporting Layer</a:t>
            </a:r>
            <a:endParaRPr lang="en-US" sz="1150" dirty="0"/>
          </a:p>
        </p:txBody>
      </p:sp>
      <p:sp>
        <p:nvSpPr>
          <p:cNvPr id="35" name="Text 32"/>
          <p:cNvSpPr/>
          <p:nvPr/>
        </p:nvSpPr>
        <p:spPr>
          <a:xfrm>
            <a:off x="2377440" y="4480560"/>
            <a:ext cx="2834640" cy="256032"/>
          </a:xfrm>
          <a:prstGeom prst="rect">
            <a:avLst/>
          </a:prstGeom>
          <a:noFill/>
          <a:ln/>
        </p:spPr>
        <p:txBody>
          <a:bodyPr wrap="square" lIns="254" tIns="254" rIns="254" bIns="254" rtlCol="0" anchor="t"/>
          <a:lstStyle/>
          <a:p>
            <a:pPr indent="0" marL="0">
              <a:buNone/>
            </a:pPr>
            <a:r>
              <a:rPr lang="en-US" sz="820" dirty="0">
                <a:solidFill>
                  <a:srgbClr val="51607B"/>
                </a:solidFill>
                <a:latin typeface="Aptos" pitchFamily="34" charset="0"/>
                <a:ea typeface="Aptos" pitchFamily="34" charset="-122"/>
                <a:cs typeface="Aptos" pitchFamily="34" charset="-120"/>
              </a:rPr>
              <a:t>Dashboards, output files, logs, screenshots, and review worklists used after deployment.</a:t>
            </a:r>
            <a:endParaRPr lang="en-US" sz="820" dirty="0"/>
          </a:p>
        </p:txBody>
      </p:sp>
      <p:sp>
        <p:nvSpPr>
          <p:cNvPr id="36" name="Shape 33"/>
          <p:cNvSpPr/>
          <p:nvPr/>
        </p:nvSpPr>
        <p:spPr>
          <a:xfrm>
            <a:off x="8028432" y="1993392"/>
            <a:ext cx="3401568" cy="2697480"/>
          </a:xfrm>
          <a:prstGeom prst="roundRect">
            <a:avLst>
              <a:gd name="adj" fmla="val 1695"/>
            </a:avLst>
          </a:prstGeom>
          <a:solidFill>
            <a:srgbClr val="FFFFFF"/>
          </a:solidFill>
          <a:ln w="12700">
            <a:solidFill>
              <a:srgbClr val="C7D5EA"/>
            </a:solidFill>
            <a:prstDash val="solid"/>
          </a:ln>
        </p:spPr>
      </p:sp>
      <p:sp>
        <p:nvSpPr>
          <p:cNvPr id="37" name="Shape 34"/>
          <p:cNvSpPr/>
          <p:nvPr/>
        </p:nvSpPr>
        <p:spPr>
          <a:xfrm>
            <a:off x="8211312" y="2249424"/>
            <a:ext cx="100584" cy="100584"/>
          </a:xfrm>
          <a:prstGeom prst="ellipse">
            <a:avLst/>
          </a:prstGeom>
          <a:solidFill>
            <a:srgbClr val="1F6FFF"/>
          </a:solidFill>
          <a:ln w="12700">
            <a:solidFill>
              <a:srgbClr val="1F6FFF">
                <a:alpha val="0"/>
              </a:srgbClr>
            </a:solidFill>
            <a:prstDash val="solid"/>
          </a:ln>
        </p:spPr>
      </p:sp>
      <p:sp>
        <p:nvSpPr>
          <p:cNvPr id="38" name="Text 35"/>
          <p:cNvSpPr/>
          <p:nvPr/>
        </p:nvSpPr>
        <p:spPr>
          <a:xfrm>
            <a:off x="8375904" y="2176272"/>
            <a:ext cx="2990088"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The tool stack supports the operating model, but it does not replace good process analysis or good exception design</a:t>
            </a:r>
            <a:endParaRPr lang="en-US" sz="965" dirty="0"/>
          </a:p>
        </p:txBody>
      </p:sp>
      <p:sp>
        <p:nvSpPr>
          <p:cNvPr id="39" name="Shape 36"/>
          <p:cNvSpPr/>
          <p:nvPr/>
        </p:nvSpPr>
        <p:spPr>
          <a:xfrm>
            <a:off x="8211312" y="2459736"/>
            <a:ext cx="100584" cy="100584"/>
          </a:xfrm>
          <a:prstGeom prst="ellipse">
            <a:avLst/>
          </a:prstGeom>
          <a:solidFill>
            <a:srgbClr val="1F6FFF"/>
          </a:solidFill>
          <a:ln w="12700">
            <a:solidFill>
              <a:srgbClr val="1F6FFF">
                <a:alpha val="0"/>
              </a:srgbClr>
            </a:solidFill>
            <a:prstDash val="solid"/>
          </a:ln>
        </p:spPr>
      </p:sp>
      <p:sp>
        <p:nvSpPr>
          <p:cNvPr id="40" name="Text 37"/>
          <p:cNvSpPr/>
          <p:nvPr/>
        </p:nvSpPr>
        <p:spPr>
          <a:xfrm>
            <a:off x="8375904" y="2386584"/>
            <a:ext cx="2990088"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Config-driven design, modular workflows, logging, and output reporting are more important than flashy demos</a:t>
            </a:r>
            <a:endParaRPr lang="en-US" sz="965" dirty="0"/>
          </a:p>
        </p:txBody>
      </p:sp>
      <p:sp>
        <p:nvSpPr>
          <p:cNvPr id="41" name="Shape 38"/>
          <p:cNvSpPr/>
          <p:nvPr/>
        </p:nvSpPr>
        <p:spPr>
          <a:xfrm>
            <a:off x="8211312" y="2670048"/>
            <a:ext cx="100584" cy="100584"/>
          </a:xfrm>
          <a:prstGeom prst="ellipse">
            <a:avLst/>
          </a:prstGeom>
          <a:solidFill>
            <a:srgbClr val="1F6FFF"/>
          </a:solidFill>
          <a:ln w="12700">
            <a:solidFill>
              <a:srgbClr val="1F6FFF">
                <a:alpha val="0"/>
              </a:srgbClr>
            </a:solidFill>
            <a:prstDash val="solid"/>
          </a:ln>
        </p:spPr>
      </p:sp>
      <p:sp>
        <p:nvSpPr>
          <p:cNvPr id="42" name="Text 39"/>
          <p:cNvSpPr/>
          <p:nvPr/>
        </p:nvSpPr>
        <p:spPr>
          <a:xfrm>
            <a:off x="8375904" y="2596896"/>
            <a:ext cx="2990088" cy="301752"/>
          </a:xfrm>
          <a:prstGeom prst="rect">
            <a:avLst/>
          </a:prstGeom>
          <a:noFill/>
          <a:ln/>
        </p:spPr>
        <p:txBody>
          <a:bodyPr wrap="square" lIns="0" tIns="0" rIns="0" bIns="0" rtlCol="0" anchor="ctr"/>
          <a:lstStyle/>
          <a:p>
            <a:pPr indent="0" marL="0">
              <a:buNone/>
            </a:pPr>
            <a:r>
              <a:rPr lang="en-US" sz="965" dirty="0">
                <a:solidFill>
                  <a:srgbClr val="102749"/>
                </a:solidFill>
                <a:latin typeface="Aptos" pitchFamily="34" charset="0"/>
                <a:ea typeface="Aptos" pitchFamily="34" charset="-122"/>
                <a:cs typeface="Aptos" pitchFamily="34" charset="-120"/>
              </a:rPr>
              <a:t>For BAs, the useful question is not 'which button in the tool does this' but 'how will this be controlled and validated'</a:t>
            </a:r>
            <a:endParaRPr lang="en-US" sz="965" dirty="0"/>
          </a:p>
        </p:txBody>
      </p:sp>
      <p:sp>
        <p:nvSpPr>
          <p:cNvPr id="43" name="Text 40"/>
          <p:cNvSpPr/>
          <p:nvPr/>
        </p:nvSpPr>
        <p:spPr>
          <a:xfrm>
            <a:off x="658368" y="6510528"/>
            <a:ext cx="2560320" cy="164592"/>
          </a:xfrm>
          <a:prstGeom prst="rect">
            <a:avLst/>
          </a:prstGeom>
          <a:noFill/>
          <a:ln/>
        </p:spPr>
        <p:txBody>
          <a:bodyPr wrap="square" lIns="0" tIns="0" rIns="0" bIns="0" rtlCol="0" anchor="ctr"/>
          <a:lstStyle/>
          <a:p>
            <a:pPr indent="0" marL="0">
              <a:buNone/>
            </a:pPr>
            <a:r>
              <a:rPr lang="en-US" sz="850" dirty="0">
                <a:solidFill>
                  <a:srgbClr val="51607B"/>
                </a:solidFill>
                <a:latin typeface="Aptos" pitchFamily="34" charset="0"/>
                <a:ea typeface="Aptos" pitchFamily="34" charset="-122"/>
                <a:cs typeface="Aptos" pitchFamily="34" charset="-120"/>
              </a:rPr>
              <a:t>Innobot  |  Internal workshop</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B"/>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F4F7FB"/>
          </a:solidFill>
          <a:ln/>
        </p:spPr>
      </p:sp>
      <p:sp>
        <p:nvSpPr>
          <p:cNvPr id="4" name="Shape 1"/>
          <p:cNvSpPr/>
          <p:nvPr/>
        </p:nvSpPr>
        <p:spPr>
          <a:xfrm>
            <a:off x="0" y="0"/>
            <a:ext cx="12191695" cy="411480"/>
          </a:xfrm>
          <a:prstGeom prst="rect">
            <a:avLst/>
          </a:prstGeom>
          <a:solidFill>
            <a:srgbClr val="0A1830"/>
          </a:solidFill>
          <a:ln/>
        </p:spPr>
      </p:sp>
      <p:sp>
        <p:nvSpPr>
          <p:cNvPr id="5" name="Shape 2"/>
          <p:cNvSpPr/>
          <p:nvPr/>
        </p:nvSpPr>
        <p:spPr>
          <a:xfrm>
            <a:off x="9509760" y="-137160"/>
            <a:ext cx="3200400" cy="2194560"/>
          </a:xfrm>
          <a:prstGeom prst="ellipse">
            <a:avLst/>
          </a:prstGeom>
          <a:solidFill>
            <a:srgbClr val="8AB8FF">
              <a:alpha val="16000"/>
            </a:srgbClr>
          </a:solidFill>
          <a:ln w="12700">
            <a:solidFill>
              <a:srgbClr val="8AB8FF">
                <a:alpha val="0"/>
              </a:srgbClr>
            </a:solidFill>
            <a:prstDash val="solid"/>
          </a:ln>
        </p:spPr>
      </p:sp>
      <p:sp>
        <p:nvSpPr>
          <p:cNvPr id="6" name="Shape 3"/>
          <p:cNvSpPr/>
          <p:nvPr/>
        </p:nvSpPr>
        <p:spPr>
          <a:xfrm>
            <a:off x="-731520" y="5394960"/>
            <a:ext cx="2560320" cy="1645920"/>
          </a:xfrm>
          <a:prstGeom prst="ellipse">
            <a:avLst/>
          </a:prstGeom>
          <a:solidFill>
            <a:srgbClr val="12B3A8">
              <a:alpha val="10000"/>
            </a:srgbClr>
          </a:solidFill>
          <a:ln w="12700">
            <a:solidFill>
              <a:srgbClr val="12B3A8">
                <a:alpha val="0"/>
              </a:srgbClr>
            </a:solidFill>
            <a:prstDash val="solid"/>
          </a:ln>
        </p:spPr>
      </p:sp>
      <p:sp>
        <p:nvSpPr>
          <p:cNvPr id="7" name="Text 4"/>
          <p:cNvSpPr/>
          <p:nvPr/>
        </p:nvSpPr>
        <p:spPr>
          <a:xfrm>
            <a:off x="658368" y="182880"/>
            <a:ext cx="2651760" cy="146304"/>
          </a:xfrm>
          <a:prstGeom prst="rect">
            <a:avLst/>
          </a:prstGeom>
          <a:noFill/>
          <a:ln/>
        </p:spPr>
        <p:txBody>
          <a:bodyPr wrap="square" lIns="0" tIns="0" rIns="0" bIns="0" rtlCol="0" anchor="ctr"/>
          <a:lstStyle/>
          <a:p>
            <a:pPr indent="0" marL="0">
              <a:buNone/>
            </a:pPr>
            <a:r>
              <a:rPr lang="en-US" sz="850" b="1" dirty="0">
                <a:solidFill>
                  <a:srgbClr val="8AB8FF"/>
                </a:solidFill>
                <a:latin typeface="Aptos" pitchFamily="34" charset="0"/>
                <a:ea typeface="Aptos" pitchFamily="34" charset="-122"/>
                <a:cs typeface="Aptos" pitchFamily="34" charset="-120"/>
              </a:rPr>
              <a:t>TOOLS AND PRACTICE</a:t>
            </a:r>
            <a:endParaRPr lang="en-US" sz="850" dirty="0"/>
          </a:p>
        </p:txBody>
      </p:sp>
      <p:sp>
        <p:nvSpPr>
          <p:cNvPr id="8" name="Text 5"/>
          <p:cNvSpPr/>
          <p:nvPr/>
        </p:nvSpPr>
        <p:spPr>
          <a:xfrm>
            <a:off x="658368" y="612648"/>
            <a:ext cx="7223760" cy="411480"/>
          </a:xfrm>
          <a:prstGeom prst="rect">
            <a:avLst/>
          </a:prstGeom>
          <a:noFill/>
          <a:ln/>
        </p:spPr>
        <p:txBody>
          <a:bodyPr wrap="square" lIns="0" tIns="0" rIns="0" bIns="0" rtlCol="0" anchor="ctr"/>
          <a:lstStyle/>
          <a:p>
            <a:pPr indent="0" marL="0">
              <a:buNone/>
            </a:pPr>
            <a:r>
              <a:rPr lang="en-US" sz="2400" b="1" dirty="0">
                <a:solidFill>
                  <a:srgbClr val="102749"/>
                </a:solidFill>
                <a:latin typeface="Aptos Display" pitchFamily="34" charset="0"/>
                <a:ea typeface="Aptos Display" pitchFamily="34" charset="-122"/>
                <a:cs typeface="Aptos Display" pitchFamily="34" charset="-120"/>
              </a:rPr>
              <a:t>Interactive Workshop Activity</a:t>
            </a:r>
            <a:endParaRPr lang="en-US" sz="2400" dirty="0"/>
          </a:p>
        </p:txBody>
      </p:sp>
      <p:sp>
        <p:nvSpPr>
          <p:cNvPr id="9" name="Text 6"/>
          <p:cNvSpPr/>
          <p:nvPr/>
        </p:nvSpPr>
        <p:spPr>
          <a:xfrm>
            <a:off x="658368" y="1069848"/>
            <a:ext cx="7863840" cy="310896"/>
          </a:xfrm>
          <a:prstGeom prst="rect">
            <a:avLst/>
          </a:prstGeom>
          <a:noFill/>
          <a:ln/>
        </p:spPr>
        <p:txBody>
          <a:bodyPr wrap="square" lIns="0" tIns="0" rIns="0" bIns="0" rtlCol="0" anchor="ctr"/>
          <a:lstStyle/>
          <a:p>
            <a:pPr indent="0" marL="0">
              <a:buNone/>
            </a:pPr>
            <a:r>
              <a:rPr lang="en-US" sz="1100" dirty="0">
                <a:solidFill>
                  <a:srgbClr val="51607B"/>
                </a:solidFill>
                <a:latin typeface="Aptos" pitchFamily="34" charset="0"/>
                <a:ea typeface="Aptos" pitchFamily="34" charset="-122"/>
                <a:cs typeface="Aptos" pitchFamily="34" charset="-120"/>
              </a:rPr>
              <a:t>Use the claims pipeline to practice BA thinking before development begins</a:t>
            </a:r>
            <a:endParaRPr lang="en-US" sz="1100" dirty="0"/>
          </a:p>
        </p:txBody>
      </p:sp>
      <p:sp>
        <p:nvSpPr>
          <p:cNvPr id="10" name="Text 7"/>
          <p:cNvSpPr/>
          <p:nvPr/>
        </p:nvSpPr>
        <p:spPr>
          <a:xfrm>
            <a:off x="11155680" y="530352"/>
            <a:ext cx="365760" cy="201168"/>
          </a:xfrm>
          <a:prstGeom prst="rect">
            <a:avLst/>
          </a:prstGeom>
          <a:noFill/>
          <a:ln/>
        </p:spPr>
        <p:txBody>
          <a:bodyPr wrap="square" lIns="0" tIns="0" rIns="0" bIns="0" rtlCol="0" anchor="ctr"/>
          <a:lstStyle/>
          <a:p>
            <a:pPr algn="r" indent="0" marL="0">
              <a:buNone/>
            </a:pPr>
            <a:r>
              <a:rPr lang="en-US" sz="950" dirty="0">
                <a:solidFill>
                  <a:srgbClr val="51607B"/>
                </a:solidFill>
                <a:latin typeface="Consolas" pitchFamily="34" charset="0"/>
                <a:ea typeface="Consolas" pitchFamily="34" charset="-122"/>
                <a:cs typeface="Consolas" pitchFamily="34" charset="-120"/>
              </a:rPr>
              <a:t>19</a:t>
            </a:r>
            <a:endParaRPr lang="en-US" sz="950" dirty="0"/>
          </a:p>
        </p:txBody>
      </p:sp>
      <p:sp>
        <p:nvSpPr>
          <p:cNvPr id="11" name="Shape 8"/>
          <p:cNvSpPr/>
          <p:nvPr/>
        </p:nvSpPr>
        <p:spPr>
          <a:xfrm>
            <a:off x="8366760" y="676656"/>
            <a:ext cx="3154680" cy="822960"/>
          </a:xfrm>
          <a:prstGeom prst="roundRect">
            <a:avLst>
              <a:gd name="adj" fmla="val 8889"/>
            </a:avLst>
          </a:prstGeom>
          <a:solidFill>
            <a:srgbClr val="FFFFFF"/>
          </a:solidFill>
          <a:ln w="12700">
            <a:solidFill>
              <a:srgbClr val="12B3A8">
                <a:alpha val="0"/>
              </a:srgbClr>
            </a:solidFill>
            <a:prstDash val="solid"/>
          </a:ln>
        </p:spPr>
      </p:sp>
      <p:sp>
        <p:nvSpPr>
          <p:cNvPr id="12" name="Shape 9"/>
          <p:cNvSpPr/>
          <p:nvPr/>
        </p:nvSpPr>
        <p:spPr>
          <a:xfrm>
            <a:off x="8366760" y="676656"/>
            <a:ext cx="73152" cy="822960"/>
          </a:xfrm>
          <a:prstGeom prst="rect">
            <a:avLst/>
          </a:prstGeom>
          <a:solidFill>
            <a:srgbClr val="12B3A8"/>
          </a:solidFill>
          <a:ln w="12700">
            <a:solidFill>
              <a:srgbClr val="12B3A8">
                <a:alpha val="0"/>
              </a:srgbClr>
            </a:solidFill>
            <a:prstDash val="solid"/>
          </a:ln>
        </p:spPr>
      </p:sp>
      <p:sp>
        <p:nvSpPr>
          <p:cNvPr id="13" name="Text 10"/>
          <p:cNvSpPr/>
          <p:nvPr/>
        </p:nvSpPr>
        <p:spPr>
          <a:xfrm>
            <a:off x="8531352" y="786384"/>
            <a:ext cx="1097280" cy="164592"/>
          </a:xfrm>
          <a:prstGeom prst="rect">
            <a:avLst/>
          </a:prstGeom>
          <a:noFill/>
          <a:ln/>
        </p:spPr>
        <p:txBody>
          <a:bodyPr wrap="square" lIns="0" tIns="0" rIns="0" bIns="0" rtlCol="0" anchor="ctr"/>
          <a:lstStyle/>
          <a:p>
            <a:pPr indent="0" marL="0">
              <a:buNone/>
            </a:pPr>
            <a:r>
              <a:rPr lang="en-US" sz="800" b="1" dirty="0">
                <a:solidFill>
                  <a:srgbClr val="12B3A8"/>
                </a:solidFill>
                <a:latin typeface="Aptos" pitchFamily="34" charset="0"/>
                <a:ea typeface="Aptos" pitchFamily="34" charset="-122"/>
                <a:cs typeface="Aptos" pitchFamily="34" charset="-120"/>
              </a:rPr>
              <a:t>Key takeaway</a:t>
            </a:r>
            <a:endParaRPr lang="en-US" sz="800" dirty="0"/>
          </a:p>
        </p:txBody>
      </p:sp>
      <p:sp>
        <p:nvSpPr>
          <p:cNvPr id="14" name="Text 11"/>
          <p:cNvSpPr/>
          <p:nvPr/>
        </p:nvSpPr>
        <p:spPr>
          <a:xfrm>
            <a:off x="8531352" y="932688"/>
            <a:ext cx="2880360" cy="521208"/>
          </a:xfrm>
          <a:prstGeom prst="rect">
            <a:avLst/>
          </a:prstGeom>
          <a:noFill/>
          <a:ln/>
        </p:spPr>
        <p:txBody>
          <a:bodyPr wrap="square" lIns="254" tIns="254" rIns="254" bIns="254" rtlCol="0" anchor="ctr"/>
          <a:lstStyle/>
          <a:p>
            <a:pPr indent="0" marL="0">
              <a:buNone/>
            </a:pPr>
            <a:r>
              <a:rPr lang="en-US" sz="920" dirty="0">
                <a:solidFill>
                  <a:srgbClr val="102749"/>
                </a:solidFill>
                <a:latin typeface="Aptos" pitchFamily="34" charset="0"/>
                <a:ea typeface="Aptos" pitchFamily="34" charset="-122"/>
                <a:cs typeface="Aptos" pitchFamily="34" charset="-120"/>
              </a:rPr>
              <a:t>The goal is to translate a process idea into a controlled automation design by identifying triggers, inputs, rules, exceptions, and review outputs.</a:t>
            </a:r>
            <a:endParaRPr lang="en-US" sz="920" dirty="0"/>
          </a:p>
        </p:txBody>
      </p:sp>
      <p:sp>
        <p:nvSpPr>
          <p:cNvPr id="15" name="Shape 12"/>
          <p:cNvSpPr/>
          <p:nvPr/>
        </p:nvSpPr>
        <p:spPr>
          <a:xfrm>
            <a:off x="749808" y="1810512"/>
            <a:ext cx="5623560" cy="3950208"/>
          </a:xfrm>
          <a:prstGeom prst="roundRect">
            <a:avLst>
              <a:gd name="adj" fmla="val 1157"/>
            </a:avLst>
          </a:prstGeom>
          <a:solidFill>
            <a:srgbClr val="FFFFFF"/>
          </a:solidFill>
          <a:ln w="12700">
            <a:solidFill>
              <a:srgbClr val="C7D5EA"/>
            </a:solidFill>
            <a:prstDash val="solid"/>
          </a:ln>
        </p:spPr>
      </p:sp>
      <p:sp>
        <p:nvSpPr>
          <p:cNvPr id="16" name="Text 13"/>
          <p:cNvSpPr/>
          <p:nvPr/>
        </p:nvSpPr>
        <p:spPr>
          <a:xfrm>
            <a:off x="950976" y="1993392"/>
            <a:ext cx="1463040" cy="182880"/>
          </a:xfrm>
          <a:prstGeom prst="rect">
            <a:avLst/>
          </a:prstGeom>
          <a:noFill/>
          <a:ln/>
        </p:spPr>
        <p:txBody>
          <a:bodyPr wrap="square" lIns="0" tIns="0" rIns="0" bIns="0" rtlCol="0" anchor="ctr"/>
          <a:lstStyle/>
          <a:p>
            <a:pPr indent="0" marL="0">
              <a:buNone/>
            </a:pPr>
            <a:r>
              <a:rPr lang="en-US" sz="1200" b="1" dirty="0">
                <a:solidFill>
                  <a:srgbClr val="102749"/>
                </a:solidFill>
                <a:latin typeface="Aptos Display" pitchFamily="34" charset="0"/>
                <a:ea typeface="Aptos Display" pitchFamily="34" charset="-122"/>
                <a:cs typeface="Aptos Display" pitchFamily="34" charset="-120"/>
              </a:rPr>
              <a:t>Workshop brief</a:t>
            </a:r>
            <a:endParaRPr lang="en-US" sz="1200" dirty="0"/>
          </a:p>
        </p:txBody>
      </p:sp>
      <p:sp>
        <p:nvSpPr>
          <p:cNvPr id="17" name="Shape 14"/>
          <p:cNvSpPr/>
          <p:nvPr/>
        </p:nvSpPr>
        <p:spPr>
          <a:xfrm>
            <a:off x="950976" y="2404872"/>
            <a:ext cx="100584" cy="100584"/>
          </a:xfrm>
          <a:prstGeom prst="ellipse">
            <a:avLst/>
          </a:prstGeom>
          <a:solidFill>
            <a:srgbClr val="1F6FFF"/>
          </a:solidFill>
          <a:ln w="12700">
            <a:solidFill>
              <a:srgbClr val="1F6FFF">
                <a:alpha val="0"/>
              </a:srgbClr>
            </a:solidFill>
            <a:prstDash val="solid"/>
          </a:ln>
        </p:spPr>
      </p:sp>
      <p:sp>
        <p:nvSpPr>
          <p:cNvPr id="18" name="Text 15"/>
          <p:cNvSpPr/>
          <p:nvPr/>
        </p:nvSpPr>
        <p:spPr>
          <a:xfrm>
            <a:off x="1115568" y="2331720"/>
            <a:ext cx="4983480" cy="301752"/>
          </a:xfrm>
          <a:prstGeom prst="rect">
            <a:avLst/>
          </a:prstGeom>
          <a:noFill/>
          <a:ln/>
        </p:spPr>
        <p:txBody>
          <a:bodyPr wrap="square" lIns="0" tIns="0" rIns="0" bIns="0" rtlCol="0" anchor="ctr"/>
          <a:lstStyle/>
          <a:p>
            <a:pPr indent="0" marL="0">
              <a:buNone/>
            </a:pPr>
            <a:r>
              <a:rPr lang="en-US" sz="1010" dirty="0">
                <a:solidFill>
                  <a:srgbClr val="102749"/>
                </a:solidFill>
                <a:latin typeface="Aptos" pitchFamily="34" charset="0"/>
                <a:ea typeface="Aptos" pitchFamily="34" charset="-122"/>
                <a:cs typeface="Aptos" pitchFamily="34" charset="-120"/>
              </a:rPr>
              <a:t>Work in small groups and use the Dispatcher, Availity Performer, and ECW Performer storyline as your base case</a:t>
            </a:r>
            <a:endParaRPr lang="en-US" sz="1010" dirty="0"/>
          </a:p>
        </p:txBody>
      </p:sp>
      <p:sp>
        <p:nvSpPr>
          <p:cNvPr id="19" name="Shape 16"/>
          <p:cNvSpPr/>
          <p:nvPr/>
        </p:nvSpPr>
        <p:spPr>
          <a:xfrm>
            <a:off x="950976" y="2971800"/>
            <a:ext cx="100584" cy="100584"/>
          </a:xfrm>
          <a:prstGeom prst="ellipse">
            <a:avLst/>
          </a:prstGeom>
          <a:solidFill>
            <a:srgbClr val="1F6FFF"/>
          </a:solidFill>
          <a:ln w="12700">
            <a:solidFill>
              <a:srgbClr val="1F6FFF">
                <a:alpha val="0"/>
              </a:srgbClr>
            </a:solidFill>
            <a:prstDash val="solid"/>
          </a:ln>
        </p:spPr>
      </p:sp>
      <p:sp>
        <p:nvSpPr>
          <p:cNvPr id="20" name="Text 17"/>
          <p:cNvSpPr/>
          <p:nvPr/>
        </p:nvSpPr>
        <p:spPr>
          <a:xfrm>
            <a:off x="1115568" y="2898648"/>
            <a:ext cx="4983480" cy="301752"/>
          </a:xfrm>
          <a:prstGeom prst="rect">
            <a:avLst/>
          </a:prstGeom>
          <a:noFill/>
          <a:ln/>
        </p:spPr>
        <p:txBody>
          <a:bodyPr wrap="square" lIns="0" tIns="0" rIns="0" bIns="0" rtlCol="0" anchor="ctr"/>
          <a:lstStyle/>
          <a:p>
            <a:pPr indent="0" marL="0">
              <a:buNone/>
            </a:pPr>
            <a:r>
              <a:rPr lang="en-US" sz="1010" dirty="0">
                <a:solidFill>
                  <a:srgbClr val="102749"/>
                </a:solidFill>
                <a:latin typeface="Aptos" pitchFamily="34" charset="0"/>
                <a:ea typeface="Aptos" pitchFamily="34" charset="-122"/>
                <a:cs typeface="Aptos" pitchFamily="34" charset="-120"/>
              </a:rPr>
              <a:t>Identify the trigger, key inputs, major business rules, expected outputs, and the top five exception scenarios</a:t>
            </a:r>
            <a:endParaRPr lang="en-US" sz="1010" dirty="0"/>
          </a:p>
        </p:txBody>
      </p:sp>
      <p:sp>
        <p:nvSpPr>
          <p:cNvPr id="21" name="Shape 18"/>
          <p:cNvSpPr/>
          <p:nvPr/>
        </p:nvSpPr>
        <p:spPr>
          <a:xfrm>
            <a:off x="950976" y="3538728"/>
            <a:ext cx="100584" cy="100584"/>
          </a:xfrm>
          <a:prstGeom prst="ellipse">
            <a:avLst/>
          </a:prstGeom>
          <a:solidFill>
            <a:srgbClr val="1F6FFF"/>
          </a:solidFill>
          <a:ln w="12700">
            <a:solidFill>
              <a:srgbClr val="1F6FFF">
                <a:alpha val="0"/>
              </a:srgbClr>
            </a:solidFill>
            <a:prstDash val="solid"/>
          </a:ln>
        </p:spPr>
      </p:sp>
      <p:sp>
        <p:nvSpPr>
          <p:cNvPr id="22" name="Text 19"/>
          <p:cNvSpPr/>
          <p:nvPr/>
        </p:nvSpPr>
        <p:spPr>
          <a:xfrm>
            <a:off x="1115568" y="3465576"/>
            <a:ext cx="4983480" cy="301752"/>
          </a:xfrm>
          <a:prstGeom prst="rect">
            <a:avLst/>
          </a:prstGeom>
          <a:noFill/>
          <a:ln/>
        </p:spPr>
        <p:txBody>
          <a:bodyPr wrap="square" lIns="0" tIns="0" rIns="0" bIns="0" rtlCol="0" anchor="ctr"/>
          <a:lstStyle/>
          <a:p>
            <a:pPr indent="0" marL="0">
              <a:buNone/>
            </a:pPr>
            <a:r>
              <a:rPr lang="en-US" sz="1010" dirty="0">
                <a:solidFill>
                  <a:srgbClr val="102749"/>
                </a:solidFill>
                <a:latin typeface="Aptos" pitchFamily="34" charset="0"/>
                <a:ea typeface="Aptos" pitchFamily="34" charset="-122"/>
                <a:cs typeface="Aptos" pitchFamily="34" charset="-120"/>
              </a:rPr>
              <a:t>Decide which exceptions should retry, which should route to human review, and what evidence should appear in reporting</a:t>
            </a:r>
            <a:endParaRPr lang="en-US" sz="1010" dirty="0"/>
          </a:p>
        </p:txBody>
      </p:sp>
      <p:sp>
        <p:nvSpPr>
          <p:cNvPr id="23" name="Shape 20"/>
          <p:cNvSpPr/>
          <p:nvPr/>
        </p:nvSpPr>
        <p:spPr>
          <a:xfrm>
            <a:off x="950976" y="4105656"/>
            <a:ext cx="100584" cy="100584"/>
          </a:xfrm>
          <a:prstGeom prst="ellipse">
            <a:avLst/>
          </a:prstGeom>
          <a:solidFill>
            <a:srgbClr val="1F6FFF"/>
          </a:solidFill>
          <a:ln w="12700">
            <a:solidFill>
              <a:srgbClr val="1F6FFF">
                <a:alpha val="0"/>
              </a:srgbClr>
            </a:solidFill>
            <a:prstDash val="solid"/>
          </a:ln>
        </p:spPr>
      </p:sp>
      <p:sp>
        <p:nvSpPr>
          <p:cNvPr id="24" name="Text 21"/>
          <p:cNvSpPr/>
          <p:nvPr/>
        </p:nvSpPr>
        <p:spPr>
          <a:xfrm>
            <a:off x="1115568" y="4032504"/>
            <a:ext cx="4983480" cy="301752"/>
          </a:xfrm>
          <a:prstGeom prst="rect">
            <a:avLst/>
          </a:prstGeom>
          <a:noFill/>
          <a:ln/>
        </p:spPr>
        <p:txBody>
          <a:bodyPr wrap="square" lIns="0" tIns="0" rIns="0" bIns="0" rtlCol="0" anchor="ctr"/>
          <a:lstStyle/>
          <a:p>
            <a:pPr indent="0" marL="0">
              <a:buNone/>
            </a:pPr>
            <a:r>
              <a:rPr lang="en-US" sz="1010" dirty="0">
                <a:solidFill>
                  <a:srgbClr val="102749"/>
                </a:solidFill>
                <a:latin typeface="Aptos" pitchFamily="34" charset="0"/>
                <a:ea typeface="Aptos" pitchFamily="34" charset="-122"/>
                <a:cs typeface="Aptos" pitchFamily="34" charset="-120"/>
              </a:rPr>
              <a:t>Prepare a short recommendation on whether the process is ready as-is or needs stabilization first</a:t>
            </a:r>
            <a:endParaRPr lang="en-US" sz="1010" dirty="0"/>
          </a:p>
        </p:txBody>
      </p:sp>
      <p:sp>
        <p:nvSpPr>
          <p:cNvPr id="25" name="Shape 22"/>
          <p:cNvSpPr/>
          <p:nvPr/>
        </p:nvSpPr>
        <p:spPr>
          <a:xfrm>
            <a:off x="6720840" y="1847088"/>
            <a:ext cx="4690872" cy="914400"/>
          </a:xfrm>
          <a:prstGeom prst="roundRect">
            <a:avLst>
              <a:gd name="adj" fmla="val 6000"/>
            </a:avLst>
          </a:prstGeom>
          <a:solidFill>
            <a:srgbClr val="FFFFFF"/>
          </a:solidFill>
          <a:ln w="12700">
            <a:solidFill>
              <a:srgbClr val="C7D5EA"/>
            </a:solidFill>
            <a:prstDash val="solid"/>
          </a:ln>
        </p:spPr>
      </p:sp>
      <p:sp>
        <p:nvSpPr>
          <p:cNvPr id="26" name="Shape 23"/>
          <p:cNvSpPr/>
          <p:nvPr/>
        </p:nvSpPr>
        <p:spPr>
          <a:xfrm>
            <a:off x="6720840" y="1847088"/>
            <a:ext cx="4690872" cy="64008"/>
          </a:xfrm>
          <a:prstGeom prst="rect">
            <a:avLst/>
          </a:prstGeom>
          <a:solidFill>
            <a:srgbClr val="1F6FFF"/>
          </a:solidFill>
          <a:ln w="12700">
            <a:solidFill>
              <a:srgbClr val="1F6FFF">
                <a:alpha val="0"/>
              </a:srgbClr>
            </a:solidFill>
            <a:prstDash val="solid"/>
          </a:ln>
        </p:spPr>
      </p:sp>
      <p:sp>
        <p:nvSpPr>
          <p:cNvPr id="27" name="Text 24"/>
          <p:cNvSpPr/>
          <p:nvPr/>
        </p:nvSpPr>
        <p:spPr>
          <a:xfrm>
            <a:off x="6885432" y="2011680"/>
            <a:ext cx="4416552"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Deliverable 1</a:t>
            </a:r>
            <a:endParaRPr lang="en-US" sz="1150" dirty="0"/>
          </a:p>
        </p:txBody>
      </p:sp>
      <p:sp>
        <p:nvSpPr>
          <p:cNvPr id="28" name="Text 25"/>
          <p:cNvSpPr/>
          <p:nvPr/>
        </p:nvSpPr>
        <p:spPr>
          <a:xfrm>
            <a:off x="6885432" y="2286000"/>
            <a:ext cx="4416552" cy="384048"/>
          </a:xfrm>
          <a:prstGeom prst="rect">
            <a:avLst/>
          </a:prstGeom>
          <a:noFill/>
          <a:ln/>
        </p:spPr>
        <p:txBody>
          <a:bodyPr wrap="square" lIns="254" tIns="254" rIns="254" bIns="254" rtlCol="0" anchor="t"/>
          <a:lstStyle/>
          <a:p>
            <a:pPr indent="0" marL="0">
              <a:buNone/>
            </a:pPr>
            <a:r>
              <a:rPr lang="en-US" sz="890" dirty="0">
                <a:solidFill>
                  <a:srgbClr val="51607B"/>
                </a:solidFill>
                <a:latin typeface="Aptos" pitchFamily="34" charset="0"/>
                <a:ea typeface="Aptos" pitchFamily="34" charset="-122"/>
                <a:cs typeface="Aptos" pitchFamily="34" charset="-120"/>
              </a:rPr>
              <a:t>A simple trigger / input / rules / output map for the end-to-end process.</a:t>
            </a:r>
            <a:endParaRPr lang="en-US" sz="890" dirty="0"/>
          </a:p>
        </p:txBody>
      </p:sp>
      <p:sp>
        <p:nvSpPr>
          <p:cNvPr id="29" name="Shape 26"/>
          <p:cNvSpPr/>
          <p:nvPr/>
        </p:nvSpPr>
        <p:spPr>
          <a:xfrm>
            <a:off x="6720840" y="3054096"/>
            <a:ext cx="4690872" cy="914400"/>
          </a:xfrm>
          <a:prstGeom prst="roundRect">
            <a:avLst>
              <a:gd name="adj" fmla="val 6000"/>
            </a:avLst>
          </a:prstGeom>
          <a:solidFill>
            <a:srgbClr val="FFFFFF"/>
          </a:solidFill>
          <a:ln w="12700">
            <a:solidFill>
              <a:srgbClr val="C7D5EA"/>
            </a:solidFill>
            <a:prstDash val="solid"/>
          </a:ln>
        </p:spPr>
      </p:sp>
      <p:sp>
        <p:nvSpPr>
          <p:cNvPr id="30" name="Shape 27"/>
          <p:cNvSpPr/>
          <p:nvPr/>
        </p:nvSpPr>
        <p:spPr>
          <a:xfrm>
            <a:off x="6720840" y="3054096"/>
            <a:ext cx="4690872" cy="64008"/>
          </a:xfrm>
          <a:prstGeom prst="rect">
            <a:avLst/>
          </a:prstGeom>
          <a:solidFill>
            <a:srgbClr val="12B3A8"/>
          </a:solidFill>
          <a:ln w="12700">
            <a:solidFill>
              <a:srgbClr val="12B3A8">
                <a:alpha val="0"/>
              </a:srgbClr>
            </a:solidFill>
            <a:prstDash val="solid"/>
          </a:ln>
        </p:spPr>
      </p:sp>
      <p:sp>
        <p:nvSpPr>
          <p:cNvPr id="31" name="Text 28"/>
          <p:cNvSpPr/>
          <p:nvPr/>
        </p:nvSpPr>
        <p:spPr>
          <a:xfrm>
            <a:off x="6885432" y="3218688"/>
            <a:ext cx="4416552"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Deliverable 2</a:t>
            </a:r>
            <a:endParaRPr lang="en-US" sz="1150" dirty="0"/>
          </a:p>
        </p:txBody>
      </p:sp>
      <p:sp>
        <p:nvSpPr>
          <p:cNvPr id="32" name="Text 29"/>
          <p:cNvSpPr/>
          <p:nvPr/>
        </p:nvSpPr>
        <p:spPr>
          <a:xfrm>
            <a:off x="6885432" y="3493008"/>
            <a:ext cx="4416552" cy="384048"/>
          </a:xfrm>
          <a:prstGeom prst="rect">
            <a:avLst/>
          </a:prstGeom>
          <a:noFill/>
          <a:ln/>
        </p:spPr>
        <p:txBody>
          <a:bodyPr wrap="square" lIns="254" tIns="254" rIns="254" bIns="254" rtlCol="0" anchor="t"/>
          <a:lstStyle/>
          <a:p>
            <a:pPr indent="0" marL="0">
              <a:buNone/>
            </a:pPr>
            <a:r>
              <a:rPr lang="en-US" sz="890" dirty="0">
                <a:solidFill>
                  <a:srgbClr val="51607B"/>
                </a:solidFill>
                <a:latin typeface="Aptos" pitchFamily="34" charset="0"/>
                <a:ea typeface="Aptos" pitchFamily="34" charset="-122"/>
                <a:cs typeface="Aptos" pitchFamily="34" charset="-120"/>
              </a:rPr>
              <a:t>A business exception list and a system exception list with treatment paths.</a:t>
            </a:r>
            <a:endParaRPr lang="en-US" sz="890" dirty="0"/>
          </a:p>
        </p:txBody>
      </p:sp>
      <p:sp>
        <p:nvSpPr>
          <p:cNvPr id="33" name="Shape 30"/>
          <p:cNvSpPr/>
          <p:nvPr/>
        </p:nvSpPr>
        <p:spPr>
          <a:xfrm>
            <a:off x="6720840" y="4261104"/>
            <a:ext cx="4690872" cy="914400"/>
          </a:xfrm>
          <a:prstGeom prst="roundRect">
            <a:avLst>
              <a:gd name="adj" fmla="val 6000"/>
            </a:avLst>
          </a:prstGeom>
          <a:solidFill>
            <a:srgbClr val="FFFFFF"/>
          </a:solidFill>
          <a:ln w="12700">
            <a:solidFill>
              <a:srgbClr val="C7D5EA"/>
            </a:solidFill>
            <a:prstDash val="solid"/>
          </a:ln>
        </p:spPr>
      </p:sp>
      <p:sp>
        <p:nvSpPr>
          <p:cNvPr id="34" name="Shape 31"/>
          <p:cNvSpPr/>
          <p:nvPr/>
        </p:nvSpPr>
        <p:spPr>
          <a:xfrm>
            <a:off x="6720840" y="4261104"/>
            <a:ext cx="4690872" cy="64008"/>
          </a:xfrm>
          <a:prstGeom prst="rect">
            <a:avLst/>
          </a:prstGeom>
          <a:solidFill>
            <a:srgbClr val="1F6FFF"/>
          </a:solidFill>
          <a:ln w="12700">
            <a:solidFill>
              <a:srgbClr val="1F6FFF">
                <a:alpha val="0"/>
              </a:srgbClr>
            </a:solidFill>
            <a:prstDash val="solid"/>
          </a:ln>
        </p:spPr>
      </p:sp>
      <p:sp>
        <p:nvSpPr>
          <p:cNvPr id="35" name="Text 32"/>
          <p:cNvSpPr/>
          <p:nvPr/>
        </p:nvSpPr>
        <p:spPr>
          <a:xfrm>
            <a:off x="6885432" y="4425696"/>
            <a:ext cx="4416552" cy="201168"/>
          </a:xfrm>
          <a:prstGeom prst="rect">
            <a:avLst/>
          </a:prstGeom>
          <a:noFill/>
          <a:ln/>
        </p:spPr>
        <p:txBody>
          <a:bodyPr wrap="square" lIns="0" tIns="0" rIns="0" bIns="0" rtlCol="0" anchor="ctr"/>
          <a:lstStyle/>
          <a:p>
            <a:pPr indent="0" marL="0">
              <a:buNone/>
            </a:pPr>
            <a:r>
              <a:rPr lang="en-US" sz="1150" b="1" dirty="0">
                <a:solidFill>
                  <a:srgbClr val="102749"/>
                </a:solidFill>
                <a:latin typeface="Aptos Display" pitchFamily="34" charset="0"/>
                <a:ea typeface="Aptos Display" pitchFamily="34" charset="-122"/>
                <a:cs typeface="Aptos Display" pitchFamily="34" charset="-120"/>
              </a:rPr>
              <a:t>Deliverable 3</a:t>
            </a:r>
            <a:endParaRPr lang="en-US" sz="1150" dirty="0"/>
          </a:p>
        </p:txBody>
      </p:sp>
      <p:sp>
        <p:nvSpPr>
          <p:cNvPr id="36" name="Text 33"/>
          <p:cNvSpPr/>
          <p:nvPr/>
        </p:nvSpPr>
        <p:spPr>
          <a:xfrm>
            <a:off x="6885432" y="4700016"/>
            <a:ext cx="4416552" cy="384048"/>
          </a:xfrm>
          <a:prstGeom prst="rect">
            <a:avLst/>
          </a:prstGeom>
          <a:noFill/>
          <a:ln/>
        </p:spPr>
        <p:txBody>
          <a:bodyPr wrap="square" lIns="254" tIns="254" rIns="254" bIns="254" rtlCol="0" anchor="t"/>
          <a:lstStyle/>
          <a:p>
            <a:pPr indent="0" marL="0">
              <a:buNone/>
            </a:pPr>
            <a:r>
              <a:rPr lang="en-US" sz="890" dirty="0">
                <a:solidFill>
                  <a:srgbClr val="51607B"/>
                </a:solidFill>
                <a:latin typeface="Aptos" pitchFamily="34" charset="0"/>
                <a:ea typeface="Aptos" pitchFamily="34" charset="-122"/>
                <a:cs typeface="Aptos" pitchFamily="34" charset="-120"/>
              </a:rPr>
              <a:t>Two BA validation checks you would insist on before UAT sign-off.</a:t>
            </a:r>
            <a:endParaRPr lang="en-US" sz="890" dirty="0"/>
          </a:p>
        </p:txBody>
      </p:sp>
      <p:sp>
        <p:nvSpPr>
          <p:cNvPr id="37" name="Shape 34"/>
          <p:cNvSpPr/>
          <p:nvPr/>
        </p:nvSpPr>
        <p:spPr>
          <a:xfrm>
            <a:off x="749808" y="5943600"/>
            <a:ext cx="10661904" cy="658368"/>
          </a:xfrm>
          <a:prstGeom prst="roundRect">
            <a:avLst>
              <a:gd name="adj" fmla="val 6944"/>
            </a:avLst>
          </a:prstGeom>
          <a:solidFill>
            <a:srgbClr val="FFF9EE"/>
          </a:solidFill>
          <a:ln w="12700">
            <a:solidFill>
              <a:srgbClr val="E6A019"/>
            </a:solidFill>
            <a:prstDash val="solid"/>
          </a:ln>
        </p:spPr>
      </p:sp>
      <p:sp>
        <p:nvSpPr>
          <p:cNvPr id="38" name="Text 35"/>
          <p:cNvSpPr/>
          <p:nvPr/>
        </p:nvSpPr>
        <p:spPr>
          <a:xfrm>
            <a:off x="914400" y="6071616"/>
            <a:ext cx="10387584" cy="164592"/>
          </a:xfrm>
          <a:prstGeom prst="rect">
            <a:avLst/>
          </a:prstGeom>
          <a:noFill/>
          <a:ln/>
        </p:spPr>
        <p:txBody>
          <a:bodyPr wrap="square" lIns="0" tIns="0" rIns="0" bIns="0" rtlCol="0" anchor="ctr"/>
          <a:lstStyle/>
          <a:p>
            <a:pPr indent="0" marL="0">
              <a:buNone/>
            </a:pPr>
            <a:r>
              <a:rPr lang="en-US" sz="850" b="1" dirty="0">
                <a:solidFill>
                  <a:srgbClr val="E6A019"/>
                </a:solidFill>
                <a:latin typeface="Aptos" pitchFamily="34" charset="0"/>
                <a:ea typeface="Aptos" pitchFamily="34" charset="-122"/>
                <a:cs typeface="Aptos" pitchFamily="34" charset="-120"/>
              </a:rPr>
              <a:t>Facilitator Prompt</a:t>
            </a:r>
            <a:endParaRPr lang="en-US" sz="850" dirty="0"/>
          </a:p>
        </p:txBody>
      </p:sp>
      <p:sp>
        <p:nvSpPr>
          <p:cNvPr id="39" name="Text 36"/>
          <p:cNvSpPr/>
          <p:nvPr/>
        </p:nvSpPr>
        <p:spPr>
          <a:xfrm>
            <a:off x="914400" y="6245352"/>
            <a:ext cx="10387584" cy="310896"/>
          </a:xfrm>
          <a:prstGeom prst="rect">
            <a:avLst/>
          </a:prstGeom>
          <a:noFill/>
          <a:ln/>
        </p:spPr>
        <p:txBody>
          <a:bodyPr wrap="square" lIns="254" tIns="254" rIns="254" bIns="254" rtlCol="0" anchor="ctr"/>
          <a:lstStyle/>
          <a:p>
            <a:pPr indent="0" marL="0">
              <a:buNone/>
            </a:pPr>
            <a:r>
              <a:rPr lang="en-US" sz="940" dirty="0">
                <a:solidFill>
                  <a:srgbClr val="102749"/>
                </a:solidFill>
                <a:latin typeface="Aptos" pitchFamily="34" charset="0"/>
                <a:ea typeface="Aptos" pitchFamily="34" charset="-122"/>
                <a:cs typeface="Aptos" pitchFamily="34" charset="-120"/>
              </a:rPr>
              <a:t>If the process changed every week, what would you redesign before automating?</a:t>
            </a:r>
            <a:endParaRPr lang="en-US" sz="940" dirty="0"/>
          </a:p>
        </p:txBody>
      </p:sp>
      <p:sp>
        <p:nvSpPr>
          <p:cNvPr id="40" name="Text 37"/>
          <p:cNvSpPr/>
          <p:nvPr/>
        </p:nvSpPr>
        <p:spPr>
          <a:xfrm>
            <a:off x="658368" y="6510528"/>
            <a:ext cx="2560320" cy="164592"/>
          </a:xfrm>
          <a:prstGeom prst="rect">
            <a:avLst/>
          </a:prstGeom>
          <a:noFill/>
          <a:ln/>
        </p:spPr>
        <p:txBody>
          <a:bodyPr wrap="square" lIns="0" tIns="0" rIns="0" bIns="0" rtlCol="0" anchor="ctr"/>
          <a:lstStyle/>
          <a:p>
            <a:pPr indent="0" marL="0">
              <a:buNone/>
            </a:pPr>
            <a:r>
              <a:rPr lang="en-US" sz="850" dirty="0">
                <a:solidFill>
                  <a:srgbClr val="51607B"/>
                </a:solidFill>
                <a:latin typeface="Aptos" pitchFamily="34" charset="0"/>
                <a:ea typeface="Aptos" pitchFamily="34" charset="-122"/>
                <a:cs typeface="Aptos" pitchFamily="34" charset="-120"/>
              </a:rPr>
              <a:t>Innobot  |  Internal workshop</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50B16"/>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050B16"/>
          </a:solidFill>
          <a:ln/>
        </p:spPr>
      </p:sp>
      <p:sp>
        <p:nvSpPr>
          <p:cNvPr id="4" name="Shape 1"/>
          <p:cNvSpPr/>
          <p:nvPr/>
        </p:nvSpPr>
        <p:spPr>
          <a:xfrm>
            <a:off x="-182880" y="-822960"/>
            <a:ext cx="4023360" cy="2926080"/>
          </a:xfrm>
          <a:prstGeom prst="ellipse">
            <a:avLst/>
          </a:prstGeom>
          <a:solidFill>
            <a:srgbClr val="1F6FFF">
              <a:alpha val="22000"/>
            </a:srgbClr>
          </a:solidFill>
          <a:ln w="12700">
            <a:solidFill>
              <a:srgbClr val="1F6FFF">
                <a:alpha val="0"/>
              </a:srgbClr>
            </a:solidFill>
            <a:prstDash val="solid"/>
          </a:ln>
        </p:spPr>
      </p:sp>
      <p:sp>
        <p:nvSpPr>
          <p:cNvPr id="5" name="Shape 2"/>
          <p:cNvSpPr/>
          <p:nvPr/>
        </p:nvSpPr>
        <p:spPr>
          <a:xfrm>
            <a:off x="8595360" y="-731520"/>
            <a:ext cx="3931920" cy="3108960"/>
          </a:xfrm>
          <a:prstGeom prst="ellipse">
            <a:avLst/>
          </a:prstGeom>
          <a:solidFill>
            <a:srgbClr val="12B3A8">
              <a:alpha val="16000"/>
            </a:srgbClr>
          </a:solidFill>
          <a:ln w="12700">
            <a:solidFill>
              <a:srgbClr val="12B3A8">
                <a:alpha val="0"/>
              </a:srgbClr>
            </a:solidFill>
            <a:prstDash val="solid"/>
          </a:ln>
        </p:spPr>
      </p:sp>
      <p:sp>
        <p:nvSpPr>
          <p:cNvPr id="6" name="Shape 3"/>
          <p:cNvSpPr/>
          <p:nvPr/>
        </p:nvSpPr>
        <p:spPr>
          <a:xfrm rot="480000">
            <a:off x="7680960" y="5394960"/>
            <a:ext cx="4846320" cy="1737360"/>
          </a:xfrm>
          <a:prstGeom prst="rect">
            <a:avLst/>
          </a:prstGeom>
          <a:solidFill>
            <a:srgbClr val="8AB8FF">
              <a:alpha val="8000"/>
            </a:srgbClr>
          </a:solidFill>
          <a:ln w="12700">
            <a:solidFill>
              <a:srgbClr val="8AB8FF">
                <a:alpha val="0"/>
              </a:srgbClr>
            </a:solidFill>
            <a:prstDash val="solid"/>
          </a:ln>
        </p:spPr>
      </p:sp>
      <p:sp>
        <p:nvSpPr>
          <p:cNvPr id="7" name="Text 4"/>
          <p:cNvSpPr/>
          <p:nvPr/>
        </p:nvSpPr>
        <p:spPr>
          <a:xfrm>
            <a:off x="749808" y="530352"/>
            <a:ext cx="1828800" cy="164592"/>
          </a:xfrm>
          <a:prstGeom prst="rect">
            <a:avLst/>
          </a:prstGeom>
          <a:noFill/>
          <a:ln/>
        </p:spPr>
        <p:txBody>
          <a:bodyPr wrap="square" lIns="0" tIns="0" rIns="0" bIns="0" rtlCol="0" anchor="ctr"/>
          <a:lstStyle/>
          <a:p>
            <a:pPr indent="0" marL="0">
              <a:buNone/>
            </a:pPr>
            <a:r>
              <a:rPr lang="en-US" sz="1000" b="1" dirty="0">
                <a:solidFill>
                  <a:srgbClr val="8AB8FF"/>
                </a:solidFill>
                <a:latin typeface="Aptos" pitchFamily="34" charset="0"/>
                <a:ea typeface="Aptos" pitchFamily="34" charset="-122"/>
                <a:cs typeface="Aptos" pitchFamily="34" charset="-120"/>
              </a:rPr>
              <a:t>KEY TAKEAWAYS</a:t>
            </a:r>
            <a:endParaRPr lang="en-US" sz="1000" dirty="0"/>
          </a:p>
        </p:txBody>
      </p:sp>
      <p:sp>
        <p:nvSpPr>
          <p:cNvPr id="8" name="Text 5"/>
          <p:cNvSpPr/>
          <p:nvPr/>
        </p:nvSpPr>
        <p:spPr>
          <a:xfrm>
            <a:off x="749808" y="914400"/>
            <a:ext cx="5852160" cy="512064"/>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Key Takeaways and Closing</a:t>
            </a:r>
            <a:endParaRPr lang="en-US" sz="2400" dirty="0"/>
          </a:p>
        </p:txBody>
      </p:sp>
      <p:sp>
        <p:nvSpPr>
          <p:cNvPr id="9" name="Text 6"/>
          <p:cNvSpPr/>
          <p:nvPr/>
        </p:nvSpPr>
        <p:spPr>
          <a:xfrm>
            <a:off x="749808" y="1554480"/>
            <a:ext cx="5897880" cy="310896"/>
          </a:xfrm>
          <a:prstGeom prst="rect">
            <a:avLst/>
          </a:prstGeom>
          <a:noFill/>
          <a:ln/>
        </p:spPr>
        <p:txBody>
          <a:bodyPr wrap="square" lIns="0" tIns="0" rIns="0" bIns="0" rtlCol="0" anchor="ctr"/>
          <a:lstStyle/>
          <a:p>
            <a:pPr indent="0" marL="0">
              <a:buNone/>
            </a:pPr>
            <a:r>
              <a:rPr lang="en-US" sz="1150" dirty="0">
                <a:solidFill>
                  <a:srgbClr val="D7E7FF"/>
                </a:solidFill>
                <a:latin typeface="Aptos" pitchFamily="34" charset="0"/>
                <a:ea typeface="Aptos" pitchFamily="34" charset="-122"/>
                <a:cs typeface="Aptos" pitchFamily="34" charset="-120"/>
              </a:rPr>
              <a:t>Good automation is structured, governed, exception-aware, and business-owned</a:t>
            </a:r>
            <a:endParaRPr lang="en-US" sz="1150" dirty="0"/>
          </a:p>
        </p:txBody>
      </p:sp>
      <p:sp>
        <p:nvSpPr>
          <p:cNvPr id="10" name="Shape 7"/>
          <p:cNvSpPr/>
          <p:nvPr/>
        </p:nvSpPr>
        <p:spPr>
          <a:xfrm>
            <a:off x="749808" y="2084832"/>
            <a:ext cx="5440680" cy="896112"/>
          </a:xfrm>
          <a:prstGeom prst="roundRect">
            <a:avLst>
              <a:gd name="adj" fmla="val 5102"/>
            </a:avLst>
          </a:prstGeom>
          <a:solidFill>
            <a:srgbClr val="102749">
              <a:alpha val="82000"/>
            </a:srgbClr>
          </a:solidFill>
          <a:ln w="12700">
            <a:solidFill>
              <a:srgbClr val="8AB8FF">
                <a:alpha val="25000"/>
              </a:srgbClr>
            </a:solidFill>
            <a:prstDash val="solid"/>
          </a:ln>
        </p:spPr>
      </p:sp>
      <p:sp>
        <p:nvSpPr>
          <p:cNvPr id="11" name="Text 8"/>
          <p:cNvSpPr/>
          <p:nvPr/>
        </p:nvSpPr>
        <p:spPr>
          <a:xfrm>
            <a:off x="932688" y="2331720"/>
            <a:ext cx="5074920" cy="411480"/>
          </a:xfrm>
          <a:prstGeom prst="rect">
            <a:avLst/>
          </a:prstGeom>
          <a:noFill/>
          <a:ln/>
        </p:spPr>
        <p:txBody>
          <a:bodyPr wrap="square" lIns="0" tIns="0" rIns="0" bIns="0" rtlCol="0" anchor="ctr"/>
          <a:lstStyle/>
          <a:p>
            <a:pPr indent="0" marL="0">
              <a:buNone/>
            </a:pPr>
            <a:r>
              <a:rPr lang="en-US" sz="1060" dirty="0">
                <a:solidFill>
                  <a:srgbClr val="FFFFFF"/>
                </a:solidFill>
                <a:latin typeface="Aptos" pitchFamily="34" charset="0"/>
                <a:ea typeface="Aptos" pitchFamily="34" charset="-122"/>
                <a:cs typeface="Aptos" pitchFamily="34" charset="-120"/>
              </a:rPr>
              <a:t>The best automation solutions are modular, maintainable, scalable, measurable, and designed for recovery instead of false perfection.</a:t>
            </a:r>
            <a:endParaRPr lang="en-US" sz="1060" dirty="0"/>
          </a:p>
        </p:txBody>
      </p:sp>
      <p:sp>
        <p:nvSpPr>
          <p:cNvPr id="12" name="Shape 9"/>
          <p:cNvSpPr/>
          <p:nvPr/>
        </p:nvSpPr>
        <p:spPr>
          <a:xfrm>
            <a:off x="6537960" y="914400"/>
            <a:ext cx="1572768" cy="1572768"/>
          </a:xfrm>
          <a:prstGeom prst="roundRect">
            <a:avLst>
              <a:gd name="adj" fmla="val 3488"/>
            </a:avLst>
          </a:prstGeom>
          <a:solidFill>
            <a:srgbClr val="0A1830"/>
          </a:solidFill>
          <a:ln w="12700">
            <a:solidFill>
              <a:srgbClr val="102749"/>
            </a:solidFill>
            <a:prstDash val="solid"/>
          </a:ln>
        </p:spPr>
      </p:sp>
      <p:sp>
        <p:nvSpPr>
          <p:cNvPr id="13" name="Shape 10"/>
          <p:cNvSpPr/>
          <p:nvPr/>
        </p:nvSpPr>
        <p:spPr>
          <a:xfrm>
            <a:off x="6537960" y="914400"/>
            <a:ext cx="1572768" cy="64008"/>
          </a:xfrm>
          <a:prstGeom prst="rect">
            <a:avLst/>
          </a:prstGeom>
          <a:solidFill>
            <a:srgbClr val="1F6FFF"/>
          </a:solidFill>
          <a:ln w="12700">
            <a:solidFill>
              <a:srgbClr val="1F6FFF">
                <a:alpha val="0"/>
              </a:srgbClr>
            </a:solidFill>
            <a:prstDash val="solid"/>
          </a:ln>
        </p:spPr>
      </p:sp>
      <p:sp>
        <p:nvSpPr>
          <p:cNvPr id="14" name="Text 11"/>
          <p:cNvSpPr/>
          <p:nvPr/>
        </p:nvSpPr>
        <p:spPr>
          <a:xfrm>
            <a:off x="6702552" y="1078992"/>
            <a:ext cx="1298448" cy="201168"/>
          </a:xfrm>
          <a:prstGeom prst="rect">
            <a:avLst/>
          </a:prstGeom>
          <a:noFill/>
          <a:ln/>
        </p:spPr>
        <p:txBody>
          <a:bodyPr wrap="square" lIns="0" tIns="0" rIns="0" bIns="0" rtlCol="0" anchor="ctr"/>
          <a:lstStyle/>
          <a:p>
            <a:pPr indent="0" marL="0">
              <a:buNone/>
            </a:pPr>
            <a:r>
              <a:rPr lang="en-US" sz="1150" b="1" dirty="0">
                <a:solidFill>
                  <a:srgbClr val="FFFFFF"/>
                </a:solidFill>
                <a:latin typeface="Aptos Display" pitchFamily="34" charset="0"/>
                <a:ea typeface="Aptos Display" pitchFamily="34" charset="-122"/>
                <a:cs typeface="Aptos Display" pitchFamily="34" charset="-120"/>
              </a:rPr>
              <a:t>RPA Is Structured</a:t>
            </a:r>
            <a:endParaRPr lang="en-US" sz="1150" dirty="0"/>
          </a:p>
        </p:txBody>
      </p:sp>
      <p:sp>
        <p:nvSpPr>
          <p:cNvPr id="15" name="Text 12"/>
          <p:cNvSpPr/>
          <p:nvPr/>
        </p:nvSpPr>
        <p:spPr>
          <a:xfrm>
            <a:off x="6702552" y="1353312"/>
            <a:ext cx="1298448" cy="1042416"/>
          </a:xfrm>
          <a:prstGeom prst="rect">
            <a:avLst/>
          </a:prstGeom>
          <a:noFill/>
          <a:ln/>
        </p:spPr>
        <p:txBody>
          <a:bodyPr wrap="square" lIns="254" tIns="254" rIns="254" bIns="254" rtlCol="0" anchor="t"/>
          <a:lstStyle/>
          <a:p>
            <a:pPr indent="0" marL="0">
              <a:buNone/>
            </a:pPr>
            <a:r>
              <a:rPr lang="en-US" sz="830" dirty="0">
                <a:solidFill>
                  <a:srgbClr val="D9E5F5"/>
                </a:solidFill>
                <a:latin typeface="Aptos" pitchFamily="34" charset="0"/>
                <a:ea typeface="Aptos" pitchFamily="34" charset="-122"/>
                <a:cs typeface="Aptos" pitchFamily="34" charset="-120"/>
              </a:rPr>
              <a:t>Think trigger, inputs, rules, outputs, controls, and cleanup.</a:t>
            </a:r>
            <a:endParaRPr lang="en-US" sz="830" dirty="0"/>
          </a:p>
        </p:txBody>
      </p:sp>
      <p:sp>
        <p:nvSpPr>
          <p:cNvPr id="16" name="Shape 13"/>
          <p:cNvSpPr/>
          <p:nvPr/>
        </p:nvSpPr>
        <p:spPr>
          <a:xfrm>
            <a:off x="8321040" y="914400"/>
            <a:ext cx="1572768" cy="1572768"/>
          </a:xfrm>
          <a:prstGeom prst="roundRect">
            <a:avLst>
              <a:gd name="adj" fmla="val 3488"/>
            </a:avLst>
          </a:prstGeom>
          <a:solidFill>
            <a:srgbClr val="0A1830"/>
          </a:solidFill>
          <a:ln w="12700">
            <a:solidFill>
              <a:srgbClr val="102749"/>
            </a:solidFill>
            <a:prstDash val="solid"/>
          </a:ln>
        </p:spPr>
      </p:sp>
      <p:sp>
        <p:nvSpPr>
          <p:cNvPr id="17" name="Shape 14"/>
          <p:cNvSpPr/>
          <p:nvPr/>
        </p:nvSpPr>
        <p:spPr>
          <a:xfrm>
            <a:off x="8321040" y="914400"/>
            <a:ext cx="1572768" cy="64008"/>
          </a:xfrm>
          <a:prstGeom prst="rect">
            <a:avLst/>
          </a:prstGeom>
          <a:solidFill>
            <a:srgbClr val="12B3A8"/>
          </a:solidFill>
          <a:ln w="12700">
            <a:solidFill>
              <a:srgbClr val="12B3A8">
                <a:alpha val="0"/>
              </a:srgbClr>
            </a:solidFill>
            <a:prstDash val="solid"/>
          </a:ln>
        </p:spPr>
      </p:sp>
      <p:sp>
        <p:nvSpPr>
          <p:cNvPr id="18" name="Text 15"/>
          <p:cNvSpPr/>
          <p:nvPr/>
        </p:nvSpPr>
        <p:spPr>
          <a:xfrm>
            <a:off x="8485632" y="1078992"/>
            <a:ext cx="1298448" cy="201168"/>
          </a:xfrm>
          <a:prstGeom prst="rect">
            <a:avLst/>
          </a:prstGeom>
          <a:noFill/>
          <a:ln/>
        </p:spPr>
        <p:txBody>
          <a:bodyPr wrap="square" lIns="0" tIns="0" rIns="0" bIns="0" rtlCol="0" anchor="ctr"/>
          <a:lstStyle/>
          <a:p>
            <a:pPr indent="0" marL="0">
              <a:buNone/>
            </a:pPr>
            <a:r>
              <a:rPr lang="en-US" sz="1150" b="1" dirty="0">
                <a:solidFill>
                  <a:srgbClr val="FFFFFF"/>
                </a:solidFill>
                <a:latin typeface="Aptos Display" pitchFamily="34" charset="0"/>
                <a:ea typeface="Aptos Display" pitchFamily="34" charset="-122"/>
                <a:cs typeface="Aptos Display" pitchFamily="34" charset="-120"/>
              </a:rPr>
              <a:t>Orchestration Matters</a:t>
            </a:r>
            <a:endParaRPr lang="en-US" sz="1150" dirty="0"/>
          </a:p>
        </p:txBody>
      </p:sp>
      <p:sp>
        <p:nvSpPr>
          <p:cNvPr id="19" name="Text 16"/>
          <p:cNvSpPr/>
          <p:nvPr/>
        </p:nvSpPr>
        <p:spPr>
          <a:xfrm>
            <a:off x="8485632" y="1353312"/>
            <a:ext cx="1298448" cy="1042416"/>
          </a:xfrm>
          <a:prstGeom prst="rect">
            <a:avLst/>
          </a:prstGeom>
          <a:noFill/>
          <a:ln/>
        </p:spPr>
        <p:txBody>
          <a:bodyPr wrap="square" lIns="254" tIns="254" rIns="254" bIns="254" rtlCol="0" anchor="t"/>
          <a:lstStyle/>
          <a:p>
            <a:pPr indent="0" marL="0">
              <a:buNone/>
            </a:pPr>
            <a:r>
              <a:rPr lang="en-US" sz="830" dirty="0">
                <a:solidFill>
                  <a:srgbClr val="D9E5F5"/>
                </a:solidFill>
                <a:latin typeface="Aptos" pitchFamily="34" charset="0"/>
                <a:ea typeface="Aptos" pitchFamily="34" charset="-122"/>
                <a:cs typeface="Aptos" pitchFamily="34" charset="-120"/>
              </a:rPr>
              <a:t>Scheduling, queue control, visibility, and recovery define operational quality.</a:t>
            </a:r>
            <a:endParaRPr lang="en-US" sz="830" dirty="0"/>
          </a:p>
        </p:txBody>
      </p:sp>
      <p:sp>
        <p:nvSpPr>
          <p:cNvPr id="20" name="Shape 17"/>
          <p:cNvSpPr/>
          <p:nvPr/>
        </p:nvSpPr>
        <p:spPr>
          <a:xfrm>
            <a:off x="10104120" y="914400"/>
            <a:ext cx="1572768" cy="1572768"/>
          </a:xfrm>
          <a:prstGeom prst="roundRect">
            <a:avLst>
              <a:gd name="adj" fmla="val 3488"/>
            </a:avLst>
          </a:prstGeom>
          <a:solidFill>
            <a:srgbClr val="0A1830"/>
          </a:solidFill>
          <a:ln w="12700">
            <a:solidFill>
              <a:srgbClr val="102749"/>
            </a:solidFill>
            <a:prstDash val="solid"/>
          </a:ln>
        </p:spPr>
      </p:sp>
      <p:sp>
        <p:nvSpPr>
          <p:cNvPr id="21" name="Shape 18"/>
          <p:cNvSpPr/>
          <p:nvPr/>
        </p:nvSpPr>
        <p:spPr>
          <a:xfrm>
            <a:off x="10104120" y="914400"/>
            <a:ext cx="1572768" cy="64008"/>
          </a:xfrm>
          <a:prstGeom prst="rect">
            <a:avLst/>
          </a:prstGeom>
          <a:solidFill>
            <a:srgbClr val="1F6FFF"/>
          </a:solidFill>
          <a:ln w="12700">
            <a:solidFill>
              <a:srgbClr val="1F6FFF">
                <a:alpha val="0"/>
              </a:srgbClr>
            </a:solidFill>
            <a:prstDash val="solid"/>
          </a:ln>
        </p:spPr>
      </p:sp>
      <p:sp>
        <p:nvSpPr>
          <p:cNvPr id="22" name="Text 19"/>
          <p:cNvSpPr/>
          <p:nvPr/>
        </p:nvSpPr>
        <p:spPr>
          <a:xfrm>
            <a:off x="10268712" y="1078992"/>
            <a:ext cx="1298448" cy="201168"/>
          </a:xfrm>
          <a:prstGeom prst="rect">
            <a:avLst/>
          </a:prstGeom>
          <a:noFill/>
          <a:ln/>
        </p:spPr>
        <p:txBody>
          <a:bodyPr wrap="square" lIns="0" tIns="0" rIns="0" bIns="0" rtlCol="0" anchor="ctr"/>
          <a:lstStyle/>
          <a:p>
            <a:pPr indent="0" marL="0">
              <a:buNone/>
            </a:pPr>
            <a:r>
              <a:rPr lang="en-US" sz="1150" b="1" dirty="0">
                <a:solidFill>
                  <a:srgbClr val="FFFFFF"/>
                </a:solidFill>
                <a:latin typeface="Aptos Display" pitchFamily="34" charset="0"/>
                <a:ea typeface="Aptos Display" pitchFamily="34" charset="-122"/>
                <a:cs typeface="Aptos Display" pitchFamily="34" charset="-120"/>
              </a:rPr>
              <a:t>Exceptions Matter</a:t>
            </a:r>
            <a:endParaRPr lang="en-US" sz="1150" dirty="0"/>
          </a:p>
        </p:txBody>
      </p:sp>
      <p:sp>
        <p:nvSpPr>
          <p:cNvPr id="23" name="Text 20"/>
          <p:cNvSpPr/>
          <p:nvPr/>
        </p:nvSpPr>
        <p:spPr>
          <a:xfrm>
            <a:off x="10268712" y="1353312"/>
            <a:ext cx="1298448" cy="1042416"/>
          </a:xfrm>
          <a:prstGeom prst="rect">
            <a:avLst/>
          </a:prstGeom>
          <a:noFill/>
          <a:ln/>
        </p:spPr>
        <p:txBody>
          <a:bodyPr wrap="square" lIns="254" tIns="254" rIns="254" bIns="254" rtlCol="0" anchor="t"/>
          <a:lstStyle/>
          <a:p>
            <a:pPr indent="0" marL="0">
              <a:buNone/>
            </a:pPr>
            <a:r>
              <a:rPr lang="en-US" sz="830" dirty="0">
                <a:solidFill>
                  <a:srgbClr val="D9E5F5"/>
                </a:solidFill>
                <a:latin typeface="Aptos" pitchFamily="34" charset="0"/>
                <a:ea typeface="Aptos" pitchFamily="34" charset="-122"/>
                <a:cs typeface="Aptos" pitchFamily="34" charset="-120"/>
              </a:rPr>
              <a:t>Business exceptions and system exceptions require different treatment paths.</a:t>
            </a:r>
            <a:endParaRPr lang="en-US" sz="830" dirty="0"/>
          </a:p>
        </p:txBody>
      </p:sp>
      <p:sp>
        <p:nvSpPr>
          <p:cNvPr id="24" name="Shape 21"/>
          <p:cNvSpPr/>
          <p:nvPr/>
        </p:nvSpPr>
        <p:spPr>
          <a:xfrm>
            <a:off x="6537960" y="2834640"/>
            <a:ext cx="1572768" cy="1572768"/>
          </a:xfrm>
          <a:prstGeom prst="roundRect">
            <a:avLst>
              <a:gd name="adj" fmla="val 3488"/>
            </a:avLst>
          </a:prstGeom>
          <a:solidFill>
            <a:srgbClr val="0A1830"/>
          </a:solidFill>
          <a:ln w="12700">
            <a:solidFill>
              <a:srgbClr val="102749"/>
            </a:solidFill>
            <a:prstDash val="solid"/>
          </a:ln>
        </p:spPr>
      </p:sp>
      <p:sp>
        <p:nvSpPr>
          <p:cNvPr id="25" name="Shape 22"/>
          <p:cNvSpPr/>
          <p:nvPr/>
        </p:nvSpPr>
        <p:spPr>
          <a:xfrm>
            <a:off x="6537960" y="2834640"/>
            <a:ext cx="1572768" cy="64008"/>
          </a:xfrm>
          <a:prstGeom prst="rect">
            <a:avLst/>
          </a:prstGeom>
          <a:solidFill>
            <a:srgbClr val="12B3A8"/>
          </a:solidFill>
          <a:ln w="12700">
            <a:solidFill>
              <a:srgbClr val="12B3A8">
                <a:alpha val="0"/>
              </a:srgbClr>
            </a:solidFill>
            <a:prstDash val="solid"/>
          </a:ln>
        </p:spPr>
      </p:sp>
      <p:sp>
        <p:nvSpPr>
          <p:cNvPr id="26" name="Text 23"/>
          <p:cNvSpPr/>
          <p:nvPr/>
        </p:nvSpPr>
        <p:spPr>
          <a:xfrm>
            <a:off x="6702552" y="2999232"/>
            <a:ext cx="1298448" cy="201168"/>
          </a:xfrm>
          <a:prstGeom prst="rect">
            <a:avLst/>
          </a:prstGeom>
          <a:noFill/>
          <a:ln/>
        </p:spPr>
        <p:txBody>
          <a:bodyPr wrap="square" lIns="0" tIns="0" rIns="0" bIns="0" rtlCol="0" anchor="ctr"/>
          <a:lstStyle/>
          <a:p>
            <a:pPr indent="0" marL="0">
              <a:buNone/>
            </a:pPr>
            <a:r>
              <a:rPr lang="en-US" sz="1150" b="1" dirty="0">
                <a:solidFill>
                  <a:srgbClr val="FFFFFF"/>
                </a:solidFill>
                <a:latin typeface="Aptos Display" pitchFamily="34" charset="0"/>
                <a:ea typeface="Aptos Display" pitchFamily="34" charset="-122"/>
                <a:cs typeface="Aptos Display" pitchFamily="34" charset="-120"/>
              </a:rPr>
              <a:t>Modularity Wins</a:t>
            </a:r>
            <a:endParaRPr lang="en-US" sz="1150" dirty="0"/>
          </a:p>
        </p:txBody>
      </p:sp>
      <p:sp>
        <p:nvSpPr>
          <p:cNvPr id="27" name="Text 24"/>
          <p:cNvSpPr/>
          <p:nvPr/>
        </p:nvSpPr>
        <p:spPr>
          <a:xfrm>
            <a:off x="6702552" y="3273552"/>
            <a:ext cx="1298448" cy="1042416"/>
          </a:xfrm>
          <a:prstGeom prst="rect">
            <a:avLst/>
          </a:prstGeom>
          <a:noFill/>
          <a:ln/>
        </p:spPr>
        <p:txBody>
          <a:bodyPr wrap="square" lIns="254" tIns="254" rIns="254" bIns="254" rtlCol="0" anchor="t"/>
          <a:lstStyle/>
          <a:p>
            <a:pPr indent="0" marL="0">
              <a:buNone/>
            </a:pPr>
            <a:r>
              <a:rPr lang="en-US" sz="830" dirty="0">
                <a:solidFill>
                  <a:srgbClr val="D9E5F5"/>
                </a:solidFill>
                <a:latin typeface="Aptos" pitchFamily="34" charset="0"/>
                <a:ea typeface="Aptos" pitchFamily="34" charset="-122"/>
                <a:cs typeface="Aptos" pitchFamily="34" charset="-120"/>
              </a:rPr>
              <a:t>Separate Dispatcher and performers improve maintainability and scale.</a:t>
            </a:r>
            <a:endParaRPr lang="en-US" sz="830" dirty="0"/>
          </a:p>
        </p:txBody>
      </p:sp>
      <p:sp>
        <p:nvSpPr>
          <p:cNvPr id="28" name="Shape 25"/>
          <p:cNvSpPr/>
          <p:nvPr/>
        </p:nvSpPr>
        <p:spPr>
          <a:xfrm>
            <a:off x="8321040" y="2834640"/>
            <a:ext cx="1572768" cy="1572768"/>
          </a:xfrm>
          <a:prstGeom prst="roundRect">
            <a:avLst>
              <a:gd name="adj" fmla="val 3488"/>
            </a:avLst>
          </a:prstGeom>
          <a:solidFill>
            <a:srgbClr val="0A1830"/>
          </a:solidFill>
          <a:ln w="12700">
            <a:solidFill>
              <a:srgbClr val="102749"/>
            </a:solidFill>
            <a:prstDash val="solid"/>
          </a:ln>
        </p:spPr>
      </p:sp>
      <p:sp>
        <p:nvSpPr>
          <p:cNvPr id="29" name="Shape 26"/>
          <p:cNvSpPr/>
          <p:nvPr/>
        </p:nvSpPr>
        <p:spPr>
          <a:xfrm>
            <a:off x="8321040" y="2834640"/>
            <a:ext cx="1572768" cy="64008"/>
          </a:xfrm>
          <a:prstGeom prst="rect">
            <a:avLst/>
          </a:prstGeom>
          <a:solidFill>
            <a:srgbClr val="1F6FFF"/>
          </a:solidFill>
          <a:ln w="12700">
            <a:solidFill>
              <a:srgbClr val="1F6FFF">
                <a:alpha val="0"/>
              </a:srgbClr>
            </a:solidFill>
            <a:prstDash val="solid"/>
          </a:ln>
        </p:spPr>
      </p:sp>
      <p:sp>
        <p:nvSpPr>
          <p:cNvPr id="30" name="Text 27"/>
          <p:cNvSpPr/>
          <p:nvPr/>
        </p:nvSpPr>
        <p:spPr>
          <a:xfrm>
            <a:off x="8485632" y="2999232"/>
            <a:ext cx="1298448" cy="201168"/>
          </a:xfrm>
          <a:prstGeom prst="rect">
            <a:avLst/>
          </a:prstGeom>
          <a:noFill/>
          <a:ln/>
        </p:spPr>
        <p:txBody>
          <a:bodyPr wrap="square" lIns="0" tIns="0" rIns="0" bIns="0" rtlCol="0" anchor="ctr"/>
          <a:lstStyle/>
          <a:p>
            <a:pPr indent="0" marL="0">
              <a:buNone/>
            </a:pPr>
            <a:r>
              <a:rPr lang="en-US" sz="1150" b="1" dirty="0">
                <a:solidFill>
                  <a:srgbClr val="FFFFFF"/>
                </a:solidFill>
                <a:latin typeface="Aptos Display" pitchFamily="34" charset="0"/>
                <a:ea typeface="Aptos Display" pitchFamily="34" charset="-122"/>
                <a:cs typeface="Aptos Display" pitchFamily="34" charset="-120"/>
              </a:rPr>
              <a:t>Process First</a:t>
            </a:r>
            <a:endParaRPr lang="en-US" sz="1150" dirty="0"/>
          </a:p>
        </p:txBody>
      </p:sp>
      <p:sp>
        <p:nvSpPr>
          <p:cNvPr id="31" name="Text 28"/>
          <p:cNvSpPr/>
          <p:nvPr/>
        </p:nvSpPr>
        <p:spPr>
          <a:xfrm>
            <a:off x="8485632" y="3273552"/>
            <a:ext cx="1298448" cy="1042416"/>
          </a:xfrm>
          <a:prstGeom prst="rect">
            <a:avLst/>
          </a:prstGeom>
          <a:noFill/>
          <a:ln/>
        </p:spPr>
        <p:txBody>
          <a:bodyPr wrap="square" lIns="254" tIns="254" rIns="254" bIns="254" rtlCol="0" anchor="t"/>
          <a:lstStyle/>
          <a:p>
            <a:pPr indent="0" marL="0">
              <a:buNone/>
            </a:pPr>
            <a:r>
              <a:rPr lang="en-US" sz="830" dirty="0">
                <a:solidFill>
                  <a:srgbClr val="D9E5F5"/>
                </a:solidFill>
                <a:latin typeface="Aptos" pitchFamily="34" charset="0"/>
                <a:ea typeface="Aptos" pitchFamily="34" charset="-122"/>
                <a:cs typeface="Aptos" pitchFamily="34" charset="-120"/>
              </a:rPr>
              <a:t>Do not automate chaos or unstable business logic.</a:t>
            </a:r>
            <a:endParaRPr lang="en-US" sz="830" dirty="0"/>
          </a:p>
        </p:txBody>
      </p:sp>
      <p:sp>
        <p:nvSpPr>
          <p:cNvPr id="32" name="Shape 29"/>
          <p:cNvSpPr/>
          <p:nvPr/>
        </p:nvSpPr>
        <p:spPr>
          <a:xfrm>
            <a:off x="10104120" y="2834640"/>
            <a:ext cx="1572768" cy="1572768"/>
          </a:xfrm>
          <a:prstGeom prst="roundRect">
            <a:avLst>
              <a:gd name="adj" fmla="val 3488"/>
            </a:avLst>
          </a:prstGeom>
          <a:solidFill>
            <a:srgbClr val="0A1830"/>
          </a:solidFill>
          <a:ln w="12700">
            <a:solidFill>
              <a:srgbClr val="102749"/>
            </a:solidFill>
            <a:prstDash val="solid"/>
          </a:ln>
        </p:spPr>
      </p:sp>
      <p:sp>
        <p:nvSpPr>
          <p:cNvPr id="33" name="Shape 30"/>
          <p:cNvSpPr/>
          <p:nvPr/>
        </p:nvSpPr>
        <p:spPr>
          <a:xfrm>
            <a:off x="10104120" y="2834640"/>
            <a:ext cx="1572768" cy="64008"/>
          </a:xfrm>
          <a:prstGeom prst="rect">
            <a:avLst/>
          </a:prstGeom>
          <a:solidFill>
            <a:srgbClr val="12B3A8"/>
          </a:solidFill>
          <a:ln w="12700">
            <a:solidFill>
              <a:srgbClr val="12B3A8">
                <a:alpha val="0"/>
              </a:srgbClr>
            </a:solidFill>
            <a:prstDash val="solid"/>
          </a:ln>
        </p:spPr>
      </p:sp>
      <p:sp>
        <p:nvSpPr>
          <p:cNvPr id="34" name="Text 31"/>
          <p:cNvSpPr/>
          <p:nvPr/>
        </p:nvSpPr>
        <p:spPr>
          <a:xfrm>
            <a:off x="10268712" y="2999232"/>
            <a:ext cx="1298448" cy="201168"/>
          </a:xfrm>
          <a:prstGeom prst="rect">
            <a:avLst/>
          </a:prstGeom>
          <a:noFill/>
          <a:ln/>
        </p:spPr>
        <p:txBody>
          <a:bodyPr wrap="square" lIns="0" tIns="0" rIns="0" bIns="0" rtlCol="0" anchor="ctr"/>
          <a:lstStyle/>
          <a:p>
            <a:pPr indent="0" marL="0">
              <a:buNone/>
            </a:pPr>
            <a:r>
              <a:rPr lang="en-US" sz="1150" b="1" dirty="0">
                <a:solidFill>
                  <a:srgbClr val="FFFFFF"/>
                </a:solidFill>
                <a:latin typeface="Aptos Display" pitchFamily="34" charset="0"/>
                <a:ea typeface="Aptos Display" pitchFamily="34" charset="-122"/>
                <a:cs typeface="Aptos Display" pitchFamily="34" charset="-120"/>
              </a:rPr>
              <a:t>BA Impact Is Real</a:t>
            </a:r>
            <a:endParaRPr lang="en-US" sz="1150" dirty="0"/>
          </a:p>
        </p:txBody>
      </p:sp>
      <p:sp>
        <p:nvSpPr>
          <p:cNvPr id="35" name="Text 32"/>
          <p:cNvSpPr/>
          <p:nvPr/>
        </p:nvSpPr>
        <p:spPr>
          <a:xfrm>
            <a:off x="10268712" y="3273552"/>
            <a:ext cx="1298448" cy="1042416"/>
          </a:xfrm>
          <a:prstGeom prst="rect">
            <a:avLst/>
          </a:prstGeom>
          <a:noFill/>
          <a:ln/>
        </p:spPr>
        <p:txBody>
          <a:bodyPr wrap="square" lIns="254" tIns="254" rIns="254" bIns="254" rtlCol="0" anchor="t"/>
          <a:lstStyle/>
          <a:p>
            <a:pPr indent="0" marL="0">
              <a:buNone/>
            </a:pPr>
            <a:r>
              <a:rPr lang="en-US" sz="830" dirty="0">
                <a:solidFill>
                  <a:srgbClr val="D9E5F5"/>
                </a:solidFill>
                <a:latin typeface="Aptos" pitchFamily="34" charset="0"/>
                <a:ea typeface="Aptos" pitchFamily="34" charset="-122"/>
                <a:cs typeface="Aptos" pitchFamily="34" charset="-120"/>
              </a:rPr>
              <a:t>Feasibility, clarity, validation, and output review all depend on strong BA engagement.</a:t>
            </a:r>
            <a:endParaRPr lang="en-US" sz="830" dirty="0"/>
          </a:p>
        </p:txBody>
      </p:sp>
      <p:sp>
        <p:nvSpPr>
          <p:cNvPr id="36" name="Shape 33"/>
          <p:cNvSpPr/>
          <p:nvPr/>
        </p:nvSpPr>
        <p:spPr>
          <a:xfrm>
            <a:off x="749808" y="5321808"/>
            <a:ext cx="10652760" cy="841248"/>
          </a:xfrm>
          <a:prstGeom prst="roundRect">
            <a:avLst>
              <a:gd name="adj" fmla="val 5435"/>
            </a:avLst>
          </a:prstGeom>
          <a:solidFill>
            <a:srgbClr val="102749">
              <a:alpha val="80000"/>
            </a:srgbClr>
          </a:solidFill>
          <a:ln w="12700">
            <a:solidFill>
              <a:srgbClr val="12B3A8">
                <a:alpha val="35000"/>
              </a:srgbClr>
            </a:solidFill>
            <a:prstDash val="solid"/>
          </a:ln>
        </p:spPr>
      </p:sp>
      <p:sp>
        <p:nvSpPr>
          <p:cNvPr id="37" name="Text 34"/>
          <p:cNvSpPr/>
          <p:nvPr/>
        </p:nvSpPr>
        <p:spPr>
          <a:xfrm>
            <a:off x="932688" y="5577840"/>
            <a:ext cx="102870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Ask this in every automation assessment: Is the process clear, stable, measurable, and supportable?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Innobot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2: How RPA Works</dc:title>
  <dc:subject>Day 2 RPA workshop</dc:subject>
  <dc:creator>OpenAI Codex</dc:creator>
  <cp:lastModifiedBy>OpenAI Codex</cp:lastModifiedBy>
  <cp:revision>1</cp:revision>
  <dcterms:created xsi:type="dcterms:W3CDTF">2026-03-26T09:38:48Z</dcterms:created>
  <dcterms:modified xsi:type="dcterms:W3CDTF">2026-03-26T09:38:48Z</dcterms:modified>
</cp:coreProperties>
</file>