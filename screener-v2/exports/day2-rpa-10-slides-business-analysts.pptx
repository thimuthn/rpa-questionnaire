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reframing RPA away from the demo stereotype. The audience should leave this slide understanding that real automation has controls, runtime discipline, and measurable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this as a practical BA framework. If the trigger, input, rules, or output model is unclear, build quality and supportability will both suffer.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orchestration as the layer that makes a solution operational. The value is control, visibility, sequencing, and recoverability.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transaction-based processing to supportability and reporting. BAs should understand the unit of work because it shapes monitoring, retry logic, and business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central. The audience should clearly understand that business exceptions are valid outcomes to route, while system exceptions are technical failures to recover or escalate.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recovery matters as much as retry count. Without classification and reset logic, retries simply repeat the same failure.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show how maintainability comes from separation of concerns. It also gives the BA a better mental model for where controls and outputs belong.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audience comfortable with a mixed automation model. RPA should not be framed as screen-only when cleaner interfaces are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BA-friendly. The goal is not technical mastery but enough understanding to recognize when API availability changes the delivery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strong message about the BA role. The audience should feel that their contribution is central to automation quality, not peripheral.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1"/>
          </a:solidFill>
          <a:ln w="12700">
            <a:solidFill>
              <a:srgbClr val="07132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274320" y="-731520"/>
            <a:ext cx="4023360" cy="3108960"/>
          </a:xfrm>
          <a:prstGeom prst="ellipse">
            <a:avLst/>
          </a:prstGeom>
          <a:solidFill>
            <a:srgbClr val="1E73FF">
              <a:alpha val="20000"/>
            </a:srgbClr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778240" y="-365760"/>
            <a:ext cx="3474720" cy="2743200"/>
          </a:xfrm>
          <a:prstGeom prst="ellipse">
            <a:avLst/>
          </a:prstGeom>
          <a:solidFill>
            <a:srgbClr val="11B5A4">
              <a:alpha val="16000"/>
            </a:srgbClr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891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B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2 - HOW RPA WORKS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0467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RPA Actually Works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4475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production bot is a controlled runtime flow, not just UI clicking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11045952" y="5120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B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993392"/>
            <a:ext cx="5413248" cy="804672"/>
          </a:xfrm>
          <a:prstGeom prst="roundRect">
            <a:avLst>
              <a:gd name="adj" fmla="val 5682"/>
            </a:avLst>
          </a:prstGeom>
          <a:solidFill>
            <a:srgbClr val="153357">
              <a:alpha val="92000"/>
            </a:srgbClr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210312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B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line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04672" y="2267712"/>
            <a:ext cx="5138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bot is a controlled runtime workflow, not a macro with branding.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58368" y="3035808"/>
            <a:ext cx="5413248" cy="2468880"/>
          </a:xfrm>
          <a:prstGeom prst="roundRect">
            <a:avLst>
              <a:gd name="adj" fmla="val 1852"/>
            </a:avLst>
          </a:prstGeom>
          <a:solidFill>
            <a:srgbClr val="153357">
              <a:alpha val="92000"/>
            </a:srgbClr>
          </a:solidFill>
          <a:ln w="12700">
            <a:solidFill>
              <a:srgbClr val="8BBCFF">
                <a:alpha val="28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96112" y="3401568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33284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handling</a:t>
            </a:r>
            <a:endParaRPr lang="en-US" sz="1010" dirty="0"/>
          </a:p>
        </p:txBody>
      </p:sp>
      <p:sp>
        <p:nvSpPr>
          <p:cNvPr id="16" name="Shape 13"/>
          <p:cNvSpPr/>
          <p:nvPr/>
        </p:nvSpPr>
        <p:spPr>
          <a:xfrm>
            <a:off x="896112" y="3657600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0704" y="358444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orchestration</a:t>
            </a:r>
            <a:endParaRPr lang="en-US" sz="1010" dirty="0"/>
          </a:p>
        </p:txBody>
      </p:sp>
      <p:sp>
        <p:nvSpPr>
          <p:cNvPr id="18" name="Shape 15"/>
          <p:cNvSpPr/>
          <p:nvPr/>
        </p:nvSpPr>
        <p:spPr>
          <a:xfrm>
            <a:off x="896112" y="391363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38404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acquisition</a:t>
            </a:r>
            <a:endParaRPr lang="en-US" sz="1010" dirty="0"/>
          </a:p>
        </p:txBody>
      </p:sp>
      <p:sp>
        <p:nvSpPr>
          <p:cNvPr id="20" name="Shape 17"/>
          <p:cNvSpPr/>
          <p:nvPr/>
        </p:nvSpPr>
        <p:spPr>
          <a:xfrm>
            <a:off x="896112" y="4169664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60704" y="40965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interaction</a:t>
            </a:r>
            <a:endParaRPr lang="en-US" sz="1010" dirty="0"/>
          </a:p>
        </p:txBody>
      </p:sp>
      <p:sp>
        <p:nvSpPr>
          <p:cNvPr id="22" name="Shape 19"/>
          <p:cNvSpPr/>
          <p:nvPr/>
        </p:nvSpPr>
        <p:spPr>
          <a:xfrm>
            <a:off x="896112" y="4425696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60704" y="435254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 evaluation</a:t>
            </a:r>
            <a:endParaRPr lang="en-US" sz="1010" dirty="0"/>
          </a:p>
        </p:txBody>
      </p:sp>
      <p:sp>
        <p:nvSpPr>
          <p:cNvPr id="24" name="Shape 21"/>
          <p:cNvSpPr/>
          <p:nvPr/>
        </p:nvSpPr>
        <p:spPr>
          <a:xfrm>
            <a:off x="896112" y="4681728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60704" y="46085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handling</a:t>
            </a:r>
            <a:endParaRPr lang="en-US" sz="1010" dirty="0"/>
          </a:p>
        </p:txBody>
      </p:sp>
      <p:sp>
        <p:nvSpPr>
          <p:cNvPr id="26" name="Shape 23"/>
          <p:cNvSpPr/>
          <p:nvPr/>
        </p:nvSpPr>
        <p:spPr>
          <a:xfrm>
            <a:off x="896112" y="4937760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60704" y="48646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persistence</a:t>
            </a:r>
            <a:endParaRPr lang="en-US" sz="1010" dirty="0"/>
          </a:p>
        </p:txBody>
      </p:sp>
      <p:sp>
        <p:nvSpPr>
          <p:cNvPr id="28" name="Shape 25"/>
          <p:cNvSpPr/>
          <p:nvPr/>
        </p:nvSpPr>
        <p:spPr>
          <a:xfrm>
            <a:off x="896112" y="519379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60704" y="512064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and audit evidence</a:t>
            </a:r>
            <a:endParaRPr lang="en-US" sz="1010" dirty="0"/>
          </a:p>
        </p:txBody>
      </p:sp>
      <p:sp>
        <p:nvSpPr>
          <p:cNvPr id="30" name="Shape 27"/>
          <p:cNvSpPr/>
          <p:nvPr/>
        </p:nvSpPr>
        <p:spPr>
          <a:xfrm>
            <a:off x="6492240" y="1005840"/>
            <a:ext cx="2103120" cy="4389120"/>
          </a:xfrm>
          <a:prstGeom prst="roundRect">
            <a:avLst>
              <a:gd name="adj" fmla="val 2174"/>
            </a:avLst>
          </a:prstGeom>
          <a:solidFill>
            <a:srgbClr val="153357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492240" y="1005840"/>
            <a:ext cx="2103120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638544" y="115214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Runtime control stack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638544" y="153619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803136" y="146304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910" dirty="0"/>
          </a:p>
        </p:txBody>
      </p:sp>
      <p:sp>
        <p:nvSpPr>
          <p:cNvPr id="35" name="Shape 32"/>
          <p:cNvSpPr/>
          <p:nvPr/>
        </p:nvSpPr>
        <p:spPr>
          <a:xfrm>
            <a:off x="6638544" y="181965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803136" y="174650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</a:t>
            </a:r>
            <a:endParaRPr lang="en-US" sz="910" dirty="0"/>
          </a:p>
        </p:txBody>
      </p:sp>
      <p:sp>
        <p:nvSpPr>
          <p:cNvPr id="37" name="Shape 34"/>
          <p:cNvSpPr/>
          <p:nvPr/>
        </p:nvSpPr>
        <p:spPr>
          <a:xfrm>
            <a:off x="6638544" y="2103120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803136" y="2029968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Transactions</a:t>
            </a:r>
            <a:endParaRPr lang="en-US" sz="910" dirty="0"/>
          </a:p>
        </p:txBody>
      </p:sp>
      <p:sp>
        <p:nvSpPr>
          <p:cNvPr id="39" name="Shape 36"/>
          <p:cNvSpPr/>
          <p:nvPr/>
        </p:nvSpPr>
        <p:spPr>
          <a:xfrm>
            <a:off x="6638544" y="2386584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803136" y="2313432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</a:t>
            </a:r>
            <a:endParaRPr lang="en-US" sz="910" dirty="0"/>
          </a:p>
        </p:txBody>
      </p:sp>
      <p:sp>
        <p:nvSpPr>
          <p:cNvPr id="41" name="Shape 38"/>
          <p:cNvSpPr/>
          <p:nvPr/>
        </p:nvSpPr>
        <p:spPr>
          <a:xfrm>
            <a:off x="6638544" y="2670048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803136" y="2596896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</a:t>
            </a:r>
            <a:endParaRPr lang="en-US" sz="910" dirty="0"/>
          </a:p>
        </p:txBody>
      </p:sp>
      <p:sp>
        <p:nvSpPr>
          <p:cNvPr id="43" name="Shape 40"/>
          <p:cNvSpPr/>
          <p:nvPr/>
        </p:nvSpPr>
        <p:spPr>
          <a:xfrm>
            <a:off x="6638544" y="295351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803136" y="2880360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Persistence</a:t>
            </a:r>
            <a:endParaRPr lang="en-US" sz="910" dirty="0"/>
          </a:p>
        </p:txBody>
      </p:sp>
      <p:sp>
        <p:nvSpPr>
          <p:cNvPr id="45" name="Shape 42"/>
          <p:cNvSpPr/>
          <p:nvPr/>
        </p:nvSpPr>
        <p:spPr>
          <a:xfrm>
            <a:off x="6638544" y="323697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803136" y="3163824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</a:t>
            </a:r>
            <a:endParaRPr lang="en-US" sz="910" dirty="0"/>
          </a:p>
        </p:txBody>
      </p:sp>
      <p:sp>
        <p:nvSpPr>
          <p:cNvPr id="47" name="Shape 44"/>
          <p:cNvSpPr/>
          <p:nvPr/>
        </p:nvSpPr>
        <p:spPr>
          <a:xfrm>
            <a:off x="8915400" y="1737360"/>
            <a:ext cx="2560320" cy="2926080"/>
          </a:xfrm>
          <a:prstGeom prst="roundRect">
            <a:avLst>
              <a:gd name="adj" fmla="val 1786"/>
            </a:avLst>
          </a:prstGeom>
          <a:solidFill>
            <a:srgbClr val="153357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915400" y="1737360"/>
            <a:ext cx="2560320" cy="64008"/>
          </a:xfrm>
          <a:prstGeom prst="rect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061704" y="188366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analyst lens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9061704" y="226771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226296" y="219456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starts it?</a:t>
            </a:r>
            <a:endParaRPr lang="en-US" sz="910" dirty="0"/>
          </a:p>
        </p:txBody>
      </p:sp>
      <p:sp>
        <p:nvSpPr>
          <p:cNvPr id="52" name="Shape 49"/>
          <p:cNvSpPr/>
          <p:nvPr/>
        </p:nvSpPr>
        <p:spPr>
          <a:xfrm>
            <a:off x="9061704" y="2551176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226296" y="247802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unit of work?</a:t>
            </a:r>
            <a:endParaRPr lang="en-US" sz="910" dirty="0"/>
          </a:p>
        </p:txBody>
      </p:sp>
      <p:sp>
        <p:nvSpPr>
          <p:cNvPr id="54" name="Shape 51"/>
          <p:cNvSpPr/>
          <p:nvPr/>
        </p:nvSpPr>
        <p:spPr>
          <a:xfrm>
            <a:off x="9061704" y="2834640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226296" y="276148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counts as success?</a:t>
            </a:r>
            <a:endParaRPr lang="en-US" sz="910" dirty="0"/>
          </a:p>
        </p:txBody>
      </p:sp>
      <p:sp>
        <p:nvSpPr>
          <p:cNvPr id="56" name="Shape 53"/>
          <p:cNvSpPr/>
          <p:nvPr/>
        </p:nvSpPr>
        <p:spPr>
          <a:xfrm>
            <a:off x="9061704" y="3118104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9226296" y="304495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gets reviewed?</a:t>
            </a:r>
            <a:endParaRPr lang="en-US" sz="9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-228600"/>
            <a:ext cx="2926080" cy="2011680"/>
          </a:xfrm>
          <a:prstGeom prst="ellipse">
            <a:avLst/>
          </a:prstGeom>
          <a:solidFill>
            <a:srgbClr val="8BBCFF">
              <a:alpha val="14000"/>
            </a:srgbClr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548640" y="5303520"/>
            <a:ext cx="2286000" cy="1645920"/>
          </a:xfrm>
          <a:prstGeom prst="ellipse">
            <a:avLst/>
          </a:prstGeom>
          <a:solidFill>
            <a:srgbClr val="11B5A4">
              <a:alpha val="8000"/>
            </a:srgbClr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223F"/>
          </a:solidFill>
          <a:ln w="12700">
            <a:solidFill>
              <a:srgbClr val="0D223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828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B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MODEL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6217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Core Automation Control Model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10607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serious automation can be understood through four control points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11045952" y="530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302752" y="694944"/>
            <a:ext cx="315468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6A01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9056" y="8046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A0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line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449056" y="969264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any of these are vague, the process is not automation-ready.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749808" y="1783080"/>
            <a:ext cx="3401568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1783080"/>
            <a:ext cx="3401568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192938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Trigger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6112" y="231343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224028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896112" y="259689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2523744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 availability</a:t>
            </a:r>
            <a:endParaRPr lang="en-US" sz="910" dirty="0"/>
          </a:p>
        </p:txBody>
      </p:sp>
      <p:sp>
        <p:nvSpPr>
          <p:cNvPr id="21" name="Shape 18"/>
          <p:cNvSpPr/>
          <p:nvPr/>
        </p:nvSpPr>
        <p:spPr>
          <a:xfrm>
            <a:off x="896112" y="2880360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280720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Inbound file</a:t>
            </a:r>
            <a:endParaRPr lang="en-US" sz="910" dirty="0"/>
          </a:p>
        </p:txBody>
      </p:sp>
      <p:sp>
        <p:nvSpPr>
          <p:cNvPr id="23" name="Shape 20"/>
          <p:cNvSpPr/>
          <p:nvPr/>
        </p:nvSpPr>
        <p:spPr>
          <a:xfrm>
            <a:off x="896112" y="3163824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09067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action</a:t>
            </a:r>
            <a:endParaRPr lang="en-US" sz="910" dirty="0"/>
          </a:p>
        </p:txBody>
      </p:sp>
      <p:sp>
        <p:nvSpPr>
          <p:cNvPr id="25" name="Shape 22"/>
          <p:cNvSpPr/>
          <p:nvPr/>
        </p:nvSpPr>
        <p:spPr>
          <a:xfrm>
            <a:off x="896112" y="3447288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337413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/ webhook event</a:t>
            </a:r>
            <a:endParaRPr lang="en-US" sz="910" dirty="0"/>
          </a:p>
        </p:txBody>
      </p:sp>
      <p:sp>
        <p:nvSpPr>
          <p:cNvPr id="27" name="Shape 24"/>
          <p:cNvSpPr/>
          <p:nvPr/>
        </p:nvSpPr>
        <p:spPr>
          <a:xfrm>
            <a:off x="4590288" y="1783080"/>
            <a:ext cx="3401568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90288" y="1783080"/>
            <a:ext cx="3401568" cy="64008"/>
          </a:xfrm>
          <a:prstGeom prst="rect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36592" y="192938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736592" y="231343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901184" y="224028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records</a:t>
            </a:r>
            <a:endParaRPr lang="en-US" sz="910" dirty="0"/>
          </a:p>
        </p:txBody>
      </p:sp>
      <p:sp>
        <p:nvSpPr>
          <p:cNvPr id="32" name="Shape 29"/>
          <p:cNvSpPr/>
          <p:nvPr/>
        </p:nvSpPr>
        <p:spPr>
          <a:xfrm>
            <a:off x="4736592" y="2596896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01184" y="2523744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 or report extracts</a:t>
            </a:r>
            <a:endParaRPr lang="en-US" sz="910" dirty="0"/>
          </a:p>
        </p:txBody>
      </p:sp>
      <p:sp>
        <p:nvSpPr>
          <p:cNvPr id="34" name="Shape 31"/>
          <p:cNvSpPr/>
          <p:nvPr/>
        </p:nvSpPr>
        <p:spPr>
          <a:xfrm>
            <a:off x="4736592" y="2880360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01184" y="280720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state</a:t>
            </a:r>
            <a:endParaRPr lang="en-US" sz="910" dirty="0"/>
          </a:p>
        </p:txBody>
      </p:sp>
      <p:sp>
        <p:nvSpPr>
          <p:cNvPr id="36" name="Shape 33"/>
          <p:cNvSpPr/>
          <p:nvPr/>
        </p:nvSpPr>
        <p:spPr>
          <a:xfrm>
            <a:off x="4736592" y="3163824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01184" y="309067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rows</a:t>
            </a:r>
            <a:endParaRPr lang="en-US" sz="910" dirty="0"/>
          </a:p>
        </p:txBody>
      </p:sp>
      <p:sp>
        <p:nvSpPr>
          <p:cNvPr id="38" name="Shape 35"/>
          <p:cNvSpPr/>
          <p:nvPr/>
        </p:nvSpPr>
        <p:spPr>
          <a:xfrm>
            <a:off x="4736592" y="3447288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01184" y="337413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payloads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749808" y="3703320"/>
            <a:ext cx="3401568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49808" y="3703320"/>
            <a:ext cx="3401568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96112" y="384962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Rules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896112" y="423367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60704" y="416052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Validations</a:t>
            </a:r>
            <a:endParaRPr lang="en-US" sz="910" dirty="0"/>
          </a:p>
        </p:txBody>
      </p:sp>
      <p:sp>
        <p:nvSpPr>
          <p:cNvPr id="45" name="Shape 42"/>
          <p:cNvSpPr/>
          <p:nvPr/>
        </p:nvSpPr>
        <p:spPr>
          <a:xfrm>
            <a:off x="896112" y="451713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60704" y="4443984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 logic</a:t>
            </a:r>
            <a:endParaRPr lang="en-US" sz="910" dirty="0"/>
          </a:p>
        </p:txBody>
      </p:sp>
      <p:sp>
        <p:nvSpPr>
          <p:cNvPr id="47" name="Shape 44"/>
          <p:cNvSpPr/>
          <p:nvPr/>
        </p:nvSpPr>
        <p:spPr>
          <a:xfrm>
            <a:off x="896112" y="4800600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60704" y="472744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Transformations</a:t>
            </a:r>
            <a:endParaRPr lang="en-US" sz="910" dirty="0"/>
          </a:p>
        </p:txBody>
      </p:sp>
      <p:sp>
        <p:nvSpPr>
          <p:cNvPr id="49" name="Shape 46"/>
          <p:cNvSpPr/>
          <p:nvPr/>
        </p:nvSpPr>
        <p:spPr>
          <a:xfrm>
            <a:off x="896112" y="5084064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60704" y="50109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logic</a:t>
            </a:r>
            <a:endParaRPr lang="en-US" sz="910" dirty="0"/>
          </a:p>
        </p:txBody>
      </p:sp>
      <p:sp>
        <p:nvSpPr>
          <p:cNvPr id="51" name="Shape 48"/>
          <p:cNvSpPr/>
          <p:nvPr/>
        </p:nvSpPr>
        <p:spPr>
          <a:xfrm>
            <a:off x="896112" y="5367528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60704" y="529437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thresholds</a:t>
            </a:r>
            <a:endParaRPr lang="en-US" sz="910" dirty="0"/>
          </a:p>
        </p:txBody>
      </p:sp>
      <p:sp>
        <p:nvSpPr>
          <p:cNvPr id="53" name="Shape 50"/>
          <p:cNvSpPr/>
          <p:nvPr/>
        </p:nvSpPr>
        <p:spPr>
          <a:xfrm>
            <a:off x="4590288" y="3703320"/>
            <a:ext cx="3401568" cy="1627632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4590288" y="3703320"/>
            <a:ext cx="3401568" cy="64008"/>
          </a:xfrm>
          <a:prstGeom prst="rect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4736592" y="3849624"/>
            <a:ext cx="3127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1150" dirty="0"/>
          </a:p>
        </p:txBody>
      </p:sp>
      <p:sp>
        <p:nvSpPr>
          <p:cNvPr id="56" name="Shape 53"/>
          <p:cNvSpPr/>
          <p:nvPr/>
        </p:nvSpPr>
        <p:spPr>
          <a:xfrm>
            <a:off x="4736592" y="423367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901184" y="4160520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Updated records</a:t>
            </a:r>
            <a:endParaRPr lang="en-US" sz="910" dirty="0"/>
          </a:p>
        </p:txBody>
      </p:sp>
      <p:sp>
        <p:nvSpPr>
          <p:cNvPr id="58" name="Shape 55"/>
          <p:cNvSpPr/>
          <p:nvPr/>
        </p:nvSpPr>
        <p:spPr>
          <a:xfrm>
            <a:off x="4736592" y="4517136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901184" y="4443984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Notes and statuses</a:t>
            </a:r>
            <a:endParaRPr lang="en-US" sz="910" dirty="0"/>
          </a:p>
        </p:txBody>
      </p:sp>
      <p:sp>
        <p:nvSpPr>
          <p:cNvPr id="60" name="Shape 57"/>
          <p:cNvSpPr/>
          <p:nvPr/>
        </p:nvSpPr>
        <p:spPr>
          <a:xfrm>
            <a:off x="4736592" y="4800600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4901184" y="472744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910" dirty="0"/>
          </a:p>
        </p:txBody>
      </p:sp>
      <p:sp>
        <p:nvSpPr>
          <p:cNvPr id="62" name="Shape 59"/>
          <p:cNvSpPr/>
          <p:nvPr/>
        </p:nvSpPr>
        <p:spPr>
          <a:xfrm>
            <a:off x="4736592" y="5084064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901184" y="501091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state changes</a:t>
            </a:r>
            <a:endParaRPr lang="en-US" sz="910" dirty="0"/>
          </a:p>
        </p:txBody>
      </p:sp>
      <p:sp>
        <p:nvSpPr>
          <p:cNvPr id="64" name="Shape 61"/>
          <p:cNvSpPr/>
          <p:nvPr/>
        </p:nvSpPr>
        <p:spPr>
          <a:xfrm>
            <a:off x="4736592" y="5367528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901184" y="529437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logs</a:t>
            </a:r>
            <a:endParaRPr lang="en-US" sz="9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-228600"/>
            <a:ext cx="2926080" cy="2011680"/>
          </a:xfrm>
          <a:prstGeom prst="ellipse">
            <a:avLst/>
          </a:prstGeom>
          <a:solidFill>
            <a:srgbClr val="8BBCFF">
              <a:alpha val="14000"/>
            </a:srgbClr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548640" y="5303520"/>
            <a:ext cx="2286000" cy="1645920"/>
          </a:xfrm>
          <a:prstGeom prst="ellipse">
            <a:avLst/>
          </a:prstGeom>
          <a:solidFill>
            <a:srgbClr val="11B5A4">
              <a:alpha val="8000"/>
            </a:srgbClr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223F"/>
          </a:solidFill>
          <a:ln w="12700">
            <a:solidFill>
              <a:srgbClr val="0D223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828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B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6217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Orchestration Is the Control Layer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10607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Scheduling is only one part of orchestration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11045952" y="530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193024" y="694944"/>
            <a:ext cx="327355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39328" y="8046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B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line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339328" y="96926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Orchestration turns isolated automation steps into a reliable operating flow.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4572000" y="2331720"/>
            <a:ext cx="288036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0" y="2331720"/>
            <a:ext cx="2880360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18304" y="247802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Orchestration hub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4718304" y="286207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82896" y="2788920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4718304" y="314553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82896" y="3072384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910" dirty="0"/>
          </a:p>
        </p:txBody>
      </p:sp>
      <p:sp>
        <p:nvSpPr>
          <p:cNvPr id="21" name="Shape 18"/>
          <p:cNvSpPr/>
          <p:nvPr/>
        </p:nvSpPr>
        <p:spPr>
          <a:xfrm>
            <a:off x="4718304" y="3429000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82896" y="3355848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Coordination</a:t>
            </a:r>
            <a:endParaRPr lang="en-US" sz="910" dirty="0"/>
          </a:p>
        </p:txBody>
      </p:sp>
      <p:sp>
        <p:nvSpPr>
          <p:cNvPr id="23" name="Shape 20"/>
          <p:cNvSpPr/>
          <p:nvPr/>
        </p:nvSpPr>
        <p:spPr>
          <a:xfrm>
            <a:off x="4718304" y="3712464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82896" y="3639312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</a:t>
            </a:r>
            <a:endParaRPr lang="en-US" sz="910" dirty="0"/>
          </a:p>
        </p:txBody>
      </p:sp>
      <p:sp>
        <p:nvSpPr>
          <p:cNvPr id="25" name="Shape 22"/>
          <p:cNvSpPr/>
          <p:nvPr/>
        </p:nvSpPr>
        <p:spPr>
          <a:xfrm>
            <a:off x="822960" y="1810512"/>
            <a:ext cx="28803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22960" y="1810512"/>
            <a:ext cx="2880360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9264" y="195681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domain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69264" y="2340864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33856" y="2267712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Sequences workflow steps</a:t>
            </a:r>
            <a:endParaRPr lang="en-US" sz="910" dirty="0"/>
          </a:p>
        </p:txBody>
      </p:sp>
      <p:sp>
        <p:nvSpPr>
          <p:cNvPr id="30" name="Shape 27"/>
          <p:cNvSpPr/>
          <p:nvPr/>
        </p:nvSpPr>
        <p:spPr>
          <a:xfrm>
            <a:off x="969264" y="2624328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33856" y="2551176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 state transitions</a:t>
            </a:r>
            <a:endParaRPr lang="en-US" sz="910" dirty="0"/>
          </a:p>
        </p:txBody>
      </p:sp>
      <p:sp>
        <p:nvSpPr>
          <p:cNvPr id="32" name="Shape 29"/>
          <p:cNvSpPr/>
          <p:nvPr/>
        </p:nvSpPr>
        <p:spPr>
          <a:xfrm>
            <a:off x="8412480" y="1810512"/>
            <a:ext cx="28803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412480" y="1810512"/>
            <a:ext cx="2880360" cy="64008"/>
          </a:xfrm>
          <a:prstGeom prst="rect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58784" y="1956816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 domain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8558784" y="2340864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723376" y="2267712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Coordinates components</a:t>
            </a:r>
            <a:endParaRPr lang="en-US" sz="910" dirty="0"/>
          </a:p>
        </p:txBody>
      </p:sp>
      <p:sp>
        <p:nvSpPr>
          <p:cNvPr id="37" name="Shape 34"/>
          <p:cNvSpPr/>
          <p:nvPr/>
        </p:nvSpPr>
        <p:spPr>
          <a:xfrm>
            <a:off x="8558784" y="2624328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723376" y="2551176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Acquires and releases work</a:t>
            </a:r>
            <a:endParaRPr lang="en-US" sz="910" dirty="0"/>
          </a:p>
        </p:txBody>
      </p:sp>
      <p:sp>
        <p:nvSpPr>
          <p:cNvPr id="39" name="Shape 36"/>
          <p:cNvSpPr/>
          <p:nvPr/>
        </p:nvSpPr>
        <p:spPr>
          <a:xfrm>
            <a:off x="822960" y="3794760"/>
            <a:ext cx="28803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22960" y="3794760"/>
            <a:ext cx="2880360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69264" y="394106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 domain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969264" y="432511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33856" y="4251960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success and failure paths</a:t>
            </a:r>
            <a:endParaRPr lang="en-US" sz="910" dirty="0"/>
          </a:p>
        </p:txBody>
      </p:sp>
      <p:sp>
        <p:nvSpPr>
          <p:cNvPr id="44" name="Shape 41"/>
          <p:cNvSpPr/>
          <p:nvPr/>
        </p:nvSpPr>
        <p:spPr>
          <a:xfrm>
            <a:off x="969264" y="460857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33856" y="4535424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Applies retry logic</a:t>
            </a:r>
            <a:endParaRPr lang="en-US" sz="910" dirty="0"/>
          </a:p>
        </p:txBody>
      </p:sp>
      <p:sp>
        <p:nvSpPr>
          <p:cNvPr id="46" name="Shape 43"/>
          <p:cNvSpPr/>
          <p:nvPr/>
        </p:nvSpPr>
        <p:spPr>
          <a:xfrm>
            <a:off x="8412480" y="3794760"/>
            <a:ext cx="28803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412480" y="3794760"/>
            <a:ext cx="2880360" cy="64008"/>
          </a:xfrm>
          <a:prstGeom prst="rect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558784" y="3941064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 domain</a:t>
            </a:r>
            <a:endParaRPr lang="en-US" sz="1150" dirty="0"/>
          </a:p>
        </p:txBody>
      </p:sp>
      <p:sp>
        <p:nvSpPr>
          <p:cNvPr id="49" name="Shape 46"/>
          <p:cNvSpPr/>
          <p:nvPr/>
        </p:nvSpPr>
        <p:spPr>
          <a:xfrm>
            <a:off x="8558784" y="432511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723376" y="4251960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Guarantees cleanup</a:t>
            </a:r>
            <a:endParaRPr lang="en-US" sz="910" dirty="0"/>
          </a:p>
        </p:txBody>
      </p:sp>
      <p:sp>
        <p:nvSpPr>
          <p:cNvPr id="51" name="Shape 48"/>
          <p:cNvSpPr/>
          <p:nvPr/>
        </p:nvSpPr>
        <p:spPr>
          <a:xfrm>
            <a:off x="8558784" y="4608576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723376" y="4535424"/>
            <a:ext cx="2478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observability and governance</a:t>
            </a:r>
            <a:endParaRPr lang="en-US" sz="9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-228600"/>
            <a:ext cx="2926080" cy="2011680"/>
          </a:xfrm>
          <a:prstGeom prst="ellipse">
            <a:avLst/>
          </a:prstGeom>
          <a:solidFill>
            <a:srgbClr val="8BBCFF">
              <a:alpha val="14000"/>
            </a:srgbClr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548640" y="5303520"/>
            <a:ext cx="2286000" cy="1645920"/>
          </a:xfrm>
          <a:prstGeom prst="ellipse">
            <a:avLst/>
          </a:prstGeom>
          <a:solidFill>
            <a:srgbClr val="11B5A4">
              <a:alpha val="8000"/>
            </a:srgbClr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223F"/>
          </a:solidFill>
          <a:ln w="12700">
            <a:solidFill>
              <a:srgbClr val="0D223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828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B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DESIGN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6217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Transaction-Based Processing Matters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10607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Mature RPA handles work item by item, not as one undifferentiated batch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11045952" y="530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138160" y="694944"/>
            <a:ext cx="333756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4464" y="8046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B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line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284464" y="969264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Transactionization makes automation scalable, measurable, and recoverable.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749808" y="1783080"/>
            <a:ext cx="4983480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1783080"/>
            <a:ext cx="4983480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1929384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transaction item should have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6112" y="231343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2240280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identifier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896112" y="259689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2523744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context</a:t>
            </a:r>
            <a:endParaRPr lang="en-US" sz="910" dirty="0"/>
          </a:p>
        </p:txBody>
      </p:sp>
      <p:sp>
        <p:nvSpPr>
          <p:cNvPr id="21" name="Shape 18"/>
          <p:cNvSpPr/>
          <p:nvPr/>
        </p:nvSpPr>
        <p:spPr>
          <a:xfrm>
            <a:off x="896112" y="2880360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2807208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910" dirty="0"/>
          </a:p>
        </p:txBody>
      </p:sp>
      <p:sp>
        <p:nvSpPr>
          <p:cNvPr id="23" name="Shape 20"/>
          <p:cNvSpPr/>
          <p:nvPr/>
        </p:nvSpPr>
        <p:spPr>
          <a:xfrm>
            <a:off x="896112" y="3163824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090672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count</a:t>
            </a:r>
            <a:endParaRPr lang="en-US" sz="910" dirty="0"/>
          </a:p>
        </p:txBody>
      </p:sp>
      <p:sp>
        <p:nvSpPr>
          <p:cNvPr id="25" name="Shape 22"/>
          <p:cNvSpPr/>
          <p:nvPr/>
        </p:nvSpPr>
        <p:spPr>
          <a:xfrm>
            <a:off x="896112" y="3447288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3374136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Timestamps</a:t>
            </a:r>
            <a:endParaRPr lang="en-US" sz="910" dirty="0"/>
          </a:p>
        </p:txBody>
      </p:sp>
      <p:sp>
        <p:nvSpPr>
          <p:cNvPr id="27" name="Shape 24"/>
          <p:cNvSpPr/>
          <p:nvPr/>
        </p:nvSpPr>
        <p:spPr>
          <a:xfrm>
            <a:off x="896112" y="373075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0704" y="3657600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fields</a:t>
            </a:r>
            <a:endParaRPr lang="en-US" sz="910" dirty="0"/>
          </a:p>
        </p:txBody>
      </p:sp>
      <p:sp>
        <p:nvSpPr>
          <p:cNvPr id="29" name="Shape 26"/>
          <p:cNvSpPr/>
          <p:nvPr/>
        </p:nvSpPr>
        <p:spPr>
          <a:xfrm>
            <a:off x="896112" y="401421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0704" y="3941064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state</a:t>
            </a:r>
            <a:endParaRPr lang="en-US" sz="910" dirty="0"/>
          </a:p>
        </p:txBody>
      </p:sp>
      <p:sp>
        <p:nvSpPr>
          <p:cNvPr id="31" name="Shape 28"/>
          <p:cNvSpPr/>
          <p:nvPr/>
        </p:nvSpPr>
        <p:spPr>
          <a:xfrm>
            <a:off x="6355080" y="1783080"/>
            <a:ext cx="507492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55080" y="1783080"/>
            <a:ext cx="5074920" cy="64008"/>
          </a:xfrm>
          <a:prstGeom prst="rect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01384" y="192938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501384" y="231343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65976" y="2240280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becomes item-level, not file-level</a:t>
            </a:r>
            <a:endParaRPr lang="en-US" sz="910" dirty="0"/>
          </a:p>
        </p:txBody>
      </p:sp>
      <p:sp>
        <p:nvSpPr>
          <p:cNvPr id="36" name="Shape 33"/>
          <p:cNvSpPr/>
          <p:nvPr/>
        </p:nvSpPr>
        <p:spPr>
          <a:xfrm>
            <a:off x="6501384" y="2596896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65976" y="2523744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is granular</a:t>
            </a:r>
            <a:endParaRPr lang="en-US" sz="910" dirty="0"/>
          </a:p>
        </p:txBody>
      </p:sp>
      <p:sp>
        <p:nvSpPr>
          <p:cNvPr id="38" name="Shape 35"/>
          <p:cNvSpPr/>
          <p:nvPr/>
        </p:nvSpPr>
        <p:spPr>
          <a:xfrm>
            <a:off x="6501384" y="2880360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65976" y="2807208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is precise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6501384" y="3163824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65976" y="3090672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are traceable</a:t>
            </a:r>
            <a:endParaRPr lang="en-US" sz="910" dirty="0"/>
          </a:p>
        </p:txBody>
      </p:sp>
      <p:sp>
        <p:nvSpPr>
          <p:cNvPr id="42" name="Shape 39"/>
          <p:cNvSpPr/>
          <p:nvPr/>
        </p:nvSpPr>
        <p:spPr>
          <a:xfrm>
            <a:off x="6501384" y="3447288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665976" y="3374136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Concurrency and locking become manageable</a:t>
            </a:r>
            <a:endParaRPr lang="en-US" sz="910" dirty="0"/>
          </a:p>
        </p:txBody>
      </p:sp>
      <p:sp>
        <p:nvSpPr>
          <p:cNvPr id="44" name="Shape 41"/>
          <p:cNvSpPr/>
          <p:nvPr/>
        </p:nvSpPr>
        <p:spPr>
          <a:xfrm>
            <a:off x="5468112" y="2834640"/>
            <a:ext cx="502920" cy="320040"/>
          </a:xfrm>
          <a:prstGeom prst="rightArrow">
            <a:avLst/>
          </a:prstGeom>
          <a:solidFill>
            <a:srgbClr val="8BBCFF"/>
          </a:solidFill>
          <a:ln w="12700">
            <a:solidFill>
              <a:srgbClr val="8BBC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-228600"/>
            <a:ext cx="2926080" cy="2011680"/>
          </a:xfrm>
          <a:prstGeom prst="ellipse">
            <a:avLst/>
          </a:prstGeom>
          <a:solidFill>
            <a:srgbClr val="8BBCFF">
              <a:alpha val="14000"/>
            </a:srgbClr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548640" y="5303520"/>
            <a:ext cx="2286000" cy="1645920"/>
          </a:xfrm>
          <a:prstGeom prst="ellipse">
            <a:avLst/>
          </a:prstGeom>
          <a:solidFill>
            <a:srgbClr val="11B5A4">
              <a:alpha val="8000"/>
            </a:srgbClr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223F"/>
          </a:solidFill>
          <a:ln w="12700">
            <a:solidFill>
              <a:srgbClr val="0D223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828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B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6217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Exceptions vs System Exceptions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10607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most important runtime distinction in automation delivery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11045952" y="530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973568" y="694944"/>
            <a:ext cx="3493008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D6455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19872" y="8046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645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line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119872" y="969264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you treat business and system exceptions the same way, your bot will either retry nonsense or fail too early.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749808" y="1783080"/>
            <a:ext cx="5212080" cy="3383280"/>
          </a:xfrm>
          <a:prstGeom prst="roundRect">
            <a:avLst>
              <a:gd name="adj" fmla="val 1351"/>
            </a:avLst>
          </a:prstGeom>
          <a:solidFill>
            <a:srgbClr val="FFF5E2"/>
          </a:solidFill>
          <a:ln w="12700">
            <a:solidFill>
              <a:srgbClr val="E6A01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1783080"/>
            <a:ext cx="5212080" cy="64008"/>
          </a:xfrm>
          <a:prstGeom prst="rect">
            <a:avLst/>
          </a:prstGeom>
          <a:solidFill>
            <a:srgbClr val="E6A019"/>
          </a:solidFill>
          <a:ln w="12700">
            <a:solidFill>
              <a:srgbClr val="E6A019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192938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Exception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6112" y="2313432"/>
            <a:ext cx="91440" cy="91440"/>
          </a:xfrm>
          <a:prstGeom prst="ellipse">
            <a:avLst/>
          </a:prstGeom>
          <a:solidFill>
            <a:srgbClr val="E6A019"/>
          </a:solidFill>
          <a:ln w="12700">
            <a:solidFill>
              <a:srgbClr val="E6A019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2240280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rule-based outcome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896112" y="2596896"/>
            <a:ext cx="91440" cy="91440"/>
          </a:xfrm>
          <a:prstGeom prst="ellipse">
            <a:avLst/>
          </a:prstGeom>
          <a:solidFill>
            <a:srgbClr val="E6A019"/>
          </a:solidFill>
          <a:ln w="12700">
            <a:solidFill>
              <a:srgbClr val="E6A019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2523744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 ran correctly, but the case cannot proceed normally</a:t>
            </a:r>
            <a:endParaRPr lang="en-US" sz="910" dirty="0"/>
          </a:p>
        </p:txBody>
      </p:sp>
      <p:sp>
        <p:nvSpPr>
          <p:cNvPr id="21" name="Shape 18"/>
          <p:cNvSpPr/>
          <p:nvPr/>
        </p:nvSpPr>
        <p:spPr>
          <a:xfrm>
            <a:off x="896112" y="2880360"/>
            <a:ext cx="91440" cy="91440"/>
          </a:xfrm>
          <a:prstGeom prst="ellipse">
            <a:avLst/>
          </a:prstGeom>
          <a:solidFill>
            <a:srgbClr val="E6A019"/>
          </a:solidFill>
          <a:ln w="12700">
            <a:solidFill>
              <a:srgbClr val="E6A019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2807208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claim not found, subscriber mismatch, data mismatch</a:t>
            </a:r>
            <a:endParaRPr lang="en-US" sz="910" dirty="0"/>
          </a:p>
        </p:txBody>
      </p:sp>
      <p:sp>
        <p:nvSpPr>
          <p:cNvPr id="23" name="Shape 20"/>
          <p:cNvSpPr/>
          <p:nvPr/>
        </p:nvSpPr>
        <p:spPr>
          <a:xfrm>
            <a:off x="896112" y="3163824"/>
            <a:ext cx="91440" cy="91440"/>
          </a:xfrm>
          <a:prstGeom prst="ellipse">
            <a:avLst/>
          </a:prstGeom>
          <a:solidFill>
            <a:srgbClr val="E6A019"/>
          </a:solidFill>
          <a:ln w="12700">
            <a:solidFill>
              <a:srgbClr val="E6A019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09067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behavior: no retry, mark and route appropriately</a:t>
            </a:r>
            <a:endParaRPr lang="en-US" sz="910" dirty="0"/>
          </a:p>
        </p:txBody>
      </p:sp>
      <p:sp>
        <p:nvSpPr>
          <p:cNvPr id="25" name="Shape 22"/>
          <p:cNvSpPr/>
          <p:nvPr/>
        </p:nvSpPr>
        <p:spPr>
          <a:xfrm>
            <a:off x="6190488" y="1783080"/>
            <a:ext cx="5212080" cy="3383280"/>
          </a:xfrm>
          <a:prstGeom prst="roundRect">
            <a:avLst>
              <a:gd name="adj" fmla="val 1351"/>
            </a:avLst>
          </a:prstGeom>
          <a:solidFill>
            <a:srgbClr val="FDECEF"/>
          </a:solidFill>
          <a:ln w="12700">
            <a:solidFill>
              <a:srgbClr val="D6455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190488" y="1783080"/>
            <a:ext cx="5212080" cy="64008"/>
          </a:xfrm>
          <a:prstGeom prst="rect">
            <a:avLst/>
          </a:prstGeom>
          <a:solidFill>
            <a:srgbClr val="D6455D"/>
          </a:solidFill>
          <a:ln w="12700">
            <a:solidFill>
              <a:srgbClr val="D6455D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36792" y="1929384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Exception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336792" y="2313432"/>
            <a:ext cx="91440" cy="91440"/>
          </a:xfrm>
          <a:prstGeom prst="ellipse">
            <a:avLst/>
          </a:prstGeom>
          <a:solidFill>
            <a:srgbClr val="D6455D"/>
          </a:solidFill>
          <a:ln w="12700">
            <a:solidFill>
              <a:srgbClr val="D6455D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501384" y="2240280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or runtime failure</a:t>
            </a:r>
            <a:endParaRPr lang="en-US" sz="910" dirty="0"/>
          </a:p>
        </p:txBody>
      </p:sp>
      <p:sp>
        <p:nvSpPr>
          <p:cNvPr id="30" name="Shape 27"/>
          <p:cNvSpPr/>
          <p:nvPr/>
        </p:nvSpPr>
        <p:spPr>
          <a:xfrm>
            <a:off x="6336792" y="2596896"/>
            <a:ext cx="91440" cy="91440"/>
          </a:xfrm>
          <a:prstGeom prst="ellipse">
            <a:avLst/>
          </a:prstGeom>
          <a:solidFill>
            <a:srgbClr val="D6455D"/>
          </a:solidFill>
          <a:ln w="12700">
            <a:solidFill>
              <a:srgbClr val="D6455D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01384" y="2523744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process could not complete because execution broke</a:t>
            </a:r>
            <a:endParaRPr lang="en-US" sz="910" dirty="0"/>
          </a:p>
        </p:txBody>
      </p:sp>
      <p:sp>
        <p:nvSpPr>
          <p:cNvPr id="32" name="Shape 29"/>
          <p:cNvSpPr/>
          <p:nvPr/>
        </p:nvSpPr>
        <p:spPr>
          <a:xfrm>
            <a:off x="6336792" y="2880360"/>
            <a:ext cx="91440" cy="91440"/>
          </a:xfrm>
          <a:prstGeom prst="ellipse">
            <a:avLst/>
          </a:prstGeom>
          <a:solidFill>
            <a:srgbClr val="D6455D"/>
          </a:solidFill>
          <a:ln w="12700">
            <a:solidFill>
              <a:srgbClr val="D6455D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501384" y="2807208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Examples: timeout, browser crash, missing element, session expiry</a:t>
            </a:r>
            <a:endParaRPr lang="en-US" sz="910" dirty="0"/>
          </a:p>
        </p:txBody>
      </p:sp>
      <p:sp>
        <p:nvSpPr>
          <p:cNvPr id="34" name="Shape 31"/>
          <p:cNvSpPr/>
          <p:nvPr/>
        </p:nvSpPr>
        <p:spPr>
          <a:xfrm>
            <a:off x="6336792" y="3163824"/>
            <a:ext cx="91440" cy="91440"/>
          </a:xfrm>
          <a:prstGeom prst="ellipse">
            <a:avLst/>
          </a:prstGeom>
          <a:solidFill>
            <a:srgbClr val="D6455D"/>
          </a:solidFill>
          <a:ln w="12700">
            <a:solidFill>
              <a:srgbClr val="D6455D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501384" y="3090672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behavior: retry with recovery up to a defined threshold</a:t>
            </a:r>
            <a:endParaRPr lang="en-US" sz="9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-228600"/>
            <a:ext cx="2926080" cy="2011680"/>
          </a:xfrm>
          <a:prstGeom prst="ellipse">
            <a:avLst/>
          </a:prstGeom>
          <a:solidFill>
            <a:srgbClr val="8BBCFF">
              <a:alpha val="14000"/>
            </a:srgbClr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548640" y="5303520"/>
            <a:ext cx="2286000" cy="1645920"/>
          </a:xfrm>
          <a:prstGeom prst="ellipse">
            <a:avLst/>
          </a:prstGeom>
          <a:solidFill>
            <a:srgbClr val="11B5A4">
              <a:alpha val="8000"/>
            </a:srgbClr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223F"/>
          </a:solidFill>
          <a:ln w="12700">
            <a:solidFill>
              <a:srgbClr val="0D223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828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B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AND RECOVERY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6217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Retry Is a Control Strategy, Not a Reflex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10607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proper retry model classifies failures and applies recovery intentionally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11045952" y="530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156448" y="694944"/>
            <a:ext cx="3291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02752" y="8046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B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line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302752" y="9692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without classification is noise. Retry with recovery is resilience.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749808" y="1783080"/>
            <a:ext cx="4023360" cy="2304288"/>
          </a:xfrm>
          <a:prstGeom prst="roundRect">
            <a:avLst>
              <a:gd name="adj" fmla="val 1984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1783080"/>
            <a:ext cx="4023360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192938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Retry model defines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6112" y="231343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2240280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retriable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896112" y="259689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2523744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attempts are allowed</a:t>
            </a:r>
            <a:endParaRPr lang="en-US" sz="910" dirty="0"/>
          </a:p>
        </p:txBody>
      </p:sp>
      <p:sp>
        <p:nvSpPr>
          <p:cNvPr id="21" name="Shape 18"/>
          <p:cNvSpPr/>
          <p:nvPr/>
        </p:nvSpPr>
        <p:spPr>
          <a:xfrm>
            <a:off x="896112" y="2880360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280720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recovery happens between attempts</a:t>
            </a:r>
            <a:endParaRPr lang="en-US" sz="910" dirty="0"/>
          </a:p>
        </p:txBody>
      </p:sp>
      <p:sp>
        <p:nvSpPr>
          <p:cNvPr id="23" name="Shape 20"/>
          <p:cNvSpPr/>
          <p:nvPr/>
        </p:nvSpPr>
        <p:spPr>
          <a:xfrm>
            <a:off x="896112" y="3163824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090672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the item becomes terminal failure</a:t>
            </a:r>
            <a:endParaRPr lang="en-US" sz="910" dirty="0"/>
          </a:p>
        </p:txBody>
      </p:sp>
      <p:sp>
        <p:nvSpPr>
          <p:cNvPr id="25" name="Shape 22"/>
          <p:cNvSpPr/>
          <p:nvPr/>
        </p:nvSpPr>
        <p:spPr>
          <a:xfrm>
            <a:off x="896112" y="3447288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337413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evidence is logged</a:t>
            </a:r>
            <a:endParaRPr lang="en-US" sz="910" dirty="0"/>
          </a:p>
        </p:txBody>
      </p:sp>
      <p:sp>
        <p:nvSpPr>
          <p:cNvPr id="27" name="Shape 24"/>
          <p:cNvSpPr/>
          <p:nvPr/>
        </p:nvSpPr>
        <p:spPr>
          <a:xfrm>
            <a:off x="5047488" y="2029968"/>
            <a:ext cx="111556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175504" y="21488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20" dirty="0"/>
          </a:p>
        </p:txBody>
      </p:sp>
      <p:sp>
        <p:nvSpPr>
          <p:cNvPr id="29" name="Shape 26"/>
          <p:cNvSpPr/>
          <p:nvPr/>
        </p:nvSpPr>
        <p:spPr>
          <a:xfrm>
            <a:off x="5138928" y="2139696"/>
            <a:ext cx="256032" cy="256032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49824" y="2121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exception occurs</a:t>
            </a:r>
            <a:endParaRPr lang="en-US" sz="760" dirty="0"/>
          </a:p>
        </p:txBody>
      </p:sp>
      <p:sp>
        <p:nvSpPr>
          <p:cNvPr id="31" name="Shape 28"/>
          <p:cNvSpPr/>
          <p:nvPr/>
        </p:nvSpPr>
        <p:spPr>
          <a:xfrm>
            <a:off x="6373368" y="3081528"/>
            <a:ext cx="1115568" cy="777240"/>
          </a:xfrm>
          <a:prstGeom prst="roundRect">
            <a:avLst>
              <a:gd name="adj" fmla="val 4706"/>
            </a:avLst>
          </a:prstGeom>
          <a:solidFill>
            <a:srgbClr val="DDF7F3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501384" y="320040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20" dirty="0"/>
          </a:p>
        </p:txBody>
      </p:sp>
      <p:sp>
        <p:nvSpPr>
          <p:cNvPr id="33" name="Shape 30"/>
          <p:cNvSpPr/>
          <p:nvPr/>
        </p:nvSpPr>
        <p:spPr>
          <a:xfrm>
            <a:off x="6464808" y="3191256"/>
            <a:ext cx="256032" cy="256032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75704" y="3172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counter increments</a:t>
            </a:r>
            <a:endParaRPr lang="en-US" sz="760" dirty="0"/>
          </a:p>
        </p:txBody>
      </p:sp>
      <p:sp>
        <p:nvSpPr>
          <p:cNvPr id="35" name="Shape 32"/>
          <p:cNvSpPr/>
          <p:nvPr/>
        </p:nvSpPr>
        <p:spPr>
          <a:xfrm>
            <a:off x="7699248" y="2029968"/>
            <a:ext cx="111556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827264" y="21488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20" dirty="0"/>
          </a:p>
        </p:txBody>
      </p:sp>
      <p:sp>
        <p:nvSpPr>
          <p:cNvPr id="37" name="Shape 34"/>
          <p:cNvSpPr/>
          <p:nvPr/>
        </p:nvSpPr>
        <p:spPr>
          <a:xfrm>
            <a:off x="7790688" y="2139696"/>
            <a:ext cx="256032" cy="256032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101584" y="2121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 or session recovery runs</a:t>
            </a:r>
            <a:endParaRPr lang="en-US" sz="760" dirty="0"/>
          </a:p>
        </p:txBody>
      </p:sp>
      <p:sp>
        <p:nvSpPr>
          <p:cNvPr id="39" name="Shape 36"/>
          <p:cNvSpPr/>
          <p:nvPr/>
        </p:nvSpPr>
        <p:spPr>
          <a:xfrm>
            <a:off x="9025128" y="3081528"/>
            <a:ext cx="1115568" cy="777240"/>
          </a:xfrm>
          <a:prstGeom prst="roundRect">
            <a:avLst>
              <a:gd name="adj" fmla="val 4706"/>
            </a:avLst>
          </a:prstGeom>
          <a:solidFill>
            <a:srgbClr val="DDF7F3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153144" y="320040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20" dirty="0"/>
          </a:p>
        </p:txBody>
      </p:sp>
      <p:sp>
        <p:nvSpPr>
          <p:cNvPr id="41" name="Shape 38"/>
          <p:cNvSpPr/>
          <p:nvPr/>
        </p:nvSpPr>
        <p:spPr>
          <a:xfrm>
            <a:off x="9116568" y="3191256"/>
            <a:ext cx="256032" cy="256032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427464" y="3172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is reattempted</a:t>
            </a:r>
            <a:endParaRPr lang="en-US" sz="760" dirty="0"/>
          </a:p>
        </p:txBody>
      </p:sp>
      <p:sp>
        <p:nvSpPr>
          <p:cNvPr id="43" name="Shape 40"/>
          <p:cNvSpPr/>
          <p:nvPr/>
        </p:nvSpPr>
        <p:spPr>
          <a:xfrm>
            <a:off x="10351008" y="2029968"/>
            <a:ext cx="111556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479024" y="2148840"/>
            <a:ext cx="2011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20" dirty="0"/>
          </a:p>
        </p:txBody>
      </p:sp>
      <p:sp>
        <p:nvSpPr>
          <p:cNvPr id="45" name="Shape 42"/>
          <p:cNvSpPr/>
          <p:nvPr/>
        </p:nvSpPr>
        <p:spPr>
          <a:xfrm>
            <a:off x="10442448" y="2139696"/>
            <a:ext cx="256032" cy="256032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753344" y="212140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exhaustion moves item to failure state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-228600"/>
            <a:ext cx="2926080" cy="2011680"/>
          </a:xfrm>
          <a:prstGeom prst="ellipse">
            <a:avLst/>
          </a:prstGeom>
          <a:solidFill>
            <a:srgbClr val="8BBCFF">
              <a:alpha val="14000"/>
            </a:srgbClr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548640" y="5303520"/>
            <a:ext cx="2286000" cy="1645920"/>
          </a:xfrm>
          <a:prstGeom prst="ellipse">
            <a:avLst/>
          </a:prstGeom>
          <a:solidFill>
            <a:srgbClr val="11B5A4">
              <a:alpha val="8000"/>
            </a:srgbClr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223F"/>
          </a:solidFill>
          <a:ln w="12700">
            <a:solidFill>
              <a:srgbClr val="0D223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828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B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PATTERN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6217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Better RPA Architecture Pattern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10607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automation separates responsibilities into controlled layers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11045952" y="530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138160" y="694944"/>
            <a:ext cx="3310128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6A01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4464" y="8046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A0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line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284464" y="969264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monolithic bot is easy to demo and hard to support.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749808" y="1920240"/>
            <a:ext cx="24688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1920240"/>
            <a:ext cx="2468880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20665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Dispatcher / Intake Layer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6112" y="245059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237744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Acquires source data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896112" y="273405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266090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Normalizes input</a:t>
            </a:r>
            <a:endParaRPr lang="en-US" sz="910" dirty="0"/>
          </a:p>
        </p:txBody>
      </p:sp>
      <p:sp>
        <p:nvSpPr>
          <p:cNvPr id="21" name="Shape 18"/>
          <p:cNvSpPr/>
          <p:nvPr/>
        </p:nvSpPr>
        <p:spPr>
          <a:xfrm>
            <a:off x="896112" y="3017520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294436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transaction-ready records</a:t>
            </a:r>
            <a:endParaRPr lang="en-US" sz="910" dirty="0"/>
          </a:p>
        </p:txBody>
      </p:sp>
      <p:sp>
        <p:nvSpPr>
          <p:cNvPr id="23" name="Shape 20"/>
          <p:cNvSpPr/>
          <p:nvPr/>
        </p:nvSpPr>
        <p:spPr>
          <a:xfrm>
            <a:off x="3584448" y="2423160"/>
            <a:ext cx="24688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84448" y="2423160"/>
            <a:ext cx="2468880" cy="64008"/>
          </a:xfrm>
          <a:prstGeom prst="rect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30752" y="25694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Performer / Processing Layer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730752" y="295351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895344" y="288036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Reads work item by work item</a:t>
            </a:r>
            <a:endParaRPr lang="en-US" sz="910" dirty="0"/>
          </a:p>
        </p:txBody>
      </p:sp>
      <p:sp>
        <p:nvSpPr>
          <p:cNvPr id="28" name="Shape 25"/>
          <p:cNvSpPr/>
          <p:nvPr/>
        </p:nvSpPr>
        <p:spPr>
          <a:xfrm>
            <a:off x="3730752" y="3236976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95344" y="316382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Applies business logic</a:t>
            </a:r>
            <a:endParaRPr lang="en-US" sz="910" dirty="0"/>
          </a:p>
        </p:txBody>
      </p:sp>
      <p:sp>
        <p:nvSpPr>
          <p:cNvPr id="30" name="Shape 27"/>
          <p:cNvSpPr/>
          <p:nvPr/>
        </p:nvSpPr>
        <p:spPr>
          <a:xfrm>
            <a:off x="3730752" y="3520440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895344" y="344728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Extracts or updates data</a:t>
            </a:r>
            <a:endParaRPr lang="en-US" sz="910" dirty="0"/>
          </a:p>
        </p:txBody>
      </p:sp>
      <p:sp>
        <p:nvSpPr>
          <p:cNvPr id="32" name="Shape 29"/>
          <p:cNvSpPr/>
          <p:nvPr/>
        </p:nvSpPr>
        <p:spPr>
          <a:xfrm>
            <a:off x="3730752" y="3803904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95344" y="3730752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Classifies outcomes</a:t>
            </a:r>
            <a:endParaRPr lang="en-US" sz="910" dirty="0"/>
          </a:p>
        </p:txBody>
      </p:sp>
      <p:sp>
        <p:nvSpPr>
          <p:cNvPr id="34" name="Shape 31"/>
          <p:cNvSpPr/>
          <p:nvPr/>
        </p:nvSpPr>
        <p:spPr>
          <a:xfrm>
            <a:off x="6419088" y="1920240"/>
            <a:ext cx="24688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19088" y="1920240"/>
            <a:ext cx="2468880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565392" y="206654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Write-Back / Finalization Layer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565392" y="245059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729984" y="237744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Updates target systems</a:t>
            </a:r>
            <a:endParaRPr lang="en-US" sz="910" dirty="0"/>
          </a:p>
        </p:txBody>
      </p:sp>
      <p:sp>
        <p:nvSpPr>
          <p:cNvPr id="39" name="Shape 36"/>
          <p:cNvSpPr/>
          <p:nvPr/>
        </p:nvSpPr>
        <p:spPr>
          <a:xfrm>
            <a:off x="6565392" y="273405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29984" y="266090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Finalizes records</a:t>
            </a:r>
            <a:endParaRPr lang="en-US" sz="910" dirty="0"/>
          </a:p>
        </p:txBody>
      </p:sp>
      <p:sp>
        <p:nvSpPr>
          <p:cNvPr id="41" name="Shape 38"/>
          <p:cNvSpPr/>
          <p:nvPr/>
        </p:nvSpPr>
        <p:spPr>
          <a:xfrm>
            <a:off x="6565392" y="3017520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29984" y="294436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summary outputs</a:t>
            </a:r>
            <a:endParaRPr lang="en-US" sz="910" dirty="0"/>
          </a:p>
        </p:txBody>
      </p:sp>
      <p:sp>
        <p:nvSpPr>
          <p:cNvPr id="43" name="Shape 40"/>
          <p:cNvSpPr/>
          <p:nvPr/>
        </p:nvSpPr>
        <p:spPr>
          <a:xfrm>
            <a:off x="9253728" y="2423160"/>
            <a:ext cx="2468880" cy="187452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253728" y="2423160"/>
            <a:ext cx="2468880" cy="64008"/>
          </a:xfrm>
          <a:prstGeom prst="rect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400032" y="256946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Reporting / Audit Layer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9400032" y="295351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9564624" y="288036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Logs outcomes</a:t>
            </a:r>
            <a:endParaRPr lang="en-US" sz="910" dirty="0"/>
          </a:p>
        </p:txBody>
      </p:sp>
      <p:sp>
        <p:nvSpPr>
          <p:cNvPr id="48" name="Shape 45"/>
          <p:cNvSpPr/>
          <p:nvPr/>
        </p:nvSpPr>
        <p:spPr>
          <a:xfrm>
            <a:off x="9400032" y="3236976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9564624" y="316382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Exposes exceptions</a:t>
            </a:r>
            <a:endParaRPr lang="en-US" sz="910" dirty="0"/>
          </a:p>
        </p:txBody>
      </p:sp>
      <p:sp>
        <p:nvSpPr>
          <p:cNvPr id="50" name="Shape 47"/>
          <p:cNvSpPr/>
          <p:nvPr/>
        </p:nvSpPr>
        <p:spPr>
          <a:xfrm>
            <a:off x="9400032" y="3520440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564624" y="3447288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reviewable business outputs</a:t>
            </a:r>
            <a:endParaRPr lang="en-US" sz="9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-228600"/>
            <a:ext cx="2926080" cy="2011680"/>
          </a:xfrm>
          <a:prstGeom prst="ellipse">
            <a:avLst/>
          </a:prstGeom>
          <a:solidFill>
            <a:srgbClr val="8BBCFF">
              <a:alpha val="14000"/>
            </a:srgbClr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548640" y="5303520"/>
            <a:ext cx="2286000" cy="1645920"/>
          </a:xfrm>
          <a:prstGeom prst="ellipse">
            <a:avLst/>
          </a:prstGeom>
          <a:solidFill>
            <a:srgbClr val="11B5A4">
              <a:alpha val="8000"/>
            </a:srgbClr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223F"/>
          </a:solidFill>
          <a:ln w="12700">
            <a:solidFill>
              <a:srgbClr val="0D223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828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B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IN AUTOMATION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6217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APIs Fit Into RPA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10607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integration path is not always the UI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11045952" y="530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8156448" y="694944"/>
            <a:ext cx="329184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02752" y="8046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B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line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302752" y="9692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best solution is not UI-first. The best solution is control-first.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749808" y="1783080"/>
            <a:ext cx="4983480" cy="297180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1783080"/>
            <a:ext cx="4983480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1929384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advantages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6112" y="231343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2240280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than UI automation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896112" y="259689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2523744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reliable</a:t>
            </a:r>
            <a:endParaRPr lang="en-US" sz="910" dirty="0"/>
          </a:p>
        </p:txBody>
      </p:sp>
      <p:sp>
        <p:nvSpPr>
          <p:cNvPr id="21" name="Shape 18"/>
          <p:cNvSpPr/>
          <p:nvPr/>
        </p:nvSpPr>
        <p:spPr>
          <a:xfrm>
            <a:off x="896112" y="2880360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2807208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Background-friendly</a:t>
            </a:r>
            <a:endParaRPr lang="en-US" sz="910" dirty="0"/>
          </a:p>
        </p:txBody>
      </p:sp>
      <p:sp>
        <p:nvSpPr>
          <p:cNvPr id="23" name="Shape 20"/>
          <p:cNvSpPr/>
          <p:nvPr/>
        </p:nvSpPr>
        <p:spPr>
          <a:xfrm>
            <a:off x="896112" y="3163824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090672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 request and response model</a:t>
            </a:r>
            <a:endParaRPr lang="en-US" sz="910" dirty="0"/>
          </a:p>
        </p:txBody>
      </p:sp>
      <p:sp>
        <p:nvSpPr>
          <p:cNvPr id="25" name="Shape 22"/>
          <p:cNvSpPr/>
          <p:nvPr/>
        </p:nvSpPr>
        <p:spPr>
          <a:xfrm>
            <a:off x="896112" y="3447288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3374136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Clearer error handling</a:t>
            </a:r>
            <a:endParaRPr lang="en-US" sz="910" dirty="0"/>
          </a:p>
        </p:txBody>
      </p:sp>
      <p:sp>
        <p:nvSpPr>
          <p:cNvPr id="27" name="Shape 24"/>
          <p:cNvSpPr/>
          <p:nvPr/>
        </p:nvSpPr>
        <p:spPr>
          <a:xfrm>
            <a:off x="896112" y="373075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0704" y="3657600"/>
            <a:ext cx="4581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Easier to scale and maintain</a:t>
            </a:r>
            <a:endParaRPr lang="en-US" sz="910" dirty="0"/>
          </a:p>
        </p:txBody>
      </p:sp>
      <p:sp>
        <p:nvSpPr>
          <p:cNvPr id="29" name="Shape 26"/>
          <p:cNvSpPr/>
          <p:nvPr/>
        </p:nvSpPr>
        <p:spPr>
          <a:xfrm>
            <a:off x="6355080" y="1783080"/>
            <a:ext cx="507492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355080" y="1783080"/>
            <a:ext cx="5074920" cy="64008"/>
          </a:xfrm>
          <a:prstGeom prst="rect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01384" y="1929384"/>
            <a:ext cx="4800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API uses in automation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501384" y="231343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65976" y="2240280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records directly</a:t>
            </a:r>
            <a:endParaRPr lang="en-US" sz="910" dirty="0"/>
          </a:p>
        </p:txBody>
      </p:sp>
      <p:sp>
        <p:nvSpPr>
          <p:cNvPr id="34" name="Shape 31"/>
          <p:cNvSpPr/>
          <p:nvPr/>
        </p:nvSpPr>
        <p:spPr>
          <a:xfrm>
            <a:off x="6501384" y="2596896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665976" y="2523744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or update records</a:t>
            </a:r>
            <a:endParaRPr lang="en-US" sz="910" dirty="0"/>
          </a:p>
        </p:txBody>
      </p:sp>
      <p:sp>
        <p:nvSpPr>
          <p:cNvPr id="36" name="Shape 33"/>
          <p:cNvSpPr/>
          <p:nvPr/>
        </p:nvSpPr>
        <p:spPr>
          <a:xfrm>
            <a:off x="6501384" y="2880360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665976" y="2807208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statuses or metadata</a:t>
            </a:r>
            <a:endParaRPr lang="en-US" sz="910" dirty="0"/>
          </a:p>
        </p:txBody>
      </p:sp>
      <p:sp>
        <p:nvSpPr>
          <p:cNvPr id="38" name="Shape 35"/>
          <p:cNvSpPr/>
          <p:nvPr/>
        </p:nvSpPr>
        <p:spPr>
          <a:xfrm>
            <a:off x="6501384" y="3163824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665976" y="3090672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Push results to downstream systems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6501384" y="3447288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665976" y="3374136"/>
            <a:ext cx="4672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workflows</a:t>
            </a:r>
            <a:endParaRPr lang="en-US" sz="9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7FB"/>
          </a:solidFill>
          <a:ln w="12700">
            <a:solidFill>
              <a:srgbClr val="F3F7F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-228600"/>
            <a:ext cx="2926080" cy="2011680"/>
          </a:xfrm>
          <a:prstGeom prst="ellipse">
            <a:avLst/>
          </a:prstGeom>
          <a:solidFill>
            <a:srgbClr val="8BBCFF">
              <a:alpha val="14000"/>
            </a:srgbClr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-548640" y="5303520"/>
            <a:ext cx="2286000" cy="1645920"/>
          </a:xfrm>
          <a:prstGeom prst="ellipse">
            <a:avLst/>
          </a:prstGeom>
          <a:solidFill>
            <a:srgbClr val="11B5A4">
              <a:alpha val="8000"/>
            </a:srgbClr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0"/>
            <a:ext cx="12191695" cy="384048"/>
          </a:xfrm>
          <a:prstGeom prst="rect">
            <a:avLst/>
          </a:prstGeom>
          <a:solidFill>
            <a:srgbClr val="0D223F"/>
          </a:solidFill>
          <a:ln w="12700">
            <a:solidFill>
              <a:srgbClr val="0D223F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18288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B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BASICS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58368" y="621792"/>
            <a:ext cx="7040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Basics Business Analysts Should Understand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58368" y="1060704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move structured data between systems without imitating a user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11045952" y="530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65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7991856" y="694944"/>
            <a:ext cx="3456432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80467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7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line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138160" y="969264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automation exchanges structured data with the system instead of reading screens and imitating a user.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749808" y="1783080"/>
            <a:ext cx="3703320" cy="288036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49808" y="1783080"/>
            <a:ext cx="3703320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192938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elements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96112" y="231343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60704" y="2240280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 or URL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896112" y="259689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2523744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method: GET, POST, PUT, PATCH, DELETE</a:t>
            </a:r>
            <a:endParaRPr lang="en-US" sz="910" dirty="0"/>
          </a:p>
        </p:txBody>
      </p:sp>
      <p:sp>
        <p:nvSpPr>
          <p:cNvPr id="21" name="Shape 18"/>
          <p:cNvSpPr/>
          <p:nvPr/>
        </p:nvSpPr>
        <p:spPr>
          <a:xfrm>
            <a:off x="896112" y="2880360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2807208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Headers</a:t>
            </a:r>
            <a:endParaRPr lang="en-US" sz="910" dirty="0"/>
          </a:p>
        </p:txBody>
      </p:sp>
      <p:sp>
        <p:nvSpPr>
          <p:cNvPr id="23" name="Shape 20"/>
          <p:cNvSpPr/>
          <p:nvPr/>
        </p:nvSpPr>
        <p:spPr>
          <a:xfrm>
            <a:off x="896112" y="3163824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60704" y="3090672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Authentication token</a:t>
            </a:r>
            <a:endParaRPr lang="en-US" sz="910" dirty="0"/>
          </a:p>
        </p:txBody>
      </p:sp>
      <p:sp>
        <p:nvSpPr>
          <p:cNvPr id="25" name="Shape 22"/>
          <p:cNvSpPr/>
          <p:nvPr/>
        </p:nvSpPr>
        <p:spPr>
          <a:xfrm>
            <a:off x="896112" y="3447288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60704" y="3374136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</a:t>
            </a:r>
            <a:endParaRPr lang="en-US" sz="910" dirty="0"/>
          </a:p>
        </p:txBody>
      </p:sp>
      <p:sp>
        <p:nvSpPr>
          <p:cNvPr id="27" name="Shape 24"/>
          <p:cNvSpPr/>
          <p:nvPr/>
        </p:nvSpPr>
        <p:spPr>
          <a:xfrm>
            <a:off x="896112" y="373075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0704" y="3657600"/>
            <a:ext cx="3300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body or payload</a:t>
            </a:r>
            <a:endParaRPr lang="en-US" sz="910" dirty="0"/>
          </a:p>
        </p:txBody>
      </p:sp>
      <p:sp>
        <p:nvSpPr>
          <p:cNvPr id="29" name="Shape 26"/>
          <p:cNvSpPr/>
          <p:nvPr/>
        </p:nvSpPr>
        <p:spPr>
          <a:xfrm>
            <a:off x="4617720" y="1783080"/>
            <a:ext cx="2743200" cy="192024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17720" y="1783080"/>
            <a:ext cx="2743200" cy="64008"/>
          </a:xfrm>
          <a:prstGeom prst="rect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764024" y="192938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 elements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764024" y="231343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928616" y="2240280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code</a:t>
            </a:r>
            <a:endParaRPr lang="en-US" sz="910" dirty="0"/>
          </a:p>
        </p:txBody>
      </p:sp>
      <p:sp>
        <p:nvSpPr>
          <p:cNvPr id="34" name="Shape 31"/>
          <p:cNvSpPr/>
          <p:nvPr/>
        </p:nvSpPr>
        <p:spPr>
          <a:xfrm>
            <a:off x="4764024" y="2596896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928616" y="2523744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body, usually JSON or XML</a:t>
            </a:r>
            <a:endParaRPr lang="en-US" sz="910" dirty="0"/>
          </a:p>
        </p:txBody>
      </p:sp>
      <p:sp>
        <p:nvSpPr>
          <p:cNvPr id="36" name="Shape 33"/>
          <p:cNvSpPr/>
          <p:nvPr/>
        </p:nvSpPr>
        <p:spPr>
          <a:xfrm>
            <a:off x="4764024" y="2880360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928616" y="2807208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details</a:t>
            </a:r>
            <a:endParaRPr lang="en-US" sz="910" dirty="0"/>
          </a:p>
        </p:txBody>
      </p:sp>
      <p:sp>
        <p:nvSpPr>
          <p:cNvPr id="38" name="Shape 35"/>
          <p:cNvSpPr/>
          <p:nvPr/>
        </p:nvSpPr>
        <p:spPr>
          <a:xfrm>
            <a:off x="7589520" y="1783080"/>
            <a:ext cx="3840480" cy="237744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E6A01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589520" y="1783080"/>
            <a:ext cx="3840480" cy="64008"/>
          </a:xfrm>
          <a:prstGeom prst="rect">
            <a:avLst/>
          </a:prstGeom>
          <a:solidFill>
            <a:srgbClr val="E6A019"/>
          </a:solidFill>
          <a:ln w="12700">
            <a:solidFill>
              <a:srgbClr val="E6A01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735824" y="192938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274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BAs should care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7735824" y="2313432"/>
            <a:ext cx="91440" cy="91440"/>
          </a:xfrm>
          <a:prstGeom prst="ellipse">
            <a:avLst/>
          </a:prstGeom>
          <a:solidFill>
            <a:srgbClr val="E6A019"/>
          </a:solidFill>
          <a:ln w="12700">
            <a:solidFill>
              <a:srgbClr val="E6A019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900416" y="2240280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 define what data can move directly between systems</a:t>
            </a:r>
            <a:endParaRPr lang="en-US" sz="910" dirty="0"/>
          </a:p>
        </p:txBody>
      </p:sp>
      <p:sp>
        <p:nvSpPr>
          <p:cNvPr id="43" name="Shape 40"/>
          <p:cNvSpPr/>
          <p:nvPr/>
        </p:nvSpPr>
        <p:spPr>
          <a:xfrm>
            <a:off x="7735824" y="2596896"/>
            <a:ext cx="91440" cy="91440"/>
          </a:xfrm>
          <a:prstGeom prst="ellipse">
            <a:avLst/>
          </a:prstGeom>
          <a:solidFill>
            <a:srgbClr val="E6A019"/>
          </a:solidFill>
          <a:ln w="12700">
            <a:solidFill>
              <a:srgbClr val="E6A019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900416" y="2523744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errors are usually more explicit than UI failures</a:t>
            </a:r>
            <a:endParaRPr lang="en-US" sz="910" dirty="0"/>
          </a:p>
        </p:txBody>
      </p:sp>
      <p:sp>
        <p:nvSpPr>
          <p:cNvPr id="45" name="Shape 42"/>
          <p:cNvSpPr/>
          <p:nvPr/>
        </p:nvSpPr>
        <p:spPr>
          <a:xfrm>
            <a:off x="7735824" y="2880360"/>
            <a:ext cx="91440" cy="91440"/>
          </a:xfrm>
          <a:prstGeom prst="ellipse">
            <a:avLst/>
          </a:prstGeom>
          <a:solidFill>
            <a:srgbClr val="E6A019"/>
          </a:solidFill>
          <a:ln w="12700">
            <a:solidFill>
              <a:srgbClr val="E6A019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00416" y="2807208"/>
            <a:ext cx="34381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1027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design changes when direct system integration is available</a:t>
            </a:r>
            <a:endParaRPr lang="en-US" sz="9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321"/>
          </a:solidFill>
          <a:ln w="12700">
            <a:solidFill>
              <a:srgbClr val="071321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-274320" y="-731520"/>
            <a:ext cx="4023360" cy="3108960"/>
          </a:xfrm>
          <a:prstGeom prst="ellipse">
            <a:avLst/>
          </a:prstGeom>
          <a:solidFill>
            <a:srgbClr val="1E73FF">
              <a:alpha val="20000"/>
            </a:srgbClr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778240" y="-365760"/>
            <a:ext cx="3474720" cy="2743200"/>
          </a:xfrm>
          <a:prstGeom prst="ellipse">
            <a:avLst/>
          </a:prstGeom>
          <a:solidFill>
            <a:srgbClr val="11B5A4">
              <a:alpha val="16000"/>
            </a:srgbClr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891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B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 ROLE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58368" y="804672"/>
            <a:ext cx="5577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BA's Real Job in Automation Design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58368" y="144475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High-value analysis defines control, exception logic, and measurable outcomes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11045952" y="51206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B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920240"/>
            <a:ext cx="5486400" cy="804672"/>
          </a:xfrm>
          <a:prstGeom prst="roundRect">
            <a:avLst>
              <a:gd name="adj" fmla="val 5682"/>
            </a:avLst>
          </a:prstGeom>
          <a:solidFill>
            <a:srgbClr val="153357">
              <a:alpha val="92000"/>
            </a:srgbClr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4672" y="202996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B5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line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04672" y="219456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automation analysis is not just process mapping. It is process control, exception logic, and outcome design.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58368" y="3017520"/>
            <a:ext cx="5440680" cy="2944368"/>
          </a:xfrm>
          <a:prstGeom prst="roundRect">
            <a:avLst>
              <a:gd name="adj" fmla="val 1553"/>
            </a:avLst>
          </a:prstGeom>
          <a:solidFill>
            <a:srgbClr val="153357"/>
          </a:solidFill>
          <a:ln w="12700">
            <a:solidFill>
              <a:srgbClr val="1E73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" y="3017520"/>
            <a:ext cx="5440680" cy="64008"/>
          </a:xfrm>
          <a:prstGeom prst="rect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4672" y="3163824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BA should define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4672" y="354787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3474720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 model</a:t>
            </a:r>
            <a:endParaRPr lang="en-US" sz="910" dirty="0"/>
          </a:p>
        </p:txBody>
      </p:sp>
      <p:sp>
        <p:nvSpPr>
          <p:cNvPr id="18" name="Shape 15"/>
          <p:cNvSpPr/>
          <p:nvPr/>
        </p:nvSpPr>
        <p:spPr>
          <a:xfrm>
            <a:off x="804672" y="383133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" y="3758184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of work or transaction</a:t>
            </a:r>
            <a:endParaRPr lang="en-US" sz="910" dirty="0"/>
          </a:p>
        </p:txBody>
      </p:sp>
      <p:sp>
        <p:nvSpPr>
          <p:cNvPr id="20" name="Shape 17"/>
          <p:cNvSpPr/>
          <p:nvPr/>
        </p:nvSpPr>
        <p:spPr>
          <a:xfrm>
            <a:off x="804672" y="4114800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" y="4041648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 and source systems</a:t>
            </a:r>
            <a:endParaRPr lang="en-US" sz="910" dirty="0"/>
          </a:p>
        </p:txBody>
      </p:sp>
      <p:sp>
        <p:nvSpPr>
          <p:cNvPr id="22" name="Shape 19"/>
          <p:cNvSpPr/>
          <p:nvPr/>
        </p:nvSpPr>
        <p:spPr>
          <a:xfrm>
            <a:off x="804672" y="4398264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264" y="4325112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and decision points</a:t>
            </a:r>
            <a:endParaRPr lang="en-US" sz="910" dirty="0"/>
          </a:p>
        </p:txBody>
      </p:sp>
      <p:sp>
        <p:nvSpPr>
          <p:cNvPr id="24" name="Shape 21"/>
          <p:cNvSpPr/>
          <p:nvPr/>
        </p:nvSpPr>
        <p:spPr>
          <a:xfrm>
            <a:off x="804672" y="4681728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69264" y="4608576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scenarios</a:t>
            </a:r>
            <a:endParaRPr lang="en-US" sz="910" dirty="0"/>
          </a:p>
        </p:txBody>
      </p:sp>
      <p:sp>
        <p:nvSpPr>
          <p:cNvPr id="26" name="Shape 23"/>
          <p:cNvSpPr/>
          <p:nvPr/>
        </p:nvSpPr>
        <p:spPr>
          <a:xfrm>
            <a:off x="804672" y="4965192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69264" y="4892040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boundaries</a:t>
            </a:r>
            <a:endParaRPr lang="en-US" sz="910" dirty="0"/>
          </a:p>
        </p:txBody>
      </p:sp>
      <p:sp>
        <p:nvSpPr>
          <p:cNvPr id="28" name="Shape 25"/>
          <p:cNvSpPr/>
          <p:nvPr/>
        </p:nvSpPr>
        <p:spPr>
          <a:xfrm>
            <a:off x="804672" y="5248656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9264" y="5175504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and target systems</a:t>
            </a:r>
            <a:endParaRPr lang="en-US" sz="910" dirty="0"/>
          </a:p>
        </p:txBody>
      </p:sp>
      <p:sp>
        <p:nvSpPr>
          <p:cNvPr id="30" name="Shape 27"/>
          <p:cNvSpPr/>
          <p:nvPr/>
        </p:nvSpPr>
        <p:spPr>
          <a:xfrm>
            <a:off x="804672" y="5532120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9264" y="5458968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and reporting expectations</a:t>
            </a:r>
            <a:endParaRPr lang="en-US" sz="910" dirty="0"/>
          </a:p>
        </p:txBody>
      </p:sp>
      <p:sp>
        <p:nvSpPr>
          <p:cNvPr id="32" name="Shape 29"/>
          <p:cNvSpPr/>
          <p:nvPr/>
        </p:nvSpPr>
        <p:spPr>
          <a:xfrm>
            <a:off x="804672" y="5815584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69264" y="5742432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fallback path</a:t>
            </a:r>
            <a:endParaRPr lang="en-US" sz="910" dirty="0"/>
          </a:p>
        </p:txBody>
      </p:sp>
      <p:sp>
        <p:nvSpPr>
          <p:cNvPr id="34" name="Shape 31"/>
          <p:cNvSpPr/>
          <p:nvPr/>
        </p:nvSpPr>
        <p:spPr>
          <a:xfrm>
            <a:off x="804672" y="6099048"/>
            <a:ext cx="91440" cy="91440"/>
          </a:xfrm>
          <a:prstGeom prst="ellipse">
            <a:avLst/>
          </a:prstGeom>
          <a:solidFill>
            <a:srgbClr val="1E73FF"/>
          </a:solidFill>
          <a:ln w="12700">
            <a:solidFill>
              <a:srgbClr val="1E73FF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9264" y="6025896"/>
            <a:ext cx="5038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criteria</a:t>
            </a:r>
            <a:endParaRPr lang="en-US" sz="910" dirty="0"/>
          </a:p>
        </p:txBody>
      </p:sp>
      <p:sp>
        <p:nvSpPr>
          <p:cNvPr id="36" name="Shape 33"/>
          <p:cNvSpPr/>
          <p:nvPr/>
        </p:nvSpPr>
        <p:spPr>
          <a:xfrm>
            <a:off x="6446520" y="1417320"/>
            <a:ext cx="5010912" cy="4544568"/>
          </a:xfrm>
          <a:prstGeom prst="roundRect">
            <a:avLst>
              <a:gd name="adj" fmla="val 1006"/>
            </a:avLst>
          </a:prstGeom>
          <a:solidFill>
            <a:srgbClr val="153357"/>
          </a:solidFill>
          <a:ln w="12700">
            <a:solidFill>
              <a:srgbClr val="11B5A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446520" y="1417320"/>
            <a:ext cx="5010912" cy="64008"/>
          </a:xfrm>
          <a:prstGeom prst="rect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592824" y="1563624"/>
            <a:ext cx="4736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High-value BA questions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592824" y="194767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757416" y="1874520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unit of work?</a:t>
            </a:r>
            <a:endParaRPr lang="en-US" sz="910" dirty="0"/>
          </a:p>
        </p:txBody>
      </p:sp>
      <p:sp>
        <p:nvSpPr>
          <p:cNvPr id="41" name="Shape 38"/>
          <p:cNvSpPr/>
          <p:nvPr/>
        </p:nvSpPr>
        <p:spPr>
          <a:xfrm>
            <a:off x="6592824" y="2231136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757416" y="2157984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counts as success?</a:t>
            </a:r>
            <a:endParaRPr lang="en-US" sz="910" dirty="0"/>
          </a:p>
        </p:txBody>
      </p:sp>
      <p:sp>
        <p:nvSpPr>
          <p:cNvPr id="43" name="Shape 40"/>
          <p:cNvSpPr/>
          <p:nvPr/>
        </p:nvSpPr>
        <p:spPr>
          <a:xfrm>
            <a:off x="6592824" y="2514600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757416" y="2441448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be retried?</a:t>
            </a:r>
            <a:endParaRPr lang="en-US" sz="910" dirty="0"/>
          </a:p>
        </p:txBody>
      </p:sp>
      <p:sp>
        <p:nvSpPr>
          <p:cNvPr id="45" name="Shape 42"/>
          <p:cNvSpPr/>
          <p:nvPr/>
        </p:nvSpPr>
        <p:spPr>
          <a:xfrm>
            <a:off x="6592824" y="2798064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757416" y="2724912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be routed to human review?</a:t>
            </a:r>
            <a:endParaRPr lang="en-US" sz="910" dirty="0"/>
          </a:p>
        </p:txBody>
      </p:sp>
      <p:sp>
        <p:nvSpPr>
          <p:cNvPr id="47" name="Shape 44"/>
          <p:cNvSpPr/>
          <p:nvPr/>
        </p:nvSpPr>
        <p:spPr>
          <a:xfrm>
            <a:off x="6592824" y="3081528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757416" y="3008376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be persisted for auditability?</a:t>
            </a:r>
            <a:endParaRPr lang="en-US" sz="910" dirty="0"/>
          </a:p>
        </p:txBody>
      </p:sp>
      <p:sp>
        <p:nvSpPr>
          <p:cNvPr id="49" name="Shape 46"/>
          <p:cNvSpPr/>
          <p:nvPr/>
        </p:nvSpPr>
        <p:spPr>
          <a:xfrm>
            <a:off x="6592824" y="3364992"/>
            <a:ext cx="91440" cy="91440"/>
          </a:xfrm>
          <a:prstGeom prst="ellipse">
            <a:avLst/>
          </a:prstGeom>
          <a:solidFill>
            <a:srgbClr val="11B5A4"/>
          </a:solidFill>
          <a:ln w="12700">
            <a:solidFill>
              <a:srgbClr val="11B5A4">
                <a:alpha val="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6757416" y="3291840"/>
            <a:ext cx="46085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source of truth for status?</a:t>
            </a:r>
            <a:endParaRPr lang="en-US" sz="9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Innobot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2 - How RPA Works</dc:title>
  <dc:subject>Day 2 - How RPA Works</dc:subject>
  <dc:creator>OpenAI Codex</dc:creator>
  <cp:lastModifiedBy>OpenAI Codex</cp:lastModifiedBy>
  <cp:revision>1</cp:revision>
  <dcterms:created xsi:type="dcterms:W3CDTF">2026-03-26T09:45:03Z</dcterms:created>
  <dcterms:modified xsi:type="dcterms:W3CDTF">2026-03-26T09:45:03Z</dcterms:modified>
</cp:coreProperties>
</file>